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D05B2C0A-E9E1-4F46-B0AF-1EA331F4C8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0B37978-2E54-4160-9B6B-E258D461B94C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2BE7E12-9241-42FD-9BBC-B448BAD134B6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LECTURE MAP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561050-3993-4E93-83D0-716B8760F608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66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从传感器到微信小程序：BLE 通信层如何搭起来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9310FB-D8DD-4763-871C-6C3A6512E9A8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723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本节课只讲通信链路：为什么选 BLE、协议怎么定、两端代码怎么写。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A69593-A313-460A-8E37-04149C491E87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CDF442-1E53-41C9-A7AD-B552A02D6268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docs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353503-D5BC-42E8-BA3E-A255523A0F77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203B2D-63C2-44FB-BF0F-FB43E713782A}"/>
              </a:ext>
            </a:extLst>
          </p:cNvPr>
          <p:cNvSpPr>
            <a:spLocks noGrp="1"/>
          </p:cNvSpPr>
          <p:nvPr/>
        </p:nvSpPr>
        <p:spPr>
          <a:xfrm>
            <a:off x="419100" y="2095500"/>
            <a:ext cx="4286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这不是“把串口搬到手机”，而是把 ESP32 变成可订阅的数据服务。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99AA80-52B9-41A8-97C8-4C1FC6EF370C}"/>
              </a:ext>
            </a:extLst>
          </p:cNvPr>
          <p:cNvSpPr>
            <a:spLocks noGrp="1"/>
          </p:cNvSpPr>
          <p:nvPr/>
        </p:nvSpPr>
        <p:spPr>
          <a:xfrm>
            <a:off x="590550" y="2981325"/>
            <a:ext cx="66675" cy="66675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41604B-F327-47E0-9886-BCB59F594533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438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ESP32 端：保留测量算法，新增 NimBLE GATT Server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8101F8-1028-422D-B9E4-9F415FF22311}"/>
              </a:ext>
            </a:extLst>
          </p:cNvPr>
          <p:cNvSpPr>
            <a:spLocks noGrp="1"/>
          </p:cNvSpPr>
          <p:nvPr/>
        </p:nvSpPr>
        <p:spPr>
          <a:xfrm>
            <a:off x="590550" y="3457575"/>
            <a:ext cx="66675" cy="66675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70BD24-9AC2-41F3-B2CC-91498250B5BE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438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小程序端：扫描、连接、订阅 notify、解析二进制包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D3EA03-049A-40C9-990D-927BE8E2F7B2}"/>
              </a:ext>
            </a:extLst>
          </p:cNvPr>
          <p:cNvSpPr>
            <a:spLocks noGrp="1"/>
          </p:cNvSpPr>
          <p:nvPr/>
        </p:nvSpPr>
        <p:spPr>
          <a:xfrm>
            <a:off x="590550" y="3933825"/>
            <a:ext cx="66675" cy="66675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ED56D1-3991-48F1-87CD-0ACF5B112057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438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课堂扩展：每组用独立 AppID、设备名、UUID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0D3020-BCAA-47C5-9D30-AA5A676E8F39}"/>
              </a:ext>
            </a:extLst>
          </p:cNvPr>
          <p:cNvSpPr>
            <a:spLocks noGrp="1"/>
          </p:cNvSpPr>
          <p:nvPr/>
        </p:nvSpPr>
        <p:spPr>
          <a:xfrm>
            <a:off x="9048750" y="1790700"/>
            <a:ext cx="2095500" cy="3333750"/>
          </a:xfrm>
          <a:prstGeom prst="rect">
            <a:avLst/>
          </a:prstGeom>
          <a:solidFill>
            <a:srgbClr val="101B21"/>
          </a:solidFill>
          <a:ln w="9525">
            <a:solidFill>
              <a:srgbClr val="101B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FEC2F9-377D-44F6-A5F0-67805A26F3BF}"/>
              </a:ext>
            </a:extLst>
          </p:cNvPr>
          <p:cNvSpPr>
            <a:spLocks noGrp="1"/>
          </p:cNvSpPr>
          <p:nvPr/>
        </p:nvSpPr>
        <p:spPr>
          <a:xfrm>
            <a:off x="9144000" y="1981200"/>
            <a:ext cx="1905000" cy="2952750"/>
          </a:xfrm>
          <a:prstGeom prst="rect">
            <a:avLst/>
          </a:prstGeom>
          <a:solidFill>
            <a:srgbClr val="F7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94A63F-0D4E-44A0-80B7-591856808920}"/>
              </a:ext>
            </a:extLst>
          </p:cNvPr>
          <p:cNvSpPr>
            <a:spLocks noGrp="1"/>
          </p:cNvSpPr>
          <p:nvPr/>
        </p:nvSpPr>
        <p:spPr>
          <a:xfrm>
            <a:off x="9144000" y="1981200"/>
            <a:ext cx="1905000" cy="4572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6EFC331-54C3-4B6A-9C9F-15C6A11267C9}"/>
              </a:ext>
            </a:extLst>
          </p:cNvPr>
          <p:cNvSpPr>
            <a:spLocks noGrp="1"/>
          </p:cNvSpPr>
          <p:nvPr/>
        </p:nvSpPr>
        <p:spPr>
          <a:xfrm>
            <a:off x="9258300" y="2095500"/>
            <a:ext cx="1676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脉搏血氧仪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68A432-06BA-41C1-ADFF-D9A097E9D78D}"/>
              </a:ext>
            </a:extLst>
          </p:cNvPr>
          <p:cNvSpPr>
            <a:spLocks noGrp="1"/>
          </p:cNvSpPr>
          <p:nvPr/>
        </p:nvSpPr>
        <p:spPr>
          <a:xfrm>
            <a:off x="9315450" y="2609850"/>
            <a:ext cx="80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SpO2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9C3951-8BD4-476F-8906-9DEB7ABB67F2}"/>
              </a:ext>
            </a:extLst>
          </p:cNvPr>
          <p:cNvSpPr>
            <a:spLocks noGrp="1"/>
          </p:cNvSpPr>
          <p:nvPr/>
        </p:nvSpPr>
        <p:spPr>
          <a:xfrm>
            <a:off x="10210800" y="2609850"/>
            <a:ext cx="80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HR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0E8355-4B29-4470-A8BF-E15D507EBC00}"/>
              </a:ext>
            </a:extLst>
          </p:cNvPr>
          <p:cNvSpPr>
            <a:spLocks noGrp="1"/>
          </p:cNvSpPr>
          <p:nvPr/>
        </p:nvSpPr>
        <p:spPr>
          <a:xfrm>
            <a:off x="9315450" y="2867025"/>
            <a:ext cx="80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97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2B5DC4-6083-414F-A7A4-0A8C3AEB6914}"/>
              </a:ext>
            </a:extLst>
          </p:cNvPr>
          <p:cNvSpPr>
            <a:spLocks noGrp="1"/>
          </p:cNvSpPr>
          <p:nvPr/>
        </p:nvSpPr>
        <p:spPr>
          <a:xfrm>
            <a:off x="10210800" y="2867025"/>
            <a:ext cx="80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rPr>
              <a:t>82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9AACF19-1354-4D69-856A-27673D7FDA5F}"/>
              </a:ext>
            </a:extLst>
          </p:cNvPr>
          <p:cNvSpPr>
            <a:spLocks noGrp="1"/>
          </p:cNvSpPr>
          <p:nvPr/>
        </p:nvSpPr>
        <p:spPr>
          <a:xfrm>
            <a:off x="9315450" y="3943350"/>
            <a:ext cx="1562100" cy="9525"/>
          </a:xfrm>
          <a:prstGeom prst="rect">
            <a:avLst/>
          </a:prstGeom>
          <a:solidFill>
            <a:srgbClr val="D6E3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2683539-148C-44F4-8493-3C1578A35D3F}"/>
              </a:ext>
            </a:extLst>
          </p:cNvPr>
          <p:cNvSpPr>
            <a:spLocks noGrp="1"/>
          </p:cNvSpPr>
          <p:nvPr/>
        </p:nvSpPr>
        <p:spPr>
          <a:xfrm rot="-4321319">
            <a:off x="9315450" y="4259580"/>
            <a:ext cx="266371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9BF5AD0-F1B1-42D9-B03A-3F44AEE3D293}"/>
              </a:ext>
            </a:extLst>
          </p:cNvPr>
          <p:cNvSpPr>
            <a:spLocks noGrp="1"/>
          </p:cNvSpPr>
          <p:nvPr/>
        </p:nvSpPr>
        <p:spPr>
          <a:xfrm rot="3624551">
            <a:off x="9397666" y="4006215"/>
            <a:ext cx="166495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A80AEA5-048D-4991-842E-210B9A1EA62A}"/>
              </a:ext>
            </a:extLst>
          </p:cNvPr>
          <p:cNvSpPr>
            <a:spLocks noGrp="1"/>
          </p:cNvSpPr>
          <p:nvPr/>
        </p:nvSpPr>
        <p:spPr>
          <a:xfrm rot="-4699955">
            <a:off x="9479882" y="4150995"/>
            <a:ext cx="406545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9D323A9-DEAA-44B1-9348-3907B17EF727}"/>
              </a:ext>
            </a:extLst>
          </p:cNvPr>
          <p:cNvSpPr>
            <a:spLocks noGrp="1"/>
          </p:cNvSpPr>
          <p:nvPr/>
        </p:nvSpPr>
        <p:spPr>
          <a:xfrm rot="4155866">
            <a:off x="9562097" y="3752850"/>
            <a:ext cx="232212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1E11A1-608F-4D8A-9674-22602FBAC845}"/>
              </a:ext>
            </a:extLst>
          </p:cNvPr>
          <p:cNvSpPr>
            <a:spLocks noGrp="1"/>
          </p:cNvSpPr>
          <p:nvPr/>
        </p:nvSpPr>
        <p:spPr>
          <a:xfrm rot="3934080">
            <a:off x="9644313" y="3970020"/>
            <a:ext cx="198775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6DB18AB-5910-4E2E-9908-8DE5D0C75617}"/>
              </a:ext>
            </a:extLst>
          </p:cNvPr>
          <p:cNvSpPr>
            <a:spLocks noGrp="1"/>
          </p:cNvSpPr>
          <p:nvPr/>
        </p:nvSpPr>
        <p:spPr>
          <a:xfrm rot="-4550112">
            <a:off x="9726529" y="4150995"/>
            <a:ext cx="335970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4173AC4-64A9-4ECF-89BE-5828D916564B}"/>
              </a:ext>
            </a:extLst>
          </p:cNvPr>
          <p:cNvSpPr>
            <a:spLocks noGrp="1"/>
          </p:cNvSpPr>
          <p:nvPr/>
        </p:nvSpPr>
        <p:spPr>
          <a:xfrm rot="4155866">
            <a:off x="9808745" y="3825240"/>
            <a:ext cx="232212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3C7D967-F908-4B0B-BA83-6F050D0A8F2E}"/>
              </a:ext>
            </a:extLst>
          </p:cNvPr>
          <p:cNvSpPr>
            <a:spLocks noGrp="1"/>
          </p:cNvSpPr>
          <p:nvPr/>
        </p:nvSpPr>
        <p:spPr>
          <a:xfrm rot="-4512280">
            <a:off x="9890961" y="4042410"/>
            <a:ext cx="321952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DB1BF44-0EEA-4D97-B92A-3475B110310D}"/>
              </a:ext>
            </a:extLst>
          </p:cNvPr>
          <p:cNvSpPr>
            <a:spLocks noGrp="1"/>
          </p:cNvSpPr>
          <p:nvPr/>
        </p:nvSpPr>
        <p:spPr>
          <a:xfrm rot="4601280">
            <a:off x="9973176" y="3731133"/>
            <a:ext cx="357066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A3E1222-756C-4123-A574-0C48C7F97075}"/>
              </a:ext>
            </a:extLst>
          </p:cNvPr>
          <p:cNvSpPr>
            <a:spLocks noGrp="1"/>
          </p:cNvSpPr>
          <p:nvPr/>
        </p:nvSpPr>
        <p:spPr>
          <a:xfrm rot="-4227562">
            <a:off x="10055392" y="4078605"/>
            <a:ext cx="245805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134DD89-5CD8-432C-BBD6-C0030159B42A}"/>
              </a:ext>
            </a:extLst>
          </p:cNvPr>
          <p:cNvSpPr>
            <a:spLocks noGrp="1"/>
          </p:cNvSpPr>
          <p:nvPr/>
        </p:nvSpPr>
        <p:spPr>
          <a:xfrm rot="3624551">
            <a:off x="10137608" y="3846957"/>
            <a:ext cx="166495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6E8EA5F-64C3-436E-AFBB-BF12C56CC3C2}"/>
              </a:ext>
            </a:extLst>
          </p:cNvPr>
          <p:cNvSpPr>
            <a:spLocks noGrp="1"/>
          </p:cNvSpPr>
          <p:nvPr/>
        </p:nvSpPr>
        <p:spPr>
          <a:xfrm rot="-3984198">
            <a:off x="10219824" y="3991737"/>
            <a:ext cx="205387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A17F7E3-5AC4-47D5-98A6-A6D1037A7280}"/>
              </a:ext>
            </a:extLst>
          </p:cNvPr>
          <p:cNvSpPr>
            <a:spLocks noGrp="1"/>
          </p:cNvSpPr>
          <p:nvPr/>
        </p:nvSpPr>
        <p:spPr>
          <a:xfrm rot="4448939">
            <a:off x="10302039" y="3803523"/>
            <a:ext cx="301006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AD977BD-46F5-4AD9-B70F-664FD1DBED3A}"/>
              </a:ext>
            </a:extLst>
          </p:cNvPr>
          <p:cNvSpPr>
            <a:spLocks noGrp="1"/>
          </p:cNvSpPr>
          <p:nvPr/>
        </p:nvSpPr>
        <p:spPr>
          <a:xfrm rot="-4155866">
            <a:off x="10384255" y="4093083"/>
            <a:ext cx="232212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377AE31-F956-4911-BE1F-F89BC2F3B327}"/>
              </a:ext>
            </a:extLst>
          </p:cNvPr>
          <p:cNvSpPr>
            <a:spLocks noGrp="1"/>
          </p:cNvSpPr>
          <p:nvPr/>
        </p:nvSpPr>
        <p:spPr>
          <a:xfrm rot="3624551">
            <a:off x="10466471" y="3875913"/>
            <a:ext cx="166495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9DA40E7-094B-4702-8559-580AAE756B94}"/>
              </a:ext>
            </a:extLst>
          </p:cNvPr>
          <p:cNvSpPr>
            <a:spLocks noGrp="1"/>
          </p:cNvSpPr>
          <p:nvPr/>
        </p:nvSpPr>
        <p:spPr>
          <a:xfrm rot="-4291719">
            <a:off x="10548687" y="4020693"/>
            <a:ext cx="259495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6A50647-B1CE-4828-B5D4-E4EB1EFB7BA2}"/>
              </a:ext>
            </a:extLst>
          </p:cNvPr>
          <p:cNvSpPr>
            <a:spLocks noGrp="1"/>
          </p:cNvSpPr>
          <p:nvPr/>
        </p:nvSpPr>
        <p:spPr>
          <a:xfrm rot="4567867">
            <a:off x="10630903" y="3774567"/>
            <a:ext cx="342993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9D7624D-2FE4-454E-8CFA-5415675829BD}"/>
              </a:ext>
            </a:extLst>
          </p:cNvPr>
          <p:cNvSpPr>
            <a:spLocks noGrp="1"/>
          </p:cNvSpPr>
          <p:nvPr/>
        </p:nvSpPr>
        <p:spPr>
          <a:xfrm rot="-4401587">
            <a:off x="10713118" y="4107561"/>
            <a:ext cx="287105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999C498-B04E-4CF8-AF70-E2747EE7C8D4}"/>
              </a:ext>
            </a:extLst>
          </p:cNvPr>
          <p:cNvSpPr>
            <a:spLocks noGrp="1"/>
          </p:cNvSpPr>
          <p:nvPr/>
        </p:nvSpPr>
        <p:spPr>
          <a:xfrm rot="3624551">
            <a:off x="10795334" y="3832479"/>
            <a:ext cx="166495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4BEC834-FDB7-4526-AE50-9B81CD22FEC2}"/>
              </a:ext>
            </a:extLst>
          </p:cNvPr>
          <p:cNvSpPr>
            <a:spLocks noGrp="1"/>
          </p:cNvSpPr>
          <p:nvPr/>
        </p:nvSpPr>
        <p:spPr>
          <a:xfrm>
            <a:off x="5410200" y="2266950"/>
            <a:ext cx="2802954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BD16703-A663-4EAE-B6B6-5DAD55F29DB3}"/>
              </a:ext>
            </a:extLst>
          </p:cNvPr>
          <p:cNvSpPr>
            <a:spLocks noGrp="1"/>
          </p:cNvSpPr>
          <p:nvPr/>
        </p:nvSpPr>
        <p:spPr>
          <a:xfrm>
            <a:off x="5410200" y="2266950"/>
            <a:ext cx="57150" cy="10287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4DA40AF-C0FE-4689-9301-0C97FF868346}"/>
              </a:ext>
            </a:extLst>
          </p:cNvPr>
          <p:cNvSpPr>
            <a:spLocks noGrp="1"/>
          </p:cNvSpPr>
          <p:nvPr/>
        </p:nvSpPr>
        <p:spPr>
          <a:xfrm>
            <a:off x="5581650" y="2419350"/>
            <a:ext cx="2438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ESP32 Peripheral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B79A308-7F98-4EC2-9836-B349A9886CA1}"/>
              </a:ext>
            </a:extLst>
          </p:cNvPr>
          <p:cNvSpPr>
            <a:spLocks noGrp="1"/>
          </p:cNvSpPr>
          <p:nvPr/>
        </p:nvSpPr>
        <p:spPr>
          <a:xfrm>
            <a:off x="5581650" y="2724150"/>
            <a:ext cx="2438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MAX30102 采样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心率/SpO2 本地计算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BLE notify 推送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C82D2E7-A805-4852-B566-2E7D91925A38}"/>
              </a:ext>
            </a:extLst>
          </p:cNvPr>
          <p:cNvSpPr>
            <a:spLocks noGrp="1"/>
          </p:cNvSpPr>
          <p:nvPr/>
        </p:nvSpPr>
        <p:spPr>
          <a:xfrm>
            <a:off x="5410199" y="3790949"/>
            <a:ext cx="2802955" cy="1114425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34897C-7435-429E-9DC1-041ACC29F7C5}"/>
              </a:ext>
            </a:extLst>
          </p:cNvPr>
          <p:cNvSpPr>
            <a:spLocks noGrp="1"/>
          </p:cNvSpPr>
          <p:nvPr/>
        </p:nvSpPr>
        <p:spPr>
          <a:xfrm>
            <a:off x="5410200" y="3790949"/>
            <a:ext cx="48621" cy="1095375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CC94FD1-17FB-42CA-93A0-D99B65094E05}"/>
              </a:ext>
            </a:extLst>
          </p:cNvPr>
          <p:cNvSpPr>
            <a:spLocks noGrp="1"/>
          </p:cNvSpPr>
          <p:nvPr/>
        </p:nvSpPr>
        <p:spPr>
          <a:xfrm>
            <a:off x="5581650" y="3943350"/>
            <a:ext cx="2438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WeChat Mini Program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0B6752E-7959-4D12-A2B8-E508D4D7C31D}"/>
              </a:ext>
            </a:extLst>
          </p:cNvPr>
          <p:cNvSpPr>
            <a:spLocks noGrp="1"/>
          </p:cNvSpPr>
          <p:nvPr/>
        </p:nvSpPr>
        <p:spPr>
          <a:xfrm>
            <a:off x="5581650" y="4248150"/>
            <a:ext cx="2438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BLE Central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订阅两个</a:t>
            </a:r>
            <a:r>
              <a:rPr sz="1125" b="0" dirty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 Characteristic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Canvas </a:t>
            </a:r>
            <a:r>
              <a:rPr sz="1125" b="0" dirty="0" err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绘制波形</a:t>
            </a:r>
            <a:endParaRPr sz="1125" b="0" dirty="0">
              <a:solidFill>
                <a:srgbClr val="6B7C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26A3F56-D9F1-4309-871D-46CEA36F0E9F}"/>
              </a:ext>
            </a:extLst>
          </p:cNvPr>
          <p:cNvSpPr>
            <a:spLocks noGrp="1"/>
          </p:cNvSpPr>
          <p:nvPr/>
        </p:nvSpPr>
        <p:spPr>
          <a:xfrm>
            <a:off x="8191500" y="2714625"/>
            <a:ext cx="8382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D6599C0-6EA8-41F1-AFE6-C78205F1F118}"/>
              </a:ext>
            </a:extLst>
          </p:cNvPr>
          <p:cNvSpPr>
            <a:spLocks noGrp="1"/>
          </p:cNvSpPr>
          <p:nvPr/>
        </p:nvSpPr>
        <p:spPr>
          <a:xfrm>
            <a:off x="8896350" y="259080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1069AE2-A363-4BFD-8C69-621AA66E9E8E}"/>
              </a:ext>
            </a:extLst>
          </p:cNvPr>
          <p:cNvSpPr>
            <a:spLocks noGrp="1"/>
          </p:cNvSpPr>
          <p:nvPr/>
        </p:nvSpPr>
        <p:spPr>
          <a:xfrm>
            <a:off x="8191500" y="4238625"/>
            <a:ext cx="8382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6680966-6DD5-45A7-92A2-7832D8B83476}"/>
              </a:ext>
            </a:extLst>
          </p:cNvPr>
          <p:cNvSpPr>
            <a:spLocks noGrp="1"/>
          </p:cNvSpPr>
          <p:nvPr/>
        </p:nvSpPr>
        <p:spPr>
          <a:xfrm>
            <a:off x="8896350" y="411480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38E6102-3A45-4452-BD01-7249AB8F37A9}"/>
              </a:ext>
            </a:extLst>
          </p:cNvPr>
          <p:cNvSpPr>
            <a:spLocks noGrp="1"/>
          </p:cNvSpPr>
          <p:nvPr/>
        </p:nvSpPr>
        <p:spPr>
          <a:xfrm>
            <a:off x="5572125" y="3381375"/>
            <a:ext cx="2457450" cy="304800"/>
          </a:xfrm>
          <a:prstGeom prst="rect">
            <a:avLst/>
          </a:prstGeom>
          <a:solidFill>
            <a:srgbClr val="FFFFFF"/>
          </a:solidFill>
          <a:ln w="13335">
            <a:solidFill>
              <a:srgbClr val="22A6C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AC8ED13-4D66-4291-A5E2-39DE2893912C}"/>
              </a:ext>
            </a:extLst>
          </p:cNvPr>
          <p:cNvSpPr>
            <a:spLocks noGrp="1"/>
          </p:cNvSpPr>
          <p:nvPr/>
        </p:nvSpPr>
        <p:spPr>
          <a:xfrm>
            <a:off x="5667375" y="3419475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4-byte wave + 6-byte metrics</a:t>
            </a:r>
          </a:p>
        </p:txBody>
      </p:sp>
    </p:spTree>
    <p:extLst>
      <p:ext uri="{BB962C8B-B14F-4D97-AF65-F5344CB8AC3E}">
        <p14:creationId xmlns:p14="http://schemas.microsoft.com/office/powerpoint/2010/main" val="166873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220ACD08-549F-4A88-AC62-85E2585310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1B257F7-3AF5-4C5B-81C3-9E2175F8EE7B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1457BBE-4C0D-4995-9658-5C27DCA0ADF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BLUETOOTH CHOICE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CC4668-8476-422C-924D-B1B3301CAFF1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66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ESP32 有两条蓝牙路线，但手机端框架决定了选择。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D31EAA-0730-4750-8852-6C05DC95CDD1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723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Classic SPP 很像无线串口；BLE 是面向低功耗外设的数据服务模型。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87E6B2-95DC-47FC-A83B-A12A66489E00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44B3C3-7109-4075-A547-20F2F20A367B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docs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AA656F-F21B-4E76-9865-0E6D9F428565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64871D-E4C3-47D3-ABDD-5B473B101003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1619250" cy="361950"/>
          </a:xfrm>
          <a:prstGeom prst="rect">
            <a:avLst/>
          </a:prstGeom>
          <a:solidFill>
            <a:srgbClr val="1025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2BC9B0-83BD-4E61-901F-6C4C6AAF871E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408FE8-B315-4A91-A2AA-001EF999834C}"/>
              </a:ext>
            </a:extLst>
          </p:cNvPr>
          <p:cNvSpPr>
            <a:spLocks noGrp="1"/>
          </p:cNvSpPr>
          <p:nvPr/>
        </p:nvSpPr>
        <p:spPr>
          <a:xfrm>
            <a:off x="2324100" y="2095500"/>
            <a:ext cx="2381250" cy="361950"/>
          </a:xfrm>
          <a:prstGeom prst="rect">
            <a:avLst/>
          </a:prstGeom>
          <a:solidFill>
            <a:srgbClr val="1025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6F68CB-C29F-425A-AF13-3790475542E9}"/>
              </a:ext>
            </a:extLst>
          </p:cNvPr>
          <p:cNvSpPr>
            <a:spLocks noGrp="1"/>
          </p:cNvSpPr>
          <p:nvPr/>
        </p:nvSpPr>
        <p:spPr>
          <a:xfrm>
            <a:off x="2419350" y="21717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经典蓝牙 SPP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BA696E-BFC4-45B7-85C9-8C6C05FE4EFE}"/>
              </a:ext>
            </a:extLst>
          </p:cNvPr>
          <p:cNvSpPr>
            <a:spLocks noGrp="1"/>
          </p:cNvSpPr>
          <p:nvPr/>
        </p:nvSpPr>
        <p:spPr>
          <a:xfrm>
            <a:off x="4705350" y="2095500"/>
            <a:ext cx="2381250" cy="3619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A33EE5-FB24-49D5-96C3-6E63C9D5A137}"/>
              </a:ext>
            </a:extLst>
          </p:cNvPr>
          <p:cNvSpPr>
            <a:spLocks noGrp="1"/>
          </p:cNvSpPr>
          <p:nvPr/>
        </p:nvSpPr>
        <p:spPr>
          <a:xfrm>
            <a:off x="4800600" y="21717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 BLE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A77052-6158-415A-931E-00C1F14D8EF7}"/>
              </a:ext>
            </a:extLst>
          </p:cNvPr>
          <p:cNvSpPr>
            <a:spLocks noGrp="1"/>
          </p:cNvSpPr>
          <p:nvPr/>
        </p:nvSpPr>
        <p:spPr>
          <a:xfrm>
            <a:off x="7086600" y="2095500"/>
            <a:ext cx="2381250" cy="361950"/>
          </a:xfrm>
          <a:prstGeom prst="rect">
            <a:avLst/>
          </a:prstGeom>
          <a:solidFill>
            <a:srgbClr val="1025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EE9E40-B0B6-41DB-B7DA-872E9C3C0276}"/>
              </a:ext>
            </a:extLst>
          </p:cNvPr>
          <p:cNvSpPr>
            <a:spLocks noGrp="1"/>
          </p:cNvSpPr>
          <p:nvPr/>
        </p:nvSpPr>
        <p:spPr>
          <a:xfrm>
            <a:off x="7181850" y="21717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本项目判断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8B5042-8138-4052-93F4-60EBFAD8A630}"/>
              </a:ext>
            </a:extLst>
          </p:cNvPr>
          <p:cNvSpPr>
            <a:spLocks noGrp="1"/>
          </p:cNvSpPr>
          <p:nvPr/>
        </p:nvSpPr>
        <p:spPr>
          <a:xfrm>
            <a:off x="704850" y="2457450"/>
            <a:ext cx="1619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476E29-169E-4CF3-B94A-D76AA67F2F60}"/>
              </a:ext>
            </a:extLst>
          </p:cNvPr>
          <p:cNvSpPr>
            <a:spLocks noGrp="1"/>
          </p:cNvSpPr>
          <p:nvPr/>
        </p:nvSpPr>
        <p:spPr>
          <a:xfrm>
            <a:off x="800100" y="252412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连接模型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CDDB54-DB5D-4763-8F59-6F7FE1397035}"/>
              </a:ext>
            </a:extLst>
          </p:cNvPr>
          <p:cNvSpPr>
            <a:spLocks noGrp="1"/>
          </p:cNvSpPr>
          <p:nvPr/>
        </p:nvSpPr>
        <p:spPr>
          <a:xfrm>
            <a:off x="2324100" y="2457450"/>
            <a:ext cx="2381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CC8740-09D6-4D6F-A42D-73B837AD549F}"/>
              </a:ext>
            </a:extLst>
          </p:cNvPr>
          <p:cNvSpPr>
            <a:spLocks noGrp="1"/>
          </p:cNvSpPr>
          <p:nvPr/>
        </p:nvSpPr>
        <p:spPr>
          <a:xfrm>
            <a:off x="2419350" y="25241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点对点串口链路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7C05D0-4D4E-4CCD-BFD0-BAF5808F2EAF}"/>
              </a:ext>
            </a:extLst>
          </p:cNvPr>
          <p:cNvSpPr>
            <a:spLocks noGrp="1"/>
          </p:cNvSpPr>
          <p:nvPr/>
        </p:nvSpPr>
        <p:spPr>
          <a:xfrm>
            <a:off x="4705350" y="2457450"/>
            <a:ext cx="2381250" cy="533400"/>
          </a:xfrm>
          <a:prstGeom prst="rect">
            <a:avLst/>
          </a:prstGeom>
          <a:solidFill>
            <a:srgbClr val="E9F7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B0FAB8-AF43-4C38-AEE4-42B10BFFAE9F}"/>
              </a:ext>
            </a:extLst>
          </p:cNvPr>
          <p:cNvSpPr>
            <a:spLocks noGrp="1"/>
          </p:cNvSpPr>
          <p:nvPr/>
        </p:nvSpPr>
        <p:spPr>
          <a:xfrm>
            <a:off x="4800600" y="25241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Peripheral / Central + GATT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AF4C6BD-0E8B-47F0-A6C8-9FAC136DAEB6}"/>
              </a:ext>
            </a:extLst>
          </p:cNvPr>
          <p:cNvSpPr>
            <a:spLocks noGrp="1"/>
          </p:cNvSpPr>
          <p:nvPr/>
        </p:nvSpPr>
        <p:spPr>
          <a:xfrm>
            <a:off x="7086600" y="2457450"/>
            <a:ext cx="2381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B83F178-183B-4AE9-8722-94BFF0BCA3C6}"/>
              </a:ext>
            </a:extLst>
          </p:cNvPr>
          <p:cNvSpPr>
            <a:spLocks noGrp="1"/>
          </p:cNvSpPr>
          <p:nvPr/>
        </p:nvSpPr>
        <p:spPr>
          <a:xfrm>
            <a:off x="7181850" y="25241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手机小程序按 GATT 连接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2F09780-5F57-4915-A021-F716BF6B0138}"/>
              </a:ext>
            </a:extLst>
          </p:cNvPr>
          <p:cNvSpPr>
            <a:spLocks noGrp="1"/>
          </p:cNvSpPr>
          <p:nvPr/>
        </p:nvSpPr>
        <p:spPr>
          <a:xfrm>
            <a:off x="704850" y="2990850"/>
            <a:ext cx="1619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F3B54C-C525-4543-9FC3-B58B23B39B9D}"/>
              </a:ext>
            </a:extLst>
          </p:cNvPr>
          <p:cNvSpPr>
            <a:spLocks noGrp="1"/>
          </p:cNvSpPr>
          <p:nvPr/>
        </p:nvSpPr>
        <p:spPr>
          <a:xfrm>
            <a:off x="800100" y="305752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数据方式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565249-B2AD-423D-AC32-D116E52D612A}"/>
              </a:ext>
            </a:extLst>
          </p:cNvPr>
          <p:cNvSpPr>
            <a:spLocks noGrp="1"/>
          </p:cNvSpPr>
          <p:nvPr/>
        </p:nvSpPr>
        <p:spPr>
          <a:xfrm>
            <a:off x="2324100" y="2990850"/>
            <a:ext cx="2381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D92601-7B6D-4DD9-9995-6E8930A08A5B}"/>
              </a:ext>
            </a:extLst>
          </p:cNvPr>
          <p:cNvSpPr>
            <a:spLocks noGrp="1"/>
          </p:cNvSpPr>
          <p:nvPr/>
        </p:nvSpPr>
        <p:spPr>
          <a:xfrm>
            <a:off x="2419350" y="30575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连续字节流，像 Serial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65719B-DE27-492B-B1D5-CAD82A9D7092}"/>
              </a:ext>
            </a:extLst>
          </p:cNvPr>
          <p:cNvSpPr>
            <a:spLocks noGrp="1"/>
          </p:cNvSpPr>
          <p:nvPr/>
        </p:nvSpPr>
        <p:spPr>
          <a:xfrm>
            <a:off x="4705350" y="2990850"/>
            <a:ext cx="2381250" cy="533400"/>
          </a:xfrm>
          <a:prstGeom prst="rect">
            <a:avLst/>
          </a:prstGeom>
          <a:solidFill>
            <a:srgbClr val="E9F7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881AEA-0A83-41A1-A98C-F2C33F93B87F}"/>
              </a:ext>
            </a:extLst>
          </p:cNvPr>
          <p:cNvSpPr>
            <a:spLocks noGrp="1"/>
          </p:cNvSpPr>
          <p:nvPr/>
        </p:nvSpPr>
        <p:spPr>
          <a:xfrm>
            <a:off x="4800600" y="30575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Service / Characteristic / notify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2067205-A64B-468C-8F56-FCC24CA870C7}"/>
              </a:ext>
            </a:extLst>
          </p:cNvPr>
          <p:cNvSpPr>
            <a:spLocks noGrp="1"/>
          </p:cNvSpPr>
          <p:nvPr/>
        </p:nvSpPr>
        <p:spPr>
          <a:xfrm>
            <a:off x="7086600" y="2990850"/>
            <a:ext cx="2381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57CE6BA-AF93-4039-AEBA-5E438F208F15}"/>
              </a:ext>
            </a:extLst>
          </p:cNvPr>
          <p:cNvSpPr>
            <a:spLocks noGrp="1"/>
          </p:cNvSpPr>
          <p:nvPr/>
        </p:nvSpPr>
        <p:spPr>
          <a:xfrm>
            <a:off x="7181850" y="30575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波形与指标拆成两个 notify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9A8B05A-FAFA-4481-B2B3-68601028F7E1}"/>
              </a:ext>
            </a:extLst>
          </p:cNvPr>
          <p:cNvSpPr>
            <a:spLocks noGrp="1"/>
          </p:cNvSpPr>
          <p:nvPr/>
        </p:nvSpPr>
        <p:spPr>
          <a:xfrm>
            <a:off x="704850" y="3524250"/>
            <a:ext cx="1619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591F728-11D7-4F52-BB01-23F03AF83361}"/>
              </a:ext>
            </a:extLst>
          </p:cNvPr>
          <p:cNvSpPr>
            <a:spLocks noGrp="1"/>
          </p:cNvSpPr>
          <p:nvPr/>
        </p:nvSpPr>
        <p:spPr>
          <a:xfrm>
            <a:off x="800100" y="359092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跨平台难度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1E16D70-B994-47B8-9650-D1E34B53EAD6}"/>
              </a:ext>
            </a:extLst>
          </p:cNvPr>
          <p:cNvSpPr>
            <a:spLocks noGrp="1"/>
          </p:cNvSpPr>
          <p:nvPr/>
        </p:nvSpPr>
        <p:spPr>
          <a:xfrm>
            <a:off x="2324100" y="3524250"/>
            <a:ext cx="2381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096AB19-6880-4FBB-AFD7-D1A901C3CE8D}"/>
              </a:ext>
            </a:extLst>
          </p:cNvPr>
          <p:cNvSpPr>
            <a:spLocks noGrp="1"/>
          </p:cNvSpPr>
          <p:nvPr/>
        </p:nvSpPr>
        <p:spPr>
          <a:xfrm>
            <a:off x="2419350" y="35909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iOS 对 SPP 支持受限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5CC479D-C145-4143-9CB2-E8BF4B0A009D}"/>
              </a:ext>
            </a:extLst>
          </p:cNvPr>
          <p:cNvSpPr>
            <a:spLocks noGrp="1"/>
          </p:cNvSpPr>
          <p:nvPr/>
        </p:nvSpPr>
        <p:spPr>
          <a:xfrm>
            <a:off x="4705350" y="3524250"/>
            <a:ext cx="2381250" cy="533400"/>
          </a:xfrm>
          <a:prstGeom prst="rect">
            <a:avLst/>
          </a:prstGeom>
          <a:solidFill>
            <a:srgbClr val="E9F7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5ECB73C-278D-45EE-8C22-143ACE2E4F12}"/>
              </a:ext>
            </a:extLst>
          </p:cNvPr>
          <p:cNvSpPr>
            <a:spLocks noGrp="1"/>
          </p:cNvSpPr>
          <p:nvPr/>
        </p:nvSpPr>
        <p:spPr>
          <a:xfrm>
            <a:off x="4800600" y="35909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iOS / Android 都有 BLE API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01F730-7F0D-4993-A114-ED1085C72431}"/>
              </a:ext>
            </a:extLst>
          </p:cNvPr>
          <p:cNvSpPr>
            <a:spLocks noGrp="1"/>
          </p:cNvSpPr>
          <p:nvPr/>
        </p:nvSpPr>
        <p:spPr>
          <a:xfrm>
            <a:off x="7086600" y="3524250"/>
            <a:ext cx="2381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E918D2B-A5A2-4623-B811-1B0F40FDE203}"/>
              </a:ext>
            </a:extLst>
          </p:cNvPr>
          <p:cNvSpPr>
            <a:spLocks noGrp="1"/>
          </p:cNvSpPr>
          <p:nvPr/>
        </p:nvSpPr>
        <p:spPr>
          <a:xfrm>
            <a:off x="7181850" y="35909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 err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适合不同学生手机</a:t>
            </a:r>
            <a:endParaRPr sz="938" b="0" dirty="0">
              <a:solidFill>
                <a:srgbClr val="6B7C8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8634C7B-1810-433D-8033-B9546500A50B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1619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679D94E-5B23-4781-A0B0-675A375D6A7A}"/>
              </a:ext>
            </a:extLst>
          </p:cNvPr>
          <p:cNvSpPr>
            <a:spLocks noGrp="1"/>
          </p:cNvSpPr>
          <p:nvPr/>
        </p:nvSpPr>
        <p:spPr>
          <a:xfrm>
            <a:off x="800100" y="412432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功耗与频率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DF80377-AAD4-408C-B1D2-C0693C5D2E7A}"/>
              </a:ext>
            </a:extLst>
          </p:cNvPr>
          <p:cNvSpPr>
            <a:spLocks noGrp="1"/>
          </p:cNvSpPr>
          <p:nvPr/>
        </p:nvSpPr>
        <p:spPr>
          <a:xfrm>
            <a:off x="2324100" y="4057650"/>
            <a:ext cx="2381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5830839-B07D-4E4B-82B4-B41FCB50885D}"/>
              </a:ext>
            </a:extLst>
          </p:cNvPr>
          <p:cNvSpPr>
            <a:spLocks noGrp="1"/>
          </p:cNvSpPr>
          <p:nvPr/>
        </p:nvSpPr>
        <p:spPr>
          <a:xfrm>
            <a:off x="2419350" y="41243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吞吐高但更重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66A5B4A-17EC-4E12-B635-D2576921421F}"/>
              </a:ext>
            </a:extLst>
          </p:cNvPr>
          <p:cNvSpPr>
            <a:spLocks noGrp="1"/>
          </p:cNvSpPr>
          <p:nvPr/>
        </p:nvSpPr>
        <p:spPr>
          <a:xfrm>
            <a:off x="4705350" y="4057650"/>
            <a:ext cx="2381250" cy="533400"/>
          </a:xfrm>
          <a:prstGeom prst="rect">
            <a:avLst/>
          </a:prstGeom>
          <a:solidFill>
            <a:srgbClr val="E9F7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77A98A0-F51E-4514-AC86-E0D74F118E1F}"/>
              </a:ext>
            </a:extLst>
          </p:cNvPr>
          <p:cNvSpPr>
            <a:spLocks noGrp="1"/>
          </p:cNvSpPr>
          <p:nvPr/>
        </p:nvSpPr>
        <p:spPr>
          <a:xfrm>
            <a:off x="4800600" y="41243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适合几十 Hz 小包通知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BA01E69-C2A4-476C-9BF1-11720410EC96}"/>
              </a:ext>
            </a:extLst>
          </p:cNvPr>
          <p:cNvSpPr>
            <a:spLocks noGrp="1"/>
          </p:cNvSpPr>
          <p:nvPr/>
        </p:nvSpPr>
        <p:spPr>
          <a:xfrm>
            <a:off x="7086600" y="4057650"/>
            <a:ext cx="2381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94C2FF7-8D61-4728-9271-4E995A6F9A36}"/>
              </a:ext>
            </a:extLst>
          </p:cNvPr>
          <p:cNvSpPr>
            <a:spLocks noGrp="1"/>
          </p:cNvSpPr>
          <p:nvPr/>
        </p:nvSpPr>
        <p:spPr>
          <a:xfrm>
            <a:off x="7181850" y="41243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50 点/秒波形足够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31E6631-086E-419D-AE23-8F380BE38935}"/>
              </a:ext>
            </a:extLst>
          </p:cNvPr>
          <p:cNvSpPr>
            <a:spLocks noGrp="1"/>
          </p:cNvSpPr>
          <p:nvPr/>
        </p:nvSpPr>
        <p:spPr>
          <a:xfrm>
            <a:off x="704850" y="4591050"/>
            <a:ext cx="1619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C8B0EC2-3B9C-4DC7-822C-C4407594A34D}"/>
              </a:ext>
            </a:extLst>
          </p:cNvPr>
          <p:cNvSpPr>
            <a:spLocks noGrp="1"/>
          </p:cNvSpPr>
          <p:nvPr/>
        </p:nvSpPr>
        <p:spPr>
          <a:xfrm>
            <a:off x="800100" y="4657725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微信小程序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E64A42D-A35F-4BC7-88AC-7EA947AB4240}"/>
              </a:ext>
            </a:extLst>
          </p:cNvPr>
          <p:cNvSpPr>
            <a:spLocks noGrp="1"/>
          </p:cNvSpPr>
          <p:nvPr/>
        </p:nvSpPr>
        <p:spPr>
          <a:xfrm>
            <a:off x="2324100" y="4591050"/>
            <a:ext cx="2381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4045C90-3F77-40F1-A5BF-937FD30AF55D}"/>
              </a:ext>
            </a:extLst>
          </p:cNvPr>
          <p:cNvSpPr>
            <a:spLocks noGrp="1"/>
          </p:cNvSpPr>
          <p:nvPr/>
        </p:nvSpPr>
        <p:spPr>
          <a:xfrm>
            <a:off x="2419350" y="46577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不能直接用 SPP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3918700-FCFE-4516-8E6E-0B7EB5019699}"/>
              </a:ext>
            </a:extLst>
          </p:cNvPr>
          <p:cNvSpPr>
            <a:spLocks noGrp="1"/>
          </p:cNvSpPr>
          <p:nvPr/>
        </p:nvSpPr>
        <p:spPr>
          <a:xfrm>
            <a:off x="4705350" y="4591050"/>
            <a:ext cx="2381250" cy="533400"/>
          </a:xfrm>
          <a:prstGeom prst="rect">
            <a:avLst/>
          </a:prstGeom>
          <a:solidFill>
            <a:srgbClr val="E9F7FA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D56AD27-7F7D-4596-B757-F5A93549AC05}"/>
              </a:ext>
            </a:extLst>
          </p:cNvPr>
          <p:cNvSpPr>
            <a:spLocks noGrp="1"/>
          </p:cNvSpPr>
          <p:nvPr/>
        </p:nvSpPr>
        <p:spPr>
          <a:xfrm>
            <a:off x="4800600" y="46577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支持 BLE 低功耗接口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6E5EFD4-6AC7-4088-AF51-78103E8C25C2}"/>
              </a:ext>
            </a:extLst>
          </p:cNvPr>
          <p:cNvSpPr>
            <a:spLocks noGrp="1"/>
          </p:cNvSpPr>
          <p:nvPr/>
        </p:nvSpPr>
        <p:spPr>
          <a:xfrm>
            <a:off x="7086600" y="4591050"/>
            <a:ext cx="2381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8B5C1F6-2325-4E6B-B5C2-B5485DFC1FCA}"/>
              </a:ext>
            </a:extLst>
          </p:cNvPr>
          <p:cNvSpPr>
            <a:spLocks noGrp="1"/>
          </p:cNvSpPr>
          <p:nvPr/>
        </p:nvSpPr>
        <p:spPr>
          <a:xfrm>
            <a:off x="7181850" y="4657725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因此选择 BLE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FAF929C-0B03-4C2D-90AA-3DB4E3B9A5CC}"/>
              </a:ext>
            </a:extLst>
          </p:cNvPr>
          <p:cNvSpPr>
            <a:spLocks noGrp="1"/>
          </p:cNvSpPr>
          <p:nvPr/>
        </p:nvSpPr>
        <p:spPr>
          <a:xfrm>
            <a:off x="3143250" y="5429250"/>
            <a:ext cx="5905500" cy="304800"/>
          </a:xfrm>
          <a:prstGeom prst="rect">
            <a:avLst/>
          </a:prstGeom>
          <a:solidFill>
            <a:srgbClr val="FFF3F2"/>
          </a:solidFill>
          <a:ln w="13335">
            <a:solidFill>
              <a:srgbClr val="D951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1005E4D-1576-4888-8D41-7737CD543107}"/>
              </a:ext>
            </a:extLst>
          </p:cNvPr>
          <p:cNvSpPr>
            <a:spLocks noGrp="1"/>
          </p:cNvSpPr>
          <p:nvPr/>
        </p:nvSpPr>
        <p:spPr>
          <a:xfrm>
            <a:off x="3238500" y="54673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 err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rPr>
              <a:t>手机端框架把项目推向</a:t>
            </a:r>
            <a:r>
              <a:rPr sz="975" b="1" dirty="0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rPr>
              <a:t> BLE GATT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8BE6F45-E47A-48A8-BDEF-1EF4961A33EF}"/>
              </a:ext>
            </a:extLst>
          </p:cNvPr>
          <p:cNvSpPr>
            <a:spLocks noGrp="1"/>
          </p:cNvSpPr>
          <p:nvPr/>
        </p:nvSpPr>
        <p:spPr>
          <a:xfrm>
            <a:off x="2876550" y="5829300"/>
            <a:ext cx="723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从</a:t>
            </a:r>
            <a:r>
              <a:rPr sz="1200" b="0" dirty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1200" b="0" dirty="0" err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发字符串”转向“定义服务、特征值和数据包</a:t>
            </a:r>
            <a:r>
              <a:rPr sz="1200" b="0" dirty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”。</a:t>
            </a:r>
          </a:p>
        </p:txBody>
      </p:sp>
    </p:spTree>
    <p:extLst>
      <p:ext uri="{BB962C8B-B14F-4D97-AF65-F5344CB8AC3E}">
        <p14:creationId xmlns:p14="http://schemas.microsoft.com/office/powerpoint/2010/main" val="1962898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AB075177-632A-4E3B-80EF-99ECC7B275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5C5ED7B-F84E-43DB-87D4-C4596EE4EF52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E70D113A-6760-49C8-B0A4-C710BA5A6D3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APP STRATEGY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0805B9-BAA0-4D31-A969-507D5A4D59EB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66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用微信小程序，是为了把手机端差异收敛到一个轻量框架。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EC5004-5C71-42D2-8EAE-6F970708AABD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2CED53-8F81-4A10-9C05-C4906FCB03EE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C51CA6-6DB8-4887-956B-3D6B6A6E3EB4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C60048-768F-4B29-8B5F-2A127124A4F2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1526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D87ADF-5A39-45CB-8DA4-62352B861AD2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57150" cy="1257300"/>
          </a:xfrm>
          <a:prstGeom prst="rect">
            <a:avLst/>
          </a:prstGeom>
          <a:solidFill>
            <a:srgbClr val="1025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AC034C-0A93-4CB5-B02F-AF31B579D290}"/>
              </a:ext>
            </a:extLst>
          </p:cNvPr>
          <p:cNvSpPr>
            <a:spLocks noGrp="1"/>
          </p:cNvSpPr>
          <p:nvPr/>
        </p:nvSpPr>
        <p:spPr>
          <a:xfrm>
            <a:off x="1028700" y="24955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原生 iOS App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01AC37-BF4C-419E-B66F-BBD0C3A0689E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Swift / 证书 / TestFlight / CoreBluetooth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09FEEB-38B3-4EC4-9714-1B7B0D86C2E9}"/>
              </a:ext>
            </a:extLst>
          </p:cNvPr>
          <p:cNvSpPr>
            <a:spLocks noGrp="1"/>
          </p:cNvSpPr>
          <p:nvPr/>
        </p:nvSpPr>
        <p:spPr>
          <a:xfrm>
            <a:off x="3009900" y="2962275"/>
            <a:ext cx="5143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A3B7B9-71FD-4615-AFC3-DA23CB724EBC}"/>
              </a:ext>
            </a:extLst>
          </p:cNvPr>
          <p:cNvSpPr>
            <a:spLocks noGrp="1"/>
          </p:cNvSpPr>
          <p:nvPr/>
        </p:nvSpPr>
        <p:spPr>
          <a:xfrm>
            <a:off x="3390900" y="283845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A3225F-F898-47BE-BD1B-124AAE471120}"/>
              </a:ext>
            </a:extLst>
          </p:cNvPr>
          <p:cNvSpPr>
            <a:spLocks noGrp="1"/>
          </p:cNvSpPr>
          <p:nvPr/>
        </p:nvSpPr>
        <p:spPr>
          <a:xfrm>
            <a:off x="3543300" y="2343150"/>
            <a:ext cx="21526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CD3B30-2D24-4194-AA6C-F092A6D922FC}"/>
              </a:ext>
            </a:extLst>
          </p:cNvPr>
          <p:cNvSpPr>
            <a:spLocks noGrp="1"/>
          </p:cNvSpPr>
          <p:nvPr/>
        </p:nvSpPr>
        <p:spPr>
          <a:xfrm>
            <a:off x="3543300" y="2343150"/>
            <a:ext cx="57150" cy="1257300"/>
          </a:xfrm>
          <a:prstGeom prst="rect">
            <a:avLst/>
          </a:prstGeom>
          <a:solidFill>
            <a:srgbClr val="1025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948C6C-D37A-463E-9DFD-D92B585ECB18}"/>
              </a:ext>
            </a:extLst>
          </p:cNvPr>
          <p:cNvSpPr>
            <a:spLocks noGrp="1"/>
          </p:cNvSpPr>
          <p:nvPr/>
        </p:nvSpPr>
        <p:spPr>
          <a:xfrm>
            <a:off x="3714750" y="24955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原生 Android App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FE01D7-6867-49BE-8B3F-432AD6E201BF}"/>
              </a:ext>
            </a:extLst>
          </p:cNvPr>
          <p:cNvSpPr>
            <a:spLocks noGrp="1"/>
          </p:cNvSpPr>
          <p:nvPr/>
        </p:nvSpPr>
        <p:spPr>
          <a:xfrm>
            <a:off x="3714750" y="280035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Kotlin/Java / 权限模型 / 机型差异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3C8F9C-8158-4285-A493-4A7D3A600583}"/>
              </a:ext>
            </a:extLst>
          </p:cNvPr>
          <p:cNvSpPr>
            <a:spLocks noGrp="1"/>
          </p:cNvSpPr>
          <p:nvPr/>
        </p:nvSpPr>
        <p:spPr>
          <a:xfrm>
            <a:off x="5695950" y="2962275"/>
            <a:ext cx="5143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563DC0-8644-406E-A5BB-DB92E6FF8021}"/>
              </a:ext>
            </a:extLst>
          </p:cNvPr>
          <p:cNvSpPr>
            <a:spLocks noGrp="1"/>
          </p:cNvSpPr>
          <p:nvPr/>
        </p:nvSpPr>
        <p:spPr>
          <a:xfrm>
            <a:off x="6076950" y="283845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517303-3D90-4C48-B8CD-29AAAB5C4B59}"/>
              </a:ext>
            </a:extLst>
          </p:cNvPr>
          <p:cNvSpPr>
            <a:spLocks noGrp="1"/>
          </p:cNvSpPr>
          <p:nvPr/>
        </p:nvSpPr>
        <p:spPr>
          <a:xfrm>
            <a:off x="6229350" y="2343150"/>
            <a:ext cx="21526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A0CFB8-92E6-42DB-8222-76022F002840}"/>
              </a:ext>
            </a:extLst>
          </p:cNvPr>
          <p:cNvSpPr>
            <a:spLocks noGrp="1"/>
          </p:cNvSpPr>
          <p:nvPr/>
        </p:nvSpPr>
        <p:spPr>
          <a:xfrm>
            <a:off x="6229350" y="2343150"/>
            <a:ext cx="57150" cy="1257300"/>
          </a:xfrm>
          <a:prstGeom prst="rect">
            <a:avLst/>
          </a:prstGeom>
          <a:solidFill>
            <a:srgbClr val="D951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43DC94-366E-4EF4-B8A0-32D20D44D6AE}"/>
              </a:ext>
            </a:extLst>
          </p:cNvPr>
          <p:cNvSpPr>
            <a:spLocks noGrp="1"/>
          </p:cNvSpPr>
          <p:nvPr/>
        </p:nvSpPr>
        <p:spPr>
          <a:xfrm>
            <a:off x="6400800" y="24955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Web 页面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A509BA8-9B06-4C31-972F-ABD1E4473D7B}"/>
              </a:ext>
            </a:extLst>
          </p:cNvPr>
          <p:cNvSpPr>
            <a:spLocks noGrp="1"/>
          </p:cNvSpPr>
          <p:nvPr/>
        </p:nvSpPr>
        <p:spPr>
          <a:xfrm>
            <a:off x="6400800" y="280035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浏览器蓝牙能力和微信环境限制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9017C2-6545-4BAB-8457-42261E90F054}"/>
              </a:ext>
            </a:extLst>
          </p:cNvPr>
          <p:cNvSpPr>
            <a:spLocks noGrp="1"/>
          </p:cNvSpPr>
          <p:nvPr/>
        </p:nvSpPr>
        <p:spPr>
          <a:xfrm>
            <a:off x="8382000" y="2962275"/>
            <a:ext cx="5143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2ED6CDD-79B7-4200-8915-3F85E70F783B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182FA76-0B3D-48C2-BF95-98D78ABAB47A}"/>
              </a:ext>
            </a:extLst>
          </p:cNvPr>
          <p:cNvSpPr>
            <a:spLocks noGrp="1"/>
          </p:cNvSpPr>
          <p:nvPr/>
        </p:nvSpPr>
        <p:spPr>
          <a:xfrm>
            <a:off x="8915400" y="2343150"/>
            <a:ext cx="21526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8B7A247-EE64-4551-B178-C46A62AF5678}"/>
              </a:ext>
            </a:extLst>
          </p:cNvPr>
          <p:cNvSpPr>
            <a:spLocks noGrp="1"/>
          </p:cNvSpPr>
          <p:nvPr/>
        </p:nvSpPr>
        <p:spPr>
          <a:xfrm>
            <a:off x="8915400" y="2343150"/>
            <a:ext cx="57150" cy="12573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2CA0FD5-EFC8-4EAA-8CE9-86B5217385CD}"/>
              </a:ext>
            </a:extLst>
          </p:cNvPr>
          <p:cNvSpPr>
            <a:spLocks noGrp="1"/>
          </p:cNvSpPr>
          <p:nvPr/>
        </p:nvSpPr>
        <p:spPr>
          <a:xfrm>
            <a:off x="9086850" y="24955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微信小程序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659275-7616-4081-BC20-B379376D5936}"/>
              </a:ext>
            </a:extLst>
          </p:cNvPr>
          <p:cNvSpPr>
            <a:spLocks noGrp="1"/>
          </p:cNvSpPr>
          <p:nvPr/>
        </p:nvSpPr>
        <p:spPr>
          <a:xfrm>
            <a:off x="9086850" y="2800350"/>
            <a:ext cx="1809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统一入口；用真机调试 BLE；学生易分发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AD48653-B824-4C76-84D5-181194ACF803}"/>
              </a:ext>
            </a:extLst>
          </p:cNvPr>
          <p:cNvSpPr>
            <a:spLocks noGrp="1"/>
          </p:cNvSpPr>
          <p:nvPr/>
        </p:nvSpPr>
        <p:spPr>
          <a:xfrm>
            <a:off x="819150" y="4171950"/>
            <a:ext cx="10382250" cy="819150"/>
          </a:xfrm>
          <a:prstGeom prst="rect">
            <a:avLst/>
          </a:prstGeom>
          <a:solidFill>
            <a:srgbClr val="EAF8F4"/>
          </a:solidFill>
          <a:ln w="9525">
            <a:solidFill>
              <a:srgbClr val="BFEC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7C8B45D-7F88-4973-AB41-42B557FE8CC9}"/>
              </a:ext>
            </a:extLst>
          </p:cNvPr>
          <p:cNvSpPr>
            <a:spLocks noGrp="1"/>
          </p:cNvSpPr>
          <p:nvPr/>
        </p:nvSpPr>
        <p:spPr>
          <a:xfrm>
            <a:off x="1066800" y="4352925"/>
            <a:ext cx="495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代价：小程序端的蓝牙能力是 BLE API，不是传统蓝牙串口。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A532B11-20F8-44D6-A30C-4752314A70FC}"/>
              </a:ext>
            </a:extLst>
          </p:cNvPr>
          <p:cNvSpPr>
            <a:spLocks noGrp="1"/>
          </p:cNvSpPr>
          <p:nvPr/>
        </p:nvSpPr>
        <p:spPr>
          <a:xfrm>
            <a:off x="6229350" y="4324350"/>
            <a:ext cx="4400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因此 ESP32 必须做 BLE Peripheral/GATT Server；小程序作为 Central 扫描和订阅 notify。</a:t>
            </a:r>
          </a:p>
        </p:txBody>
      </p:sp>
    </p:spTree>
    <p:extLst>
      <p:ext uri="{BB962C8B-B14F-4D97-AF65-F5344CB8AC3E}">
        <p14:creationId xmlns:p14="http://schemas.microsoft.com/office/powerpoint/2010/main" val="208562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B883BDA6-E1A8-422D-A876-63A7CB4C9B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7CF94CD7-A535-494B-A6F4-EB87D017FD3C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3F85CB5-6C3D-4064-BE04-D718EAC928AD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BLE MENTAL MODEL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BD7FCF-972A-4B8D-A2CA-B354CA1A1EFD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66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BLE 不是串口；它是“服务目录 + 可订阅字段”的模型。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3AB2FA-06AE-4A59-AA1D-D9881E592205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D6E846-AA5E-4762-80A2-3C2B0424C7C4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962255-AD7C-448C-8FA2-10C2DE825380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05410D-CC60-45EA-978A-3EC0D2911F50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23050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CF99B1-4DA2-4530-A229-8D12FDEDAA13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57150" cy="10287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80F04D-E26B-4A9C-A619-4E8105F93127}"/>
              </a:ext>
            </a:extLst>
          </p:cNvPr>
          <p:cNvSpPr>
            <a:spLocks noGrp="1"/>
          </p:cNvSpPr>
          <p:nvPr/>
        </p:nvSpPr>
        <p:spPr>
          <a:xfrm>
            <a:off x="838200" y="2305050"/>
            <a:ext cx="1962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Peripheral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8B1F4D-F76F-4F27-949E-516C366E2E2F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1962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ESP32-PulseOX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广播名字和 Service UUID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587354-BD57-40FF-A08E-610C7B173779}"/>
              </a:ext>
            </a:extLst>
          </p:cNvPr>
          <p:cNvSpPr>
            <a:spLocks noGrp="1"/>
          </p:cNvSpPr>
          <p:nvPr/>
        </p:nvSpPr>
        <p:spPr>
          <a:xfrm>
            <a:off x="666750" y="3981450"/>
            <a:ext cx="23050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F31978-3DEF-4C97-A3AC-D22B139F620F}"/>
              </a:ext>
            </a:extLst>
          </p:cNvPr>
          <p:cNvSpPr>
            <a:spLocks noGrp="1"/>
          </p:cNvSpPr>
          <p:nvPr/>
        </p:nvSpPr>
        <p:spPr>
          <a:xfrm>
            <a:off x="666750" y="3981450"/>
            <a:ext cx="57150" cy="11239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702F89-89A1-4193-8C5D-C7D90C6A3925}"/>
              </a:ext>
            </a:extLst>
          </p:cNvPr>
          <p:cNvSpPr>
            <a:spLocks noGrp="1"/>
          </p:cNvSpPr>
          <p:nvPr/>
        </p:nvSpPr>
        <p:spPr>
          <a:xfrm>
            <a:off x="838200" y="4133850"/>
            <a:ext cx="1962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Central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7A60B9-34F7-4765-956C-C179666FCAEB}"/>
              </a:ext>
            </a:extLst>
          </p:cNvPr>
          <p:cNvSpPr>
            <a:spLocks noGrp="1"/>
          </p:cNvSpPr>
          <p:nvPr/>
        </p:nvSpPr>
        <p:spPr>
          <a:xfrm>
            <a:off x="838200" y="4438650"/>
            <a:ext cx="19621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微信小程序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扫描、连接、订阅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E6D42F-ABE6-4EFF-9344-4205589C77C8}"/>
              </a:ext>
            </a:extLst>
          </p:cNvPr>
          <p:cNvSpPr>
            <a:spLocks noGrp="1"/>
          </p:cNvSpPr>
          <p:nvPr/>
        </p:nvSpPr>
        <p:spPr>
          <a:xfrm>
            <a:off x="2971800" y="2657475"/>
            <a:ext cx="10287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381833-00CE-47FB-9C80-EA3AEB1702C5}"/>
              </a:ext>
            </a:extLst>
          </p:cNvPr>
          <p:cNvSpPr>
            <a:spLocks noGrp="1"/>
          </p:cNvSpPr>
          <p:nvPr/>
        </p:nvSpPr>
        <p:spPr>
          <a:xfrm>
            <a:off x="3867150" y="253365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BED63E6-3EF2-41C8-8DF1-E9EC7138405F}"/>
              </a:ext>
            </a:extLst>
          </p:cNvPr>
          <p:cNvSpPr>
            <a:spLocks noGrp="1"/>
          </p:cNvSpPr>
          <p:nvPr/>
        </p:nvSpPr>
        <p:spPr>
          <a:xfrm>
            <a:off x="3143250" y="4486275"/>
            <a:ext cx="857250" cy="190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3F7A84-BCF7-44CC-8A15-DCD7C70EE1FA}"/>
              </a:ext>
            </a:extLst>
          </p:cNvPr>
          <p:cNvSpPr>
            <a:spLocks noGrp="1"/>
          </p:cNvSpPr>
          <p:nvPr/>
        </p:nvSpPr>
        <p:spPr>
          <a:xfrm>
            <a:off x="3009900" y="436245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927D38F-4213-419B-BBFE-CE0C4C65A106}"/>
              </a:ext>
            </a:extLst>
          </p:cNvPr>
          <p:cNvSpPr>
            <a:spLocks noGrp="1"/>
          </p:cNvSpPr>
          <p:nvPr/>
        </p:nvSpPr>
        <p:spPr>
          <a:xfrm>
            <a:off x="4191000" y="2038350"/>
            <a:ext cx="6572250" cy="31051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AC5043-0CB6-4665-9DFB-F001C0A5C4E6}"/>
              </a:ext>
            </a:extLst>
          </p:cNvPr>
          <p:cNvSpPr>
            <a:spLocks noGrp="1"/>
          </p:cNvSpPr>
          <p:nvPr/>
        </p:nvSpPr>
        <p:spPr>
          <a:xfrm>
            <a:off x="4495800" y="22669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GATT Service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635C71-67D3-47A9-9968-DEA75BB6797E}"/>
              </a:ext>
            </a:extLst>
          </p:cNvPr>
          <p:cNvSpPr>
            <a:spLocks noGrp="1"/>
          </p:cNvSpPr>
          <p:nvPr/>
        </p:nvSpPr>
        <p:spPr>
          <a:xfrm>
            <a:off x="7467600" y="2247900"/>
            <a:ext cx="2762250" cy="304800"/>
          </a:xfrm>
          <a:prstGeom prst="rect">
            <a:avLst/>
          </a:prstGeom>
          <a:solidFill>
            <a:srgbClr val="E9F7FA"/>
          </a:solidFill>
          <a:ln w="13335">
            <a:solidFill>
              <a:srgbClr val="22A6C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E8F891-2098-483A-A9BD-45EE765BFA1E}"/>
              </a:ext>
            </a:extLst>
          </p:cNvPr>
          <p:cNvSpPr>
            <a:spLocks noGrp="1"/>
          </p:cNvSpPr>
          <p:nvPr/>
        </p:nvSpPr>
        <p:spPr>
          <a:xfrm>
            <a:off x="7562850" y="228600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7D6E0001-...-3032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257B253-2121-4CA3-B605-E48C3BC0B328}"/>
              </a:ext>
            </a:extLst>
          </p:cNvPr>
          <p:cNvSpPr>
            <a:spLocks noGrp="1"/>
          </p:cNvSpPr>
          <p:nvPr/>
        </p:nvSpPr>
        <p:spPr>
          <a:xfrm>
            <a:off x="4572000" y="2952750"/>
            <a:ext cx="26670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C28A8F3-D52B-40B0-92D4-321E56B584C3}"/>
              </a:ext>
            </a:extLst>
          </p:cNvPr>
          <p:cNvSpPr>
            <a:spLocks noGrp="1"/>
          </p:cNvSpPr>
          <p:nvPr/>
        </p:nvSpPr>
        <p:spPr>
          <a:xfrm>
            <a:off x="4572000" y="2952750"/>
            <a:ext cx="571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2F199C-F5E0-4844-9DFC-F7FB509C487C}"/>
              </a:ext>
            </a:extLst>
          </p:cNvPr>
          <p:cNvSpPr>
            <a:spLocks noGrp="1"/>
          </p:cNvSpPr>
          <p:nvPr/>
        </p:nvSpPr>
        <p:spPr>
          <a:xfrm>
            <a:off x="4743450" y="3105150"/>
            <a:ext cx="232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Wave Characteristic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7771054-AF9D-45A9-B079-CC178E396B2B}"/>
              </a:ext>
            </a:extLst>
          </p:cNvPr>
          <p:cNvSpPr>
            <a:spLocks noGrp="1"/>
          </p:cNvSpPr>
          <p:nvPr/>
        </p:nvSpPr>
        <p:spPr>
          <a:xfrm>
            <a:off x="4743450" y="3409950"/>
            <a:ext cx="232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READ | NOTIFY</a:t>
            </a:r>
          </a:p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4 字节波形包，约 50Hz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34B1196-8B5E-4464-8A0B-D8E74DDD5605}"/>
              </a:ext>
            </a:extLst>
          </p:cNvPr>
          <p:cNvSpPr>
            <a:spLocks noGrp="1"/>
          </p:cNvSpPr>
          <p:nvPr/>
        </p:nvSpPr>
        <p:spPr>
          <a:xfrm>
            <a:off x="7715250" y="2952750"/>
            <a:ext cx="26670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FCB78-C7A4-4866-BD42-E10188B2673D}"/>
              </a:ext>
            </a:extLst>
          </p:cNvPr>
          <p:cNvSpPr>
            <a:spLocks noGrp="1"/>
          </p:cNvSpPr>
          <p:nvPr/>
        </p:nvSpPr>
        <p:spPr>
          <a:xfrm>
            <a:off x="7715250" y="2952750"/>
            <a:ext cx="57150" cy="7810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A461CB5-B394-40EA-9A39-0414B19DDE59}"/>
              </a:ext>
            </a:extLst>
          </p:cNvPr>
          <p:cNvSpPr>
            <a:spLocks noGrp="1"/>
          </p:cNvSpPr>
          <p:nvPr/>
        </p:nvSpPr>
        <p:spPr>
          <a:xfrm>
            <a:off x="7886700" y="3105150"/>
            <a:ext cx="232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Metrics Characteristic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E8A6AB5-3606-4F92-B681-8031734EC30D}"/>
              </a:ext>
            </a:extLst>
          </p:cNvPr>
          <p:cNvSpPr>
            <a:spLocks noGrp="1"/>
          </p:cNvSpPr>
          <p:nvPr/>
        </p:nvSpPr>
        <p:spPr>
          <a:xfrm>
            <a:off x="7886700" y="3409950"/>
            <a:ext cx="2324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READ | NOTIFY</a:t>
            </a:r>
          </a:p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6 字节心率/血氧包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D88031-1AC0-4DEA-A396-900763DE5F66}"/>
              </a:ext>
            </a:extLst>
          </p:cNvPr>
          <p:cNvSpPr>
            <a:spLocks noGrp="1"/>
          </p:cNvSpPr>
          <p:nvPr/>
        </p:nvSpPr>
        <p:spPr>
          <a:xfrm>
            <a:off x="4914900" y="4267200"/>
            <a:ext cx="504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订阅 notify 后，ESP32 主动推送；小程序在 onBLECharacteristicValueChange 中收到 ArrayBuffer。</a:t>
            </a:r>
          </a:p>
        </p:txBody>
      </p:sp>
    </p:spTree>
    <p:extLst>
      <p:ext uri="{BB962C8B-B14F-4D97-AF65-F5344CB8AC3E}">
        <p14:creationId xmlns:p14="http://schemas.microsoft.com/office/powerpoint/2010/main" val="217292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1C4BE87C-8DBF-4F90-8A94-9C95DE9816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A4A3E6C-8129-4019-A0A1-92BDBEAC8FD5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5ED0509-4BCA-421D-A312-26999A668A36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SYSTEM ARCHITECTURE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C4C648-87CB-4DEE-89DB-8C300031E665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66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测量仍在 ESP32 本地完成，BLE 只传显示层需要的数据。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4A77EF-1D1A-43BD-AC51-5F41AC2740B9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163CC1-F8DA-4B01-87EC-CAD47801D2EF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796C93-A080-4082-9806-C3FF37A816B4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9BE6F5-DF7B-4EC7-9AD9-9456FC0C1CF6}"/>
              </a:ext>
            </a:extLst>
          </p:cNvPr>
          <p:cNvSpPr>
            <a:spLocks noGrp="1"/>
          </p:cNvSpPr>
          <p:nvPr/>
        </p:nvSpPr>
        <p:spPr>
          <a:xfrm>
            <a:off x="514350" y="2628900"/>
            <a:ext cx="14668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DEF135-C369-44D5-8E0E-EBE380F58F21}"/>
              </a:ext>
            </a:extLst>
          </p:cNvPr>
          <p:cNvSpPr>
            <a:spLocks noGrp="1"/>
          </p:cNvSpPr>
          <p:nvPr/>
        </p:nvSpPr>
        <p:spPr>
          <a:xfrm>
            <a:off x="514350" y="2628900"/>
            <a:ext cx="57150" cy="11620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392F6D-A69A-48A6-ABDD-46D796BE5A8D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MAX30102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EDEC2B-1894-409A-A36F-AD898CEB8939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1123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red / IR samples</a:t>
            </a:r>
          </a:p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400 SPS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EC709D-C10E-485B-8FDF-529BEC32583D}"/>
              </a:ext>
            </a:extLst>
          </p:cNvPr>
          <p:cNvSpPr>
            <a:spLocks noGrp="1"/>
          </p:cNvSpPr>
          <p:nvPr/>
        </p:nvSpPr>
        <p:spPr>
          <a:xfrm>
            <a:off x="1981200" y="3200400"/>
            <a:ext cx="3810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582E06-44BC-4181-A2F0-F44704A86D97}"/>
              </a:ext>
            </a:extLst>
          </p:cNvPr>
          <p:cNvSpPr>
            <a:spLocks noGrp="1"/>
          </p:cNvSpPr>
          <p:nvPr/>
        </p:nvSpPr>
        <p:spPr>
          <a:xfrm>
            <a:off x="2228850" y="3076575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2F3317-2A30-4D5F-9E98-B0A3ED634A90}"/>
              </a:ext>
            </a:extLst>
          </p:cNvPr>
          <p:cNvSpPr>
            <a:spLocks noGrp="1"/>
          </p:cNvSpPr>
          <p:nvPr/>
        </p:nvSpPr>
        <p:spPr>
          <a:xfrm>
            <a:off x="2400300" y="2628900"/>
            <a:ext cx="14668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F45125-20A8-4AC4-B13E-EF7ACCD905CB}"/>
              </a:ext>
            </a:extLst>
          </p:cNvPr>
          <p:cNvSpPr>
            <a:spLocks noGrp="1"/>
          </p:cNvSpPr>
          <p:nvPr/>
        </p:nvSpPr>
        <p:spPr>
          <a:xfrm>
            <a:off x="2400300" y="2628900"/>
            <a:ext cx="57150" cy="11620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3AEBD2-9D9C-4945-96AB-99895184C5E8}"/>
              </a:ext>
            </a:extLst>
          </p:cNvPr>
          <p:cNvSpPr>
            <a:spLocks noGrp="1"/>
          </p:cNvSpPr>
          <p:nvPr/>
        </p:nvSpPr>
        <p:spPr>
          <a:xfrm>
            <a:off x="2571750" y="2781300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Filters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87F28A-9A45-4EE6-8D00-E726BDA039E2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1123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LPF / HPF</a:t>
            </a:r>
          </a:p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Differentiator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714FA4-E5BF-4A31-9D6C-1157B4CF8983}"/>
              </a:ext>
            </a:extLst>
          </p:cNvPr>
          <p:cNvSpPr>
            <a:spLocks noGrp="1"/>
          </p:cNvSpPr>
          <p:nvPr/>
        </p:nvSpPr>
        <p:spPr>
          <a:xfrm>
            <a:off x="3867150" y="3200400"/>
            <a:ext cx="3810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D410E7-491F-433C-9B33-D7F6D3B63051}"/>
              </a:ext>
            </a:extLst>
          </p:cNvPr>
          <p:cNvSpPr>
            <a:spLocks noGrp="1"/>
          </p:cNvSpPr>
          <p:nvPr/>
        </p:nvSpPr>
        <p:spPr>
          <a:xfrm>
            <a:off x="4114800" y="3076575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197836-EE8C-4A19-9E01-F0E78268F209}"/>
              </a:ext>
            </a:extLst>
          </p:cNvPr>
          <p:cNvSpPr>
            <a:spLocks noGrp="1"/>
          </p:cNvSpPr>
          <p:nvPr/>
        </p:nvSpPr>
        <p:spPr>
          <a:xfrm>
            <a:off x="4286250" y="2628900"/>
            <a:ext cx="14668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18D7D7A-01B1-41EE-B8A6-620FE92D54E4}"/>
              </a:ext>
            </a:extLst>
          </p:cNvPr>
          <p:cNvSpPr>
            <a:spLocks noGrp="1"/>
          </p:cNvSpPr>
          <p:nvPr/>
        </p:nvSpPr>
        <p:spPr>
          <a:xfrm>
            <a:off x="4286250" y="2628900"/>
            <a:ext cx="57150" cy="11620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1928545-EC0F-4C07-81A1-F7525DFE9194}"/>
              </a:ext>
            </a:extLst>
          </p:cNvPr>
          <p:cNvSpPr>
            <a:spLocks noGrp="1"/>
          </p:cNvSpPr>
          <p:nvPr/>
        </p:nvSpPr>
        <p:spPr>
          <a:xfrm>
            <a:off x="4457700" y="2781300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Algorithm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25C0A48-9A52-4AD8-8EB3-BE52047B018B}"/>
              </a:ext>
            </a:extLst>
          </p:cNvPr>
          <p:cNvSpPr>
            <a:spLocks noGrp="1"/>
          </p:cNvSpPr>
          <p:nvPr/>
        </p:nvSpPr>
        <p:spPr>
          <a:xfrm>
            <a:off x="4457700" y="3086100"/>
            <a:ext cx="1123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BPM + SpO2</a:t>
            </a:r>
          </a:p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averaging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4F24D46-948F-43FD-9B68-E32EE8BD958F}"/>
              </a:ext>
            </a:extLst>
          </p:cNvPr>
          <p:cNvSpPr>
            <a:spLocks noGrp="1"/>
          </p:cNvSpPr>
          <p:nvPr/>
        </p:nvSpPr>
        <p:spPr>
          <a:xfrm>
            <a:off x="5753100" y="3200400"/>
            <a:ext cx="3810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CC30406-1C48-4F22-BBF9-BAEEB4C4E35E}"/>
              </a:ext>
            </a:extLst>
          </p:cNvPr>
          <p:cNvSpPr>
            <a:spLocks noGrp="1"/>
          </p:cNvSpPr>
          <p:nvPr/>
        </p:nvSpPr>
        <p:spPr>
          <a:xfrm>
            <a:off x="6000750" y="3076575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D945BF9-0D3E-4A3B-B486-5D0ECBD6F8DA}"/>
              </a:ext>
            </a:extLst>
          </p:cNvPr>
          <p:cNvSpPr>
            <a:spLocks noGrp="1"/>
          </p:cNvSpPr>
          <p:nvPr/>
        </p:nvSpPr>
        <p:spPr>
          <a:xfrm>
            <a:off x="6172200" y="2628900"/>
            <a:ext cx="14668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82EC986-0337-4EAD-A934-B140F5BEE3FE}"/>
              </a:ext>
            </a:extLst>
          </p:cNvPr>
          <p:cNvSpPr>
            <a:spLocks noGrp="1"/>
          </p:cNvSpPr>
          <p:nvPr/>
        </p:nvSpPr>
        <p:spPr>
          <a:xfrm>
            <a:off x="6172200" y="2628900"/>
            <a:ext cx="57150" cy="1162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852E2FF-A027-4E85-9A1A-39E4DD1A786C}"/>
              </a:ext>
            </a:extLst>
          </p:cNvPr>
          <p:cNvSpPr>
            <a:spLocks noGrp="1"/>
          </p:cNvSpPr>
          <p:nvPr/>
        </p:nvSpPr>
        <p:spPr>
          <a:xfrm>
            <a:off x="6343650" y="2781300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BLE GATT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0050D33-084B-4083-B7E0-CA23DFBEF603}"/>
              </a:ext>
            </a:extLst>
          </p:cNvPr>
          <p:cNvSpPr>
            <a:spLocks noGrp="1"/>
          </p:cNvSpPr>
          <p:nvPr/>
        </p:nvSpPr>
        <p:spPr>
          <a:xfrm>
            <a:off x="6343650" y="3086100"/>
            <a:ext cx="1123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wave notify</a:t>
            </a:r>
          </a:p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metrics notify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089CA8-6AAA-476F-8CF0-EE837F6C0589}"/>
              </a:ext>
            </a:extLst>
          </p:cNvPr>
          <p:cNvSpPr>
            <a:spLocks noGrp="1"/>
          </p:cNvSpPr>
          <p:nvPr/>
        </p:nvSpPr>
        <p:spPr>
          <a:xfrm>
            <a:off x="7639050" y="3200400"/>
            <a:ext cx="3810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4A8F269-43E0-45DA-9EDD-634C735098DF}"/>
              </a:ext>
            </a:extLst>
          </p:cNvPr>
          <p:cNvSpPr>
            <a:spLocks noGrp="1"/>
          </p:cNvSpPr>
          <p:nvPr/>
        </p:nvSpPr>
        <p:spPr>
          <a:xfrm>
            <a:off x="7886700" y="3076575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B612AC0-44DB-45CE-849D-C7748B20149E}"/>
              </a:ext>
            </a:extLst>
          </p:cNvPr>
          <p:cNvSpPr>
            <a:spLocks noGrp="1"/>
          </p:cNvSpPr>
          <p:nvPr/>
        </p:nvSpPr>
        <p:spPr>
          <a:xfrm>
            <a:off x="8058150" y="2628900"/>
            <a:ext cx="14668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ABABFD4-91C3-4A67-9F48-85933B23586C}"/>
              </a:ext>
            </a:extLst>
          </p:cNvPr>
          <p:cNvSpPr>
            <a:spLocks noGrp="1"/>
          </p:cNvSpPr>
          <p:nvPr/>
        </p:nvSpPr>
        <p:spPr>
          <a:xfrm>
            <a:off x="8058150" y="2628900"/>
            <a:ext cx="57150" cy="11620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156959-9926-4F23-BEF8-93D74FD15D2F}"/>
              </a:ext>
            </a:extLst>
          </p:cNvPr>
          <p:cNvSpPr>
            <a:spLocks noGrp="1"/>
          </p:cNvSpPr>
          <p:nvPr/>
        </p:nvSpPr>
        <p:spPr>
          <a:xfrm>
            <a:off x="8229600" y="2781300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Mini Program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530B1A-0582-4374-B090-5631447A4E3E}"/>
              </a:ext>
            </a:extLst>
          </p:cNvPr>
          <p:cNvSpPr>
            <a:spLocks noGrp="1"/>
          </p:cNvSpPr>
          <p:nvPr/>
        </p:nvSpPr>
        <p:spPr>
          <a:xfrm>
            <a:off x="8229600" y="3086100"/>
            <a:ext cx="1123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parse packets</a:t>
            </a:r>
          </a:p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update UI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D7FBBFD-D80E-41A5-92C7-7484AC00379B}"/>
              </a:ext>
            </a:extLst>
          </p:cNvPr>
          <p:cNvSpPr>
            <a:spLocks noGrp="1"/>
          </p:cNvSpPr>
          <p:nvPr/>
        </p:nvSpPr>
        <p:spPr>
          <a:xfrm>
            <a:off x="9525000" y="3200400"/>
            <a:ext cx="3810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F0AED70-443E-4DF3-BFDA-150D5FD1F962}"/>
              </a:ext>
            </a:extLst>
          </p:cNvPr>
          <p:cNvSpPr>
            <a:spLocks noGrp="1"/>
          </p:cNvSpPr>
          <p:nvPr/>
        </p:nvSpPr>
        <p:spPr>
          <a:xfrm>
            <a:off x="9772650" y="3076575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E45B4D6-3534-455B-BDA4-00A83C8EABDE}"/>
              </a:ext>
            </a:extLst>
          </p:cNvPr>
          <p:cNvSpPr>
            <a:spLocks noGrp="1"/>
          </p:cNvSpPr>
          <p:nvPr/>
        </p:nvSpPr>
        <p:spPr>
          <a:xfrm>
            <a:off x="9944100" y="2628900"/>
            <a:ext cx="14668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E55FF3C-10A8-4905-A8BA-0BFE54D0574D}"/>
              </a:ext>
            </a:extLst>
          </p:cNvPr>
          <p:cNvSpPr>
            <a:spLocks noGrp="1"/>
          </p:cNvSpPr>
          <p:nvPr/>
        </p:nvSpPr>
        <p:spPr>
          <a:xfrm>
            <a:off x="9944100" y="2628900"/>
            <a:ext cx="57150" cy="11620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0B88911-4EF7-47FA-A78B-0A48062D61AC}"/>
              </a:ext>
            </a:extLst>
          </p:cNvPr>
          <p:cNvSpPr>
            <a:spLocks noGrp="1"/>
          </p:cNvSpPr>
          <p:nvPr/>
        </p:nvSpPr>
        <p:spPr>
          <a:xfrm>
            <a:off x="10115550" y="2781300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Canvas + values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CFA3FB0-3FE9-4EC5-B72B-C64EE9C1543A}"/>
              </a:ext>
            </a:extLst>
          </p:cNvPr>
          <p:cNvSpPr>
            <a:spLocks noGrp="1"/>
          </p:cNvSpPr>
          <p:nvPr/>
        </p:nvSpPr>
        <p:spPr>
          <a:xfrm>
            <a:off x="10115550" y="3086100"/>
            <a:ext cx="1123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PPG curve</a:t>
            </a:r>
          </a:p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HR / SpO2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163098B-F3C1-48B3-AF08-A9D392B769F0}"/>
              </a:ext>
            </a:extLst>
          </p:cNvPr>
          <p:cNvSpPr>
            <a:spLocks noGrp="1"/>
          </p:cNvSpPr>
          <p:nvPr/>
        </p:nvSpPr>
        <p:spPr>
          <a:xfrm>
            <a:off x="552450" y="4552950"/>
            <a:ext cx="4762500" cy="552450"/>
          </a:xfrm>
          <a:prstGeom prst="rect">
            <a:avLst/>
          </a:prstGeom>
          <a:solidFill>
            <a:srgbClr val="FFF4DF"/>
          </a:solidFill>
          <a:ln w="9525">
            <a:solidFill>
              <a:srgbClr val="F6CE8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492E523-35D6-4DDD-9041-71468B5276E1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原串口屏链路不删除：Serial2 仍然向组态屏发送同一份波形和数值。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E2C42E3-6580-473F-AE1D-D37413C217DD}"/>
              </a:ext>
            </a:extLst>
          </p:cNvPr>
          <p:cNvSpPr>
            <a:spLocks noGrp="1"/>
          </p:cNvSpPr>
          <p:nvPr/>
        </p:nvSpPr>
        <p:spPr>
          <a:xfrm>
            <a:off x="6305550" y="4552950"/>
            <a:ext cx="4762500" cy="552450"/>
          </a:xfrm>
          <a:prstGeom prst="rect">
            <a:avLst/>
          </a:prstGeom>
          <a:solidFill>
            <a:srgbClr val="EAF8F4"/>
          </a:solidFill>
          <a:ln w="9525">
            <a:solidFill>
              <a:srgbClr val="BFEC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A98AC78-8DA9-44FD-B724-388AE492FF90}"/>
              </a:ext>
            </a:extLst>
          </p:cNvPr>
          <p:cNvSpPr>
            <a:spLocks noGrp="1"/>
          </p:cNvSpPr>
          <p:nvPr/>
        </p:nvSpPr>
        <p:spPr>
          <a:xfrm>
            <a:off x="6496050" y="4686300"/>
            <a:ext cx="438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新增手机链路不重算算法：只在既有事件点调用 notifyWave / notifyMetrics。</a:t>
            </a:r>
          </a:p>
        </p:txBody>
      </p:sp>
    </p:spTree>
    <p:extLst>
      <p:ext uri="{BB962C8B-B14F-4D97-AF65-F5344CB8AC3E}">
        <p14:creationId xmlns:p14="http://schemas.microsoft.com/office/powerpoint/2010/main" val="50263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 75">
            <a:extLst>
              <a:ext uri="{FF2B5EF4-FFF2-40B4-BE49-F238E27FC236}">
                <a16:creationId xmlns:a16="http://schemas.microsoft.com/office/drawing/2014/main" id="{9E3D3C06-5854-4E7B-8347-463543B7DB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0F4269D-CED9-45D9-B07B-1B7209689A04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DBFC82E-57D9-41E3-8A7B-7F57E163B5FF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APPLICATION PROTOCOL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93801F-9034-4677-B2F6-737635254EBA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66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协议越小，越适合 BLE 默认 20 字节 MTU 和课堂调试。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673E6B-3F23-4430-94B4-6581B8C8DF89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D3B0FE-DD18-452D-820E-4FED05470CA6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B30279-3A27-4A3E-8456-EAEBBCC4D277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AC408C-4ED7-48A5-B358-3CAE939993FF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Wave packet: 4 bytes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7DED63-79CD-489B-BE11-BE96B0CD77EA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4591050" cy="3238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F0FEB5-B93B-46D0-81D4-40727090EBD0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5619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Byte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6F6E27-614D-4421-A5EA-BF831CC1EA58}"/>
              </a:ext>
            </a:extLst>
          </p:cNvPr>
          <p:cNvSpPr>
            <a:spLocks noGrp="1"/>
          </p:cNvSpPr>
          <p:nvPr/>
        </p:nvSpPr>
        <p:spPr>
          <a:xfrm>
            <a:off x="1457325" y="2428875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15CD7B-A435-45AA-BB09-E5E0926E76E8}"/>
              </a:ext>
            </a:extLst>
          </p:cNvPr>
          <p:cNvSpPr>
            <a:spLocks noGrp="1"/>
          </p:cNvSpPr>
          <p:nvPr/>
        </p:nvSpPr>
        <p:spPr>
          <a:xfrm>
            <a:off x="2600325" y="2428875"/>
            <a:ext cx="25812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48CBBB-52FA-4011-8A12-49FEC05EA9A9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714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4626E4-1B62-4DC1-A87F-A6D40D3B9460}"/>
              </a:ext>
            </a:extLst>
          </p:cNvPr>
          <p:cNvSpPr>
            <a:spLocks noGrp="1"/>
          </p:cNvSpPr>
          <p:nvPr/>
        </p:nvSpPr>
        <p:spPr>
          <a:xfrm>
            <a:off x="742950" y="2752725"/>
            <a:ext cx="5619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BA1DBF-8D15-42B1-9B5C-891B8DD5B928}"/>
              </a:ext>
            </a:extLst>
          </p:cNvPr>
          <p:cNvSpPr>
            <a:spLocks noGrp="1"/>
          </p:cNvSpPr>
          <p:nvPr/>
        </p:nvSpPr>
        <p:spPr>
          <a:xfrm>
            <a:off x="1381125" y="268605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18139B-7E63-480F-AF84-102EDFD3E2D6}"/>
              </a:ext>
            </a:extLst>
          </p:cNvPr>
          <p:cNvSpPr>
            <a:spLocks noGrp="1"/>
          </p:cNvSpPr>
          <p:nvPr/>
        </p:nvSpPr>
        <p:spPr>
          <a:xfrm>
            <a:off x="1457325" y="2752725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type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4DE7A7-17FF-4124-BE26-147B61D26187}"/>
              </a:ext>
            </a:extLst>
          </p:cNvPr>
          <p:cNvSpPr>
            <a:spLocks noGrp="1"/>
          </p:cNvSpPr>
          <p:nvPr/>
        </p:nvSpPr>
        <p:spPr>
          <a:xfrm>
            <a:off x="2524125" y="2686050"/>
            <a:ext cx="27336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C35C1C-83D4-4C68-AE45-6855EA5ECE9D}"/>
              </a:ext>
            </a:extLst>
          </p:cNvPr>
          <p:cNvSpPr>
            <a:spLocks noGrp="1"/>
          </p:cNvSpPr>
          <p:nvPr/>
        </p:nvSpPr>
        <p:spPr>
          <a:xfrm>
            <a:off x="2600325" y="2752725"/>
            <a:ext cx="25812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固定 0x01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3FE465-4B94-43E5-B656-06EE772DF06F}"/>
              </a:ext>
            </a:extLst>
          </p:cNvPr>
          <p:cNvSpPr>
            <a:spLocks noGrp="1"/>
          </p:cNvSpPr>
          <p:nvPr/>
        </p:nvSpPr>
        <p:spPr>
          <a:xfrm>
            <a:off x="666750" y="3086100"/>
            <a:ext cx="714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2418F9-8A9E-4BA5-96FC-BC95BE866811}"/>
              </a:ext>
            </a:extLst>
          </p:cNvPr>
          <p:cNvSpPr>
            <a:spLocks noGrp="1"/>
          </p:cNvSpPr>
          <p:nvPr/>
        </p:nvSpPr>
        <p:spPr>
          <a:xfrm>
            <a:off x="742950" y="3152775"/>
            <a:ext cx="5619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7CC2F3D-6CFB-41DD-B4ED-99ED05741614}"/>
              </a:ext>
            </a:extLst>
          </p:cNvPr>
          <p:cNvSpPr>
            <a:spLocks noGrp="1"/>
          </p:cNvSpPr>
          <p:nvPr/>
        </p:nvSpPr>
        <p:spPr>
          <a:xfrm>
            <a:off x="1381125" y="308610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236AE11-18F6-49D8-819B-22CB46DF0675}"/>
              </a:ext>
            </a:extLst>
          </p:cNvPr>
          <p:cNvSpPr>
            <a:spLocks noGrp="1"/>
          </p:cNvSpPr>
          <p:nvPr/>
        </p:nvSpPr>
        <p:spPr>
          <a:xfrm>
            <a:off x="1457325" y="3152775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seq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DC2E04-58C2-4D18-AEA1-5BA715B06D29}"/>
              </a:ext>
            </a:extLst>
          </p:cNvPr>
          <p:cNvSpPr>
            <a:spLocks noGrp="1"/>
          </p:cNvSpPr>
          <p:nvPr/>
        </p:nvSpPr>
        <p:spPr>
          <a:xfrm>
            <a:off x="2524125" y="3086100"/>
            <a:ext cx="27336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E5F1AF6-5401-44EA-BD4C-EEE6F991CD30}"/>
              </a:ext>
            </a:extLst>
          </p:cNvPr>
          <p:cNvSpPr>
            <a:spLocks noGrp="1"/>
          </p:cNvSpPr>
          <p:nvPr/>
        </p:nvSpPr>
        <p:spPr>
          <a:xfrm>
            <a:off x="2600325" y="3152775"/>
            <a:ext cx="25812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波形序号，0-255 循环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07A320-5E7C-4D55-84BA-AC37118DE386}"/>
              </a:ext>
            </a:extLst>
          </p:cNvPr>
          <p:cNvSpPr>
            <a:spLocks noGrp="1"/>
          </p:cNvSpPr>
          <p:nvPr/>
        </p:nvSpPr>
        <p:spPr>
          <a:xfrm>
            <a:off x="666750" y="3486150"/>
            <a:ext cx="714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BF3B31-725E-4B24-84E5-4F257FD2F527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5619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7A1429F-6782-4CD2-8282-3BDB51964E2F}"/>
              </a:ext>
            </a:extLst>
          </p:cNvPr>
          <p:cNvSpPr>
            <a:spLocks noGrp="1"/>
          </p:cNvSpPr>
          <p:nvPr/>
        </p:nvSpPr>
        <p:spPr>
          <a:xfrm>
            <a:off x="1381125" y="348615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D654604-6EB4-47B9-9069-E91F4F775715}"/>
              </a:ext>
            </a:extLst>
          </p:cNvPr>
          <p:cNvSpPr>
            <a:spLocks noGrp="1"/>
          </p:cNvSpPr>
          <p:nvPr/>
        </p:nvSpPr>
        <p:spPr>
          <a:xfrm>
            <a:off x="1457325" y="3552825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DB3AA3-CA6B-41D3-8198-D866D3B25C28}"/>
              </a:ext>
            </a:extLst>
          </p:cNvPr>
          <p:cNvSpPr>
            <a:spLocks noGrp="1"/>
          </p:cNvSpPr>
          <p:nvPr/>
        </p:nvSpPr>
        <p:spPr>
          <a:xfrm>
            <a:off x="2524125" y="3486150"/>
            <a:ext cx="27336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9B0F640-10EC-46A2-A478-D8A395852F5D}"/>
              </a:ext>
            </a:extLst>
          </p:cNvPr>
          <p:cNvSpPr>
            <a:spLocks noGrp="1"/>
          </p:cNvSpPr>
          <p:nvPr/>
        </p:nvSpPr>
        <p:spPr>
          <a:xfrm>
            <a:off x="2600325" y="3552825"/>
            <a:ext cx="25812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显示波形值，0-120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20E03F7-55BC-4592-87D9-E5E38E39CDCD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714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3DAC115-1424-4199-B5CC-20D4E4C1F187}"/>
              </a:ext>
            </a:extLst>
          </p:cNvPr>
          <p:cNvSpPr>
            <a:spLocks noGrp="1"/>
          </p:cNvSpPr>
          <p:nvPr/>
        </p:nvSpPr>
        <p:spPr>
          <a:xfrm>
            <a:off x="742950" y="3952875"/>
            <a:ext cx="5619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B1A01FE-6E9A-4522-8E94-059DD69E5BEC}"/>
              </a:ext>
            </a:extLst>
          </p:cNvPr>
          <p:cNvSpPr>
            <a:spLocks noGrp="1"/>
          </p:cNvSpPr>
          <p:nvPr/>
        </p:nvSpPr>
        <p:spPr>
          <a:xfrm>
            <a:off x="1381125" y="388620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652E819-ECF2-4D61-A001-95E9F6D9C258}"/>
              </a:ext>
            </a:extLst>
          </p:cNvPr>
          <p:cNvSpPr>
            <a:spLocks noGrp="1"/>
          </p:cNvSpPr>
          <p:nvPr/>
        </p:nvSpPr>
        <p:spPr>
          <a:xfrm>
            <a:off x="1457325" y="3952875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flags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9107F24-A706-4543-A46F-83EB281E0D24}"/>
              </a:ext>
            </a:extLst>
          </p:cNvPr>
          <p:cNvSpPr>
            <a:spLocks noGrp="1"/>
          </p:cNvSpPr>
          <p:nvPr/>
        </p:nvSpPr>
        <p:spPr>
          <a:xfrm>
            <a:off x="2524125" y="3886200"/>
            <a:ext cx="27336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6E97B71-EE25-4DAD-9A85-2DB525FE5957}"/>
              </a:ext>
            </a:extLst>
          </p:cNvPr>
          <p:cNvSpPr>
            <a:spLocks noGrp="1"/>
          </p:cNvSpPr>
          <p:nvPr/>
        </p:nvSpPr>
        <p:spPr>
          <a:xfrm>
            <a:off x="2600325" y="3952875"/>
            <a:ext cx="25812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bit0: fingerDetected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0F8D68B-1174-48FD-92A0-1597542704F6}"/>
              </a:ext>
            </a:extLst>
          </p:cNvPr>
          <p:cNvSpPr>
            <a:spLocks noGrp="1"/>
          </p:cNvSpPr>
          <p:nvPr/>
        </p:nvSpPr>
        <p:spPr>
          <a:xfrm>
            <a:off x="666750" y="4400550"/>
            <a:ext cx="447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由 400SPS 采样每 8 点平均一次，约 50 点/秒。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DDEAE5A-72A2-47BB-8489-12A152AC242B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rPr>
              <a:t>Metrics packet: 6 bytes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093BC69-CC5C-45C6-BB5F-794CD692B719}"/>
              </a:ext>
            </a:extLst>
          </p:cNvPr>
          <p:cNvSpPr>
            <a:spLocks noGrp="1"/>
          </p:cNvSpPr>
          <p:nvPr/>
        </p:nvSpPr>
        <p:spPr>
          <a:xfrm>
            <a:off x="6572250" y="2362200"/>
            <a:ext cx="4591050" cy="3238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D1CDE08-703B-4C8B-B8EA-F03B7A79DE32}"/>
              </a:ext>
            </a:extLst>
          </p:cNvPr>
          <p:cNvSpPr>
            <a:spLocks noGrp="1"/>
          </p:cNvSpPr>
          <p:nvPr/>
        </p:nvSpPr>
        <p:spPr>
          <a:xfrm>
            <a:off x="6648450" y="2428875"/>
            <a:ext cx="5619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Byte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A0F08CE-5F16-4B52-801C-3B41AEC2557E}"/>
              </a:ext>
            </a:extLst>
          </p:cNvPr>
          <p:cNvSpPr>
            <a:spLocks noGrp="1"/>
          </p:cNvSpPr>
          <p:nvPr/>
        </p:nvSpPr>
        <p:spPr>
          <a:xfrm>
            <a:off x="7362825" y="2428875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73757C5-5A45-4237-A9BC-2AB428958B84}"/>
              </a:ext>
            </a:extLst>
          </p:cNvPr>
          <p:cNvSpPr>
            <a:spLocks noGrp="1"/>
          </p:cNvSpPr>
          <p:nvPr/>
        </p:nvSpPr>
        <p:spPr>
          <a:xfrm>
            <a:off x="8505825" y="2428875"/>
            <a:ext cx="25812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24DEAB8-0A8C-47B1-8445-CA0D29AE2EDC}"/>
              </a:ext>
            </a:extLst>
          </p:cNvPr>
          <p:cNvSpPr>
            <a:spLocks noGrp="1"/>
          </p:cNvSpPr>
          <p:nvPr/>
        </p:nvSpPr>
        <p:spPr>
          <a:xfrm>
            <a:off x="6572250" y="2686050"/>
            <a:ext cx="714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7932887-7717-48E6-8018-B480AD2F35F6}"/>
              </a:ext>
            </a:extLst>
          </p:cNvPr>
          <p:cNvSpPr>
            <a:spLocks noGrp="1"/>
          </p:cNvSpPr>
          <p:nvPr/>
        </p:nvSpPr>
        <p:spPr>
          <a:xfrm>
            <a:off x="6648450" y="2752725"/>
            <a:ext cx="5619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599A699-B7CF-497F-8F7F-6462FEDEC79B}"/>
              </a:ext>
            </a:extLst>
          </p:cNvPr>
          <p:cNvSpPr>
            <a:spLocks noGrp="1"/>
          </p:cNvSpPr>
          <p:nvPr/>
        </p:nvSpPr>
        <p:spPr>
          <a:xfrm>
            <a:off x="7286625" y="268605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1B61039-69F1-4FCE-83B6-BC86217BAD88}"/>
              </a:ext>
            </a:extLst>
          </p:cNvPr>
          <p:cNvSpPr>
            <a:spLocks noGrp="1"/>
          </p:cNvSpPr>
          <p:nvPr/>
        </p:nvSpPr>
        <p:spPr>
          <a:xfrm>
            <a:off x="7362825" y="2752725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type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C7C9820-7DBC-4F71-B7A0-15C85FEB69CB}"/>
              </a:ext>
            </a:extLst>
          </p:cNvPr>
          <p:cNvSpPr>
            <a:spLocks noGrp="1"/>
          </p:cNvSpPr>
          <p:nvPr/>
        </p:nvSpPr>
        <p:spPr>
          <a:xfrm>
            <a:off x="8429625" y="2686050"/>
            <a:ext cx="27336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395BBC3-2746-4CED-AF1C-D7E9664DA53F}"/>
              </a:ext>
            </a:extLst>
          </p:cNvPr>
          <p:cNvSpPr>
            <a:spLocks noGrp="1"/>
          </p:cNvSpPr>
          <p:nvPr/>
        </p:nvSpPr>
        <p:spPr>
          <a:xfrm>
            <a:off x="8505825" y="2752725"/>
            <a:ext cx="25812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固定 0x02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B4168AE-C714-4088-9491-906FCF6EE544}"/>
              </a:ext>
            </a:extLst>
          </p:cNvPr>
          <p:cNvSpPr>
            <a:spLocks noGrp="1"/>
          </p:cNvSpPr>
          <p:nvPr/>
        </p:nvSpPr>
        <p:spPr>
          <a:xfrm>
            <a:off x="6572250" y="3086100"/>
            <a:ext cx="714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96CDEAA-494B-4D6D-9AED-D0E02D94C911}"/>
              </a:ext>
            </a:extLst>
          </p:cNvPr>
          <p:cNvSpPr>
            <a:spLocks noGrp="1"/>
          </p:cNvSpPr>
          <p:nvPr/>
        </p:nvSpPr>
        <p:spPr>
          <a:xfrm>
            <a:off x="6648450" y="3152775"/>
            <a:ext cx="5619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1-2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2C8918E-DAE9-427F-8BCA-FEC66817E121}"/>
              </a:ext>
            </a:extLst>
          </p:cNvPr>
          <p:cNvSpPr>
            <a:spLocks noGrp="1"/>
          </p:cNvSpPr>
          <p:nvPr/>
        </p:nvSpPr>
        <p:spPr>
          <a:xfrm>
            <a:off x="7286625" y="308610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72B4771-AF2D-4E91-A4F9-2958E2210BA8}"/>
              </a:ext>
            </a:extLst>
          </p:cNvPr>
          <p:cNvSpPr>
            <a:spLocks noGrp="1"/>
          </p:cNvSpPr>
          <p:nvPr/>
        </p:nvSpPr>
        <p:spPr>
          <a:xfrm>
            <a:off x="7362825" y="3152775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bpm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CC74606-9A85-4356-A1A9-3E431CBB765D}"/>
              </a:ext>
            </a:extLst>
          </p:cNvPr>
          <p:cNvSpPr>
            <a:spLocks noGrp="1"/>
          </p:cNvSpPr>
          <p:nvPr/>
        </p:nvSpPr>
        <p:spPr>
          <a:xfrm>
            <a:off x="8429625" y="3086100"/>
            <a:ext cx="27336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A74095F-7D57-42CB-8BE0-35B0B56D288E}"/>
              </a:ext>
            </a:extLst>
          </p:cNvPr>
          <p:cNvSpPr>
            <a:spLocks noGrp="1"/>
          </p:cNvSpPr>
          <p:nvPr/>
        </p:nvSpPr>
        <p:spPr>
          <a:xfrm>
            <a:off x="8505825" y="3152775"/>
            <a:ext cx="25812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uint16 little-endian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35F9C06-1E4A-42B1-A55E-9FF6EDB285A5}"/>
              </a:ext>
            </a:extLst>
          </p:cNvPr>
          <p:cNvSpPr>
            <a:spLocks noGrp="1"/>
          </p:cNvSpPr>
          <p:nvPr/>
        </p:nvSpPr>
        <p:spPr>
          <a:xfrm>
            <a:off x="6572250" y="3486150"/>
            <a:ext cx="714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A24E62C-B717-44F8-AB7C-999E3FC2F928}"/>
              </a:ext>
            </a:extLst>
          </p:cNvPr>
          <p:cNvSpPr>
            <a:spLocks noGrp="1"/>
          </p:cNvSpPr>
          <p:nvPr/>
        </p:nvSpPr>
        <p:spPr>
          <a:xfrm>
            <a:off x="6648450" y="3552825"/>
            <a:ext cx="5619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ECEE55F-733C-4D1F-9510-6B1B62DCC695}"/>
              </a:ext>
            </a:extLst>
          </p:cNvPr>
          <p:cNvSpPr>
            <a:spLocks noGrp="1"/>
          </p:cNvSpPr>
          <p:nvPr/>
        </p:nvSpPr>
        <p:spPr>
          <a:xfrm>
            <a:off x="7286625" y="348615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1356295-4B02-49F6-9754-5292BDF3A3AC}"/>
              </a:ext>
            </a:extLst>
          </p:cNvPr>
          <p:cNvSpPr>
            <a:spLocks noGrp="1"/>
          </p:cNvSpPr>
          <p:nvPr/>
        </p:nvSpPr>
        <p:spPr>
          <a:xfrm>
            <a:off x="7362825" y="3552825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spo2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23B667E-049B-4872-8957-704078419C50}"/>
              </a:ext>
            </a:extLst>
          </p:cNvPr>
          <p:cNvSpPr>
            <a:spLocks noGrp="1"/>
          </p:cNvSpPr>
          <p:nvPr/>
        </p:nvSpPr>
        <p:spPr>
          <a:xfrm>
            <a:off x="8429625" y="3486150"/>
            <a:ext cx="27336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3379A07-95B4-470E-90D0-8F80358F16EF}"/>
              </a:ext>
            </a:extLst>
          </p:cNvPr>
          <p:cNvSpPr>
            <a:spLocks noGrp="1"/>
          </p:cNvSpPr>
          <p:nvPr/>
        </p:nvSpPr>
        <p:spPr>
          <a:xfrm>
            <a:off x="8505825" y="3552825"/>
            <a:ext cx="25812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uint8, 0-100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FFE1A66-7607-4EBD-818F-8DB305D84F61}"/>
              </a:ext>
            </a:extLst>
          </p:cNvPr>
          <p:cNvSpPr>
            <a:spLocks noGrp="1"/>
          </p:cNvSpPr>
          <p:nvPr/>
        </p:nvSpPr>
        <p:spPr>
          <a:xfrm>
            <a:off x="6572250" y="3886200"/>
            <a:ext cx="714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009E177-37D3-4179-98C6-E36D0A026471}"/>
              </a:ext>
            </a:extLst>
          </p:cNvPr>
          <p:cNvSpPr>
            <a:spLocks noGrp="1"/>
          </p:cNvSpPr>
          <p:nvPr/>
        </p:nvSpPr>
        <p:spPr>
          <a:xfrm>
            <a:off x="6648450" y="3952875"/>
            <a:ext cx="5619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9107FAB-CA16-44C1-BAB5-B96F65032F17}"/>
              </a:ext>
            </a:extLst>
          </p:cNvPr>
          <p:cNvSpPr>
            <a:spLocks noGrp="1"/>
          </p:cNvSpPr>
          <p:nvPr/>
        </p:nvSpPr>
        <p:spPr>
          <a:xfrm>
            <a:off x="7286625" y="388620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2629FF4-9556-4B0E-BAD3-74B6C6A487F5}"/>
              </a:ext>
            </a:extLst>
          </p:cNvPr>
          <p:cNvSpPr>
            <a:spLocks noGrp="1"/>
          </p:cNvSpPr>
          <p:nvPr/>
        </p:nvSpPr>
        <p:spPr>
          <a:xfrm>
            <a:off x="7362825" y="3952875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flags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94AA056-A512-4E2B-B147-F4B04D9896CD}"/>
              </a:ext>
            </a:extLst>
          </p:cNvPr>
          <p:cNvSpPr>
            <a:spLocks noGrp="1"/>
          </p:cNvSpPr>
          <p:nvPr/>
        </p:nvSpPr>
        <p:spPr>
          <a:xfrm>
            <a:off x="8429625" y="3886200"/>
            <a:ext cx="27336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624F467-8467-4618-97AB-B73D69D75F88}"/>
              </a:ext>
            </a:extLst>
          </p:cNvPr>
          <p:cNvSpPr>
            <a:spLocks noGrp="1"/>
          </p:cNvSpPr>
          <p:nvPr/>
        </p:nvSpPr>
        <p:spPr>
          <a:xfrm>
            <a:off x="8505825" y="3952875"/>
            <a:ext cx="25812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bit0 手指；bit1 指标有效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86ADCCA-5152-4115-8214-E3A80D7BE879}"/>
              </a:ext>
            </a:extLst>
          </p:cNvPr>
          <p:cNvSpPr>
            <a:spLocks noGrp="1"/>
          </p:cNvSpPr>
          <p:nvPr/>
        </p:nvSpPr>
        <p:spPr>
          <a:xfrm>
            <a:off x="6572250" y="4286250"/>
            <a:ext cx="714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9F2EFF9-8B35-4C4A-8F22-0BFBF09278F0}"/>
              </a:ext>
            </a:extLst>
          </p:cNvPr>
          <p:cNvSpPr>
            <a:spLocks noGrp="1"/>
          </p:cNvSpPr>
          <p:nvPr/>
        </p:nvSpPr>
        <p:spPr>
          <a:xfrm>
            <a:off x="6648450" y="4352925"/>
            <a:ext cx="5619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08356FE-100E-4269-81D6-410526B625C9}"/>
              </a:ext>
            </a:extLst>
          </p:cNvPr>
          <p:cNvSpPr>
            <a:spLocks noGrp="1"/>
          </p:cNvSpPr>
          <p:nvPr/>
        </p:nvSpPr>
        <p:spPr>
          <a:xfrm>
            <a:off x="7286625" y="428625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D47EC43-A513-4E67-B98E-07D36DC05E4E}"/>
              </a:ext>
            </a:extLst>
          </p:cNvPr>
          <p:cNvSpPr>
            <a:spLocks noGrp="1"/>
          </p:cNvSpPr>
          <p:nvPr/>
        </p:nvSpPr>
        <p:spPr>
          <a:xfrm>
            <a:off x="7362825" y="4352925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seq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8B45137-A55A-4790-A752-2BA5CC6CF331}"/>
              </a:ext>
            </a:extLst>
          </p:cNvPr>
          <p:cNvSpPr>
            <a:spLocks noGrp="1"/>
          </p:cNvSpPr>
          <p:nvPr/>
        </p:nvSpPr>
        <p:spPr>
          <a:xfrm>
            <a:off x="8429625" y="4286250"/>
            <a:ext cx="27336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C4AC29B-7655-44BE-9385-1DEC5457A92C}"/>
              </a:ext>
            </a:extLst>
          </p:cNvPr>
          <p:cNvSpPr>
            <a:spLocks noGrp="1"/>
          </p:cNvSpPr>
          <p:nvPr/>
        </p:nvSpPr>
        <p:spPr>
          <a:xfrm>
            <a:off x="8505825" y="4352925"/>
            <a:ext cx="25812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当前波形序号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5F786FA-5C24-43D6-9F64-E4F740BB2759}"/>
              </a:ext>
            </a:extLst>
          </p:cNvPr>
          <p:cNvSpPr>
            <a:spLocks noGrp="1"/>
          </p:cNvSpPr>
          <p:nvPr/>
        </p:nvSpPr>
        <p:spPr>
          <a:xfrm>
            <a:off x="6572250" y="4800600"/>
            <a:ext cx="447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心率/血氧只在平均结果有效后推送；刚放手指会先显示 --。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6AA2EDE-A0E9-4242-B895-EFB379B11FC4}"/>
              </a:ext>
            </a:extLst>
          </p:cNvPr>
          <p:cNvSpPr>
            <a:spLocks noGrp="1"/>
          </p:cNvSpPr>
          <p:nvPr/>
        </p:nvSpPr>
        <p:spPr>
          <a:xfrm>
            <a:off x="4362450" y="5476875"/>
            <a:ext cx="3429000" cy="304800"/>
          </a:xfrm>
          <a:prstGeom prst="rect">
            <a:avLst/>
          </a:prstGeom>
          <a:solidFill>
            <a:srgbClr val="FFF3F2"/>
          </a:solidFill>
          <a:ln w="13335">
            <a:solidFill>
              <a:srgbClr val="D951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85008C1-9DF3-4B73-9486-1674EA047EDA}"/>
              </a:ext>
            </a:extLst>
          </p:cNvPr>
          <p:cNvSpPr>
            <a:spLocks noGrp="1"/>
          </p:cNvSpPr>
          <p:nvPr/>
        </p:nvSpPr>
        <p:spPr>
          <a:xfrm>
            <a:off x="4457700" y="551497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rPr>
              <a:t>二进制包比 JSON 更短、更稳定、更容易按字节讲解</a:t>
            </a:r>
          </a:p>
        </p:txBody>
      </p:sp>
    </p:spTree>
    <p:extLst>
      <p:ext uri="{BB962C8B-B14F-4D97-AF65-F5344CB8AC3E}">
        <p14:creationId xmlns:p14="http://schemas.microsoft.com/office/powerpoint/2010/main" val="140998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CD500267-3B47-4FBE-8511-4C51085048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D9EE6BD-1711-4572-A326-4A9789D673B5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69F7F84-0D16-4015-AABA-8256237160EC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ARDUINO SETUP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59161-F617-480B-92C6-FCC13B7C3B89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66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NimBLE-Arduino 负责把 ESP32 发布成一个可被订阅的 BLE 外设。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3040AA-F9D1-4B80-94D0-9D840029F384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6C562D-054F-496A-9FBE-3CA8820ECADC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1BBF3F-C631-422E-AE98-58A0C5DB3947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D6B67D-243B-40CC-BCCA-C2C35D0E1F7B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5124450" cy="3162300"/>
          </a:xfrm>
          <a:prstGeom prst="rect">
            <a:avLst/>
          </a:prstGeom>
          <a:solidFill>
            <a:srgbClr val="0E1F28"/>
          </a:solidFill>
          <a:ln w="9525">
            <a:solidFill>
              <a:srgbClr val="1C39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DE1628-0D62-44F0-AFCC-60473BD4353A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#include &lt;NimBLEDevice.h&gt;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35E63F-5653-4E07-9969-096B2A51ECA6}"/>
              </a:ext>
            </a:extLst>
          </p:cNvPr>
          <p:cNvSpPr>
            <a:spLocks noGrp="1"/>
          </p:cNvSpPr>
          <p:nvPr/>
        </p:nvSpPr>
        <p:spPr>
          <a:xfrm>
            <a:off x="704850" y="2324100"/>
            <a:ext cx="49339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C7CB60-0739-4F13-BE60-334A30EC8C13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const char *kBleDeviceName = "ESP32-PulseOX";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6B532F-06EA-4685-81C3-739438440FAB}"/>
              </a:ext>
            </a:extLst>
          </p:cNvPr>
          <p:cNvSpPr>
            <a:spLocks noGrp="1"/>
          </p:cNvSpPr>
          <p:nvPr/>
        </p:nvSpPr>
        <p:spPr>
          <a:xfrm>
            <a:off x="704850" y="2533650"/>
            <a:ext cx="49339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51093F-D437-4756-995F-6D518E639ABE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const char *kBleServiceUUID = "7d6e0001-...";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9CD546-D93F-442A-A1B0-07D65805CE35}"/>
              </a:ext>
            </a:extLst>
          </p:cNvPr>
          <p:cNvSpPr>
            <a:spLocks noGrp="1"/>
          </p:cNvSpPr>
          <p:nvPr/>
        </p:nvSpPr>
        <p:spPr>
          <a:xfrm>
            <a:off x="704850" y="2743200"/>
            <a:ext cx="49339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28AE53-7F78-4313-842A-7D8B2A3F0EFF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const char *kBleWaveCharacteristicUUID = "7d6e0002-...";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5CFA08-76A5-4145-A93F-1816BC4538D9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49339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5414D9-F8E1-4772-BCDA-A1850327BAEC}"/>
              </a:ext>
            </a:extLst>
          </p:cNvPr>
          <p:cNvSpPr>
            <a:spLocks noGrp="1"/>
          </p:cNvSpPr>
          <p:nvPr/>
        </p:nvSpPr>
        <p:spPr>
          <a:xfrm>
            <a:off x="781050" y="297180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const char *kBleMetricsCharacteristicUUID = "7d6e0003-...";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52E825-4048-4000-AB5E-E642643E8D44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9E264B-A792-43FA-A212-CFE30CEAEBFE}"/>
              </a:ext>
            </a:extLst>
          </p:cNvPr>
          <p:cNvSpPr>
            <a:spLocks noGrp="1"/>
          </p:cNvSpPr>
          <p:nvPr/>
        </p:nvSpPr>
        <p:spPr>
          <a:xfrm>
            <a:off x="781050" y="339090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NimBLEDevice::init(kBleDeviceName);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832B06-0D16-4FA8-807F-31A5E1D5AFE0}"/>
              </a:ext>
            </a:extLst>
          </p:cNvPr>
          <p:cNvSpPr>
            <a:spLocks noGrp="1"/>
          </p:cNvSpPr>
          <p:nvPr/>
        </p:nvSpPr>
        <p:spPr>
          <a:xfrm>
            <a:off x="781050" y="360045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bleServer = NimBLEDevice::createServer();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B8B0078-1A7E-4F7E-B3E1-411601D1B565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NimBLEService *pulseService =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C9C28B3-A552-4D78-9E68-7521CE123B59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bleServer-&gt;createService(kBleServiceUUID);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9D0638E-3F35-4F5A-A45E-9BD6085025F4}"/>
              </a:ext>
            </a:extLst>
          </p:cNvPr>
          <p:cNvSpPr>
            <a:spLocks noGrp="1"/>
          </p:cNvSpPr>
          <p:nvPr/>
        </p:nvSpPr>
        <p:spPr>
          <a:xfrm>
            <a:off x="704850" y="4210050"/>
            <a:ext cx="49339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B99D462-0385-4089-9382-6C64E3FC5A00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waveCharacteristic = pulseService-&gt;createCharacteristic(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D5F7E2-DE91-4344-8960-988258C719DF}"/>
              </a:ext>
            </a:extLst>
          </p:cNvPr>
          <p:cNvSpPr>
            <a:spLocks noGrp="1"/>
          </p:cNvSpPr>
          <p:nvPr/>
        </p:nvSpPr>
        <p:spPr>
          <a:xfrm>
            <a:off x="781050" y="443865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kBleWaveCharacteristicUUID, READ | NOTIFY, 4);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D0247CA-E40B-4E91-94B7-6D23037B24FB}"/>
              </a:ext>
            </a:extLst>
          </p:cNvPr>
          <p:cNvSpPr>
            <a:spLocks noGrp="1"/>
          </p:cNvSpPr>
          <p:nvPr/>
        </p:nvSpPr>
        <p:spPr>
          <a:xfrm>
            <a:off x="704850" y="4629150"/>
            <a:ext cx="49339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4A1774-1452-4B97-BD06-52EE8F9589F8}"/>
              </a:ext>
            </a:extLst>
          </p:cNvPr>
          <p:cNvSpPr>
            <a:spLocks noGrp="1"/>
          </p:cNvSpPr>
          <p:nvPr/>
        </p:nvSpPr>
        <p:spPr>
          <a:xfrm>
            <a:off x="781050" y="464820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metricsCharacteristic = pulseService-&gt;createCharacteristic(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3AC39A0-1700-4E8F-861E-81BE4671816C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478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kBleMetricsCharacteristicUUID, READ | NOTIFY, 6);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E3E41E4-DB17-4A3A-A6FC-593973EE99A6}"/>
              </a:ext>
            </a:extLst>
          </p:cNvPr>
          <p:cNvSpPr>
            <a:spLocks noGrp="1"/>
          </p:cNvSpPr>
          <p:nvPr/>
        </p:nvSpPr>
        <p:spPr>
          <a:xfrm>
            <a:off x="6362700" y="2076450"/>
            <a:ext cx="4305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2C10CF3-D0D9-41F9-930E-C327F7FF3C23}"/>
              </a:ext>
            </a:extLst>
          </p:cNvPr>
          <p:cNvSpPr>
            <a:spLocks noGrp="1"/>
          </p:cNvSpPr>
          <p:nvPr/>
        </p:nvSpPr>
        <p:spPr>
          <a:xfrm>
            <a:off x="6362700" y="2076450"/>
            <a:ext cx="57150" cy="8001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54647EE-ED79-4CAF-AFF0-478BB4E7BEE2}"/>
              </a:ext>
            </a:extLst>
          </p:cNvPr>
          <p:cNvSpPr>
            <a:spLocks noGrp="1"/>
          </p:cNvSpPr>
          <p:nvPr/>
        </p:nvSpPr>
        <p:spPr>
          <a:xfrm>
            <a:off x="6534150" y="2228850"/>
            <a:ext cx="3962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第一层：身份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97EF586-4AF6-49CA-91C0-8CD04468F2E9}"/>
              </a:ext>
            </a:extLst>
          </p:cNvPr>
          <p:cNvSpPr>
            <a:spLocks noGrp="1"/>
          </p:cNvSpPr>
          <p:nvPr/>
        </p:nvSpPr>
        <p:spPr>
          <a:xfrm>
            <a:off x="6534150" y="2533650"/>
            <a:ext cx="3962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设备名用于学生肉眼识别；Service UUID 用于程序精确匹配。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8F2686E-5829-4AF0-9A84-DF89DA8EC44F}"/>
              </a:ext>
            </a:extLst>
          </p:cNvPr>
          <p:cNvSpPr>
            <a:spLocks noGrp="1"/>
          </p:cNvSpPr>
          <p:nvPr/>
        </p:nvSpPr>
        <p:spPr>
          <a:xfrm>
            <a:off x="6362700" y="3105150"/>
            <a:ext cx="4305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E427A34-5F58-4287-B1E3-05A74A968966}"/>
              </a:ext>
            </a:extLst>
          </p:cNvPr>
          <p:cNvSpPr>
            <a:spLocks noGrp="1"/>
          </p:cNvSpPr>
          <p:nvPr/>
        </p:nvSpPr>
        <p:spPr>
          <a:xfrm>
            <a:off x="6362700" y="3105150"/>
            <a:ext cx="57150" cy="8001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8224FE0-8682-4316-9A00-25C245730B85}"/>
              </a:ext>
            </a:extLst>
          </p:cNvPr>
          <p:cNvSpPr>
            <a:spLocks noGrp="1"/>
          </p:cNvSpPr>
          <p:nvPr/>
        </p:nvSpPr>
        <p:spPr>
          <a:xfrm>
            <a:off x="6534150" y="3257550"/>
            <a:ext cx="3962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第二层：数据字段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3CEF3DC-EE28-4EDB-9F82-B2BDACAE3ECA}"/>
              </a:ext>
            </a:extLst>
          </p:cNvPr>
          <p:cNvSpPr>
            <a:spLocks noGrp="1"/>
          </p:cNvSpPr>
          <p:nvPr/>
        </p:nvSpPr>
        <p:spPr>
          <a:xfrm>
            <a:off x="6534150" y="3562350"/>
            <a:ext cx="3962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Wave 和 Metrics 是两个 Characteristic；都支持 READ 和 NOTIFY。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971B1B-4A0A-418A-9930-82C48B5D9CBA}"/>
              </a:ext>
            </a:extLst>
          </p:cNvPr>
          <p:cNvSpPr>
            <a:spLocks noGrp="1"/>
          </p:cNvSpPr>
          <p:nvPr/>
        </p:nvSpPr>
        <p:spPr>
          <a:xfrm>
            <a:off x="6362700" y="4133850"/>
            <a:ext cx="4305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E2A6F5B-00EA-4DD2-A239-CED80FA59E7B}"/>
              </a:ext>
            </a:extLst>
          </p:cNvPr>
          <p:cNvSpPr>
            <a:spLocks noGrp="1"/>
          </p:cNvSpPr>
          <p:nvPr/>
        </p:nvSpPr>
        <p:spPr>
          <a:xfrm>
            <a:off x="6362700" y="4133850"/>
            <a:ext cx="57150" cy="8001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49FFEA6-DADE-44F0-B52B-6925935085F1}"/>
              </a:ext>
            </a:extLst>
          </p:cNvPr>
          <p:cNvSpPr>
            <a:spLocks noGrp="1"/>
          </p:cNvSpPr>
          <p:nvPr/>
        </p:nvSpPr>
        <p:spPr>
          <a:xfrm>
            <a:off x="6534150" y="4286250"/>
            <a:ext cx="3962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第三层：广播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B1F1BA9-F355-4BE2-A1B4-4215E4BF9D61}"/>
              </a:ext>
            </a:extLst>
          </p:cNvPr>
          <p:cNvSpPr>
            <a:spLocks noGrp="1"/>
          </p:cNvSpPr>
          <p:nvPr/>
        </p:nvSpPr>
        <p:spPr>
          <a:xfrm>
            <a:off x="6534150" y="4591050"/>
            <a:ext cx="3962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advertising-&gt;addServiceUUID(...); advertising-&gt;start();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CF3DE1D-4917-4C4A-B1B4-FBA625BC4E1A}"/>
              </a:ext>
            </a:extLst>
          </p:cNvPr>
          <p:cNvSpPr>
            <a:spLocks noGrp="1"/>
          </p:cNvSpPr>
          <p:nvPr/>
        </p:nvSpPr>
        <p:spPr>
          <a:xfrm>
            <a:off x="6362700" y="5257800"/>
            <a:ext cx="4267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课堂讲法：先让学生在 nRF Connect 中看到服务目录，再回到小程序代码。</a:t>
            </a:r>
          </a:p>
        </p:txBody>
      </p:sp>
    </p:spTree>
    <p:extLst>
      <p:ext uri="{BB962C8B-B14F-4D97-AF65-F5344CB8AC3E}">
        <p14:creationId xmlns:p14="http://schemas.microsoft.com/office/powerpoint/2010/main" val="99786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A566023A-635B-45FC-AC1E-2B34070783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22C68B5-1C94-4545-AE85-AEEC8E20DBEF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8EBDDAE-8908-4372-A0AA-012DF09D0F66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ARDUINO RUNTIME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0235F5-A3AF-47D8-B5AB-2F44E01B72B7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66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BLE 发送点挂在原有测量事件上，避免维护两套算法。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B4098C-29BA-456D-B3C3-E2D019858DD8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7AB5BB-E36A-433F-A520-C2B86FA67AB2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684436-0296-44C2-A70B-6D8B2E676B4B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D74FE3-192C-4AB9-99D3-DAA302A38629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12192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055FA6-6AD7-44A7-AC35-03E7900A9B7D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57150" cy="5715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0ECB79-EC34-4D85-99C5-534100BA0F1B}"/>
              </a:ext>
            </a:extLst>
          </p:cNvPr>
          <p:cNvSpPr>
            <a:spLocks noGrp="1"/>
          </p:cNvSpPr>
          <p:nvPr/>
        </p:nvSpPr>
        <p:spPr>
          <a:xfrm>
            <a:off x="820067" y="2528494"/>
            <a:ext cx="111259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 err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readSample</a:t>
            </a:r>
            <a:r>
              <a:rPr sz="938" b="1" dirty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()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B6CB04-5C73-4D4F-8609-14408626677C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87630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读取 red / IR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A7FE05-DC9C-4ECE-92D7-DF85BF645C56}"/>
              </a:ext>
            </a:extLst>
          </p:cNvPr>
          <p:cNvSpPr>
            <a:spLocks noGrp="1"/>
          </p:cNvSpPr>
          <p:nvPr/>
        </p:nvSpPr>
        <p:spPr>
          <a:xfrm>
            <a:off x="1952625" y="2667000"/>
            <a:ext cx="190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4723CD-91AD-43EE-B5A6-A018AE5AD5E2}"/>
              </a:ext>
            </a:extLst>
          </p:cNvPr>
          <p:cNvSpPr>
            <a:spLocks noGrp="1"/>
          </p:cNvSpPr>
          <p:nvPr/>
        </p:nvSpPr>
        <p:spPr>
          <a:xfrm>
            <a:off x="1847850" y="33528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FB9818-5C01-4403-8CD4-D1E87043C450}"/>
              </a:ext>
            </a:extLst>
          </p:cNvPr>
          <p:cNvSpPr>
            <a:spLocks noGrp="1"/>
          </p:cNvSpPr>
          <p:nvPr/>
        </p:nvSpPr>
        <p:spPr>
          <a:xfrm>
            <a:off x="2266950" y="3162300"/>
            <a:ext cx="12192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541814-39D4-4AB5-836D-F3D526258BCF}"/>
              </a:ext>
            </a:extLst>
          </p:cNvPr>
          <p:cNvSpPr>
            <a:spLocks noGrp="1"/>
          </p:cNvSpPr>
          <p:nvPr/>
        </p:nvSpPr>
        <p:spPr>
          <a:xfrm>
            <a:off x="2266950" y="3162300"/>
            <a:ext cx="57150" cy="5715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A779A8-C50D-4CC8-928D-6C792D35F44A}"/>
              </a:ext>
            </a:extLst>
          </p:cNvPr>
          <p:cNvSpPr>
            <a:spLocks noGrp="1"/>
          </p:cNvSpPr>
          <p:nvPr/>
        </p:nvSpPr>
        <p:spPr>
          <a:xfrm>
            <a:off x="2438400" y="331470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finger detect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C98205-3B47-46E4-8A25-D74B393DE575}"/>
              </a:ext>
            </a:extLst>
          </p:cNvPr>
          <p:cNvSpPr>
            <a:spLocks noGrp="1"/>
          </p:cNvSpPr>
          <p:nvPr/>
        </p:nvSpPr>
        <p:spPr>
          <a:xfrm>
            <a:off x="2438400" y="3619500"/>
            <a:ext cx="87630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red &gt; threshold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48B8EE-1E0C-42E0-BAD8-C5D6773E42BF}"/>
              </a:ext>
            </a:extLst>
          </p:cNvPr>
          <p:cNvSpPr>
            <a:spLocks noGrp="1"/>
          </p:cNvSpPr>
          <p:nvPr/>
        </p:nvSpPr>
        <p:spPr>
          <a:xfrm>
            <a:off x="3476625" y="2667000"/>
            <a:ext cx="190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64334B5-494B-456D-A65E-F04CDD5B0071}"/>
              </a:ext>
            </a:extLst>
          </p:cNvPr>
          <p:cNvSpPr>
            <a:spLocks noGrp="1"/>
          </p:cNvSpPr>
          <p:nvPr/>
        </p:nvSpPr>
        <p:spPr>
          <a:xfrm>
            <a:off x="3371850" y="25717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EB4CBA-7E2E-4369-9825-BA1736B66599}"/>
              </a:ext>
            </a:extLst>
          </p:cNvPr>
          <p:cNvSpPr>
            <a:spLocks noGrp="1"/>
          </p:cNvSpPr>
          <p:nvPr/>
        </p:nvSpPr>
        <p:spPr>
          <a:xfrm>
            <a:off x="3790950" y="2381250"/>
            <a:ext cx="12192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F2BE07-243A-447A-9A75-85C784A4D3A8}"/>
              </a:ext>
            </a:extLst>
          </p:cNvPr>
          <p:cNvSpPr>
            <a:spLocks noGrp="1"/>
          </p:cNvSpPr>
          <p:nvPr/>
        </p:nvSpPr>
        <p:spPr>
          <a:xfrm>
            <a:off x="3790949" y="2381250"/>
            <a:ext cx="66675" cy="7429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55A63A-C102-47A3-809D-F7E11BEA93A0}"/>
              </a:ext>
            </a:extLst>
          </p:cNvPr>
          <p:cNvSpPr>
            <a:spLocks noGrp="1"/>
          </p:cNvSpPr>
          <p:nvPr/>
        </p:nvSpPr>
        <p:spPr>
          <a:xfrm>
            <a:off x="3962400" y="253365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filter + diff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A365730-C418-458B-991B-EB60B88DC7A7}"/>
              </a:ext>
            </a:extLst>
          </p:cNvPr>
          <p:cNvSpPr>
            <a:spLocks noGrp="1"/>
          </p:cNvSpPr>
          <p:nvPr/>
        </p:nvSpPr>
        <p:spPr>
          <a:xfrm>
            <a:off x="3962400" y="2838450"/>
            <a:ext cx="87630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LPF / HPF / zero crossing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5DB1EC-BD46-40CD-91F4-0A5965BC64AB}"/>
              </a:ext>
            </a:extLst>
          </p:cNvPr>
          <p:cNvSpPr>
            <a:spLocks noGrp="1"/>
          </p:cNvSpPr>
          <p:nvPr/>
        </p:nvSpPr>
        <p:spPr>
          <a:xfrm>
            <a:off x="5000625" y="2667000"/>
            <a:ext cx="190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0ADD90-F675-450B-AFDE-14F9FD231F61}"/>
              </a:ext>
            </a:extLst>
          </p:cNvPr>
          <p:cNvSpPr>
            <a:spLocks noGrp="1"/>
          </p:cNvSpPr>
          <p:nvPr/>
        </p:nvSpPr>
        <p:spPr>
          <a:xfrm>
            <a:off x="4895850" y="33528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A29D072-8827-4B0C-94BD-BB829297CCD6}"/>
              </a:ext>
            </a:extLst>
          </p:cNvPr>
          <p:cNvSpPr>
            <a:spLocks noGrp="1"/>
          </p:cNvSpPr>
          <p:nvPr/>
        </p:nvSpPr>
        <p:spPr>
          <a:xfrm>
            <a:off x="5210175" y="3162300"/>
            <a:ext cx="13239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BD70DD-A2D6-4DDB-8D3C-8721C14DB722}"/>
              </a:ext>
            </a:extLst>
          </p:cNvPr>
          <p:cNvSpPr>
            <a:spLocks noGrp="1"/>
          </p:cNvSpPr>
          <p:nvPr/>
        </p:nvSpPr>
        <p:spPr>
          <a:xfrm>
            <a:off x="5200955" y="3162300"/>
            <a:ext cx="57150" cy="5715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C4B93EB-1072-438F-8E7E-F3B90E1F3FBA}"/>
              </a:ext>
            </a:extLst>
          </p:cNvPr>
          <p:cNvSpPr>
            <a:spLocks noGrp="1"/>
          </p:cNvSpPr>
          <p:nvPr/>
        </p:nvSpPr>
        <p:spPr>
          <a:xfrm>
            <a:off x="5419725" y="3314700"/>
            <a:ext cx="9429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 err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PPGcount</a:t>
            </a:r>
            <a:r>
              <a:rPr sz="938" b="1" dirty="0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 &gt;= 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64C93BC-4E9A-4738-B234-2FA45F6DC2A9}"/>
              </a:ext>
            </a:extLst>
          </p:cNvPr>
          <p:cNvSpPr>
            <a:spLocks noGrp="1"/>
          </p:cNvSpPr>
          <p:nvPr/>
        </p:nvSpPr>
        <p:spPr>
          <a:xfrm>
            <a:off x="5486400" y="3619500"/>
            <a:ext cx="87630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map 到 0-120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5FBC36B-C08E-41E9-899F-CB17517D8AE7}"/>
              </a:ext>
            </a:extLst>
          </p:cNvPr>
          <p:cNvSpPr>
            <a:spLocks noGrp="1"/>
          </p:cNvSpPr>
          <p:nvPr/>
        </p:nvSpPr>
        <p:spPr>
          <a:xfrm>
            <a:off x="6524625" y="2667000"/>
            <a:ext cx="190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35A8BA7-FF68-460C-ADCB-81EF955A4247}"/>
              </a:ext>
            </a:extLst>
          </p:cNvPr>
          <p:cNvSpPr>
            <a:spLocks noGrp="1"/>
          </p:cNvSpPr>
          <p:nvPr/>
        </p:nvSpPr>
        <p:spPr>
          <a:xfrm>
            <a:off x="6419850" y="25717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CAEE39D-64C6-4A6D-97B9-542D746612F7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12192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E4E5162-B7BF-4966-8198-51796B0E42FC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57150" cy="5715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B64BE10-EDD5-4C19-8A41-B15C222810D4}"/>
              </a:ext>
            </a:extLst>
          </p:cNvPr>
          <p:cNvSpPr>
            <a:spLocks noGrp="1"/>
          </p:cNvSpPr>
          <p:nvPr/>
        </p:nvSpPr>
        <p:spPr>
          <a:xfrm>
            <a:off x="7010400" y="253365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notifyWave()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E436F00-1ED5-4105-8218-35E6ED5E222B}"/>
              </a:ext>
            </a:extLst>
          </p:cNvPr>
          <p:cNvSpPr>
            <a:spLocks noGrp="1"/>
          </p:cNvSpPr>
          <p:nvPr/>
        </p:nvSpPr>
        <p:spPr>
          <a:xfrm>
            <a:off x="7010400" y="2838450"/>
            <a:ext cx="87630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4-byte 包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A3ED0A3-8FB3-43CD-BE29-C82319CF660D}"/>
              </a:ext>
            </a:extLst>
          </p:cNvPr>
          <p:cNvSpPr>
            <a:spLocks noGrp="1"/>
          </p:cNvSpPr>
          <p:nvPr/>
        </p:nvSpPr>
        <p:spPr>
          <a:xfrm>
            <a:off x="8048625" y="2667000"/>
            <a:ext cx="190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081D91F-DA64-4CF3-9DD5-B9B8F459F2DD}"/>
              </a:ext>
            </a:extLst>
          </p:cNvPr>
          <p:cNvSpPr>
            <a:spLocks noGrp="1"/>
          </p:cNvSpPr>
          <p:nvPr/>
        </p:nvSpPr>
        <p:spPr>
          <a:xfrm>
            <a:off x="7943850" y="33528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9E03BA6-00C5-4ECE-B1CF-E46FF2C3386F}"/>
              </a:ext>
            </a:extLst>
          </p:cNvPr>
          <p:cNvSpPr>
            <a:spLocks noGrp="1"/>
          </p:cNvSpPr>
          <p:nvPr/>
        </p:nvSpPr>
        <p:spPr>
          <a:xfrm>
            <a:off x="8362950" y="3162300"/>
            <a:ext cx="12192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459C40D-95D9-4A66-9EEF-1D4904EB99C6}"/>
              </a:ext>
            </a:extLst>
          </p:cNvPr>
          <p:cNvSpPr>
            <a:spLocks noGrp="1"/>
          </p:cNvSpPr>
          <p:nvPr/>
        </p:nvSpPr>
        <p:spPr>
          <a:xfrm>
            <a:off x="8362950" y="3162300"/>
            <a:ext cx="57150" cy="5715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334C1AB-BD8C-4C53-AB75-3AAA9D808B3D}"/>
              </a:ext>
            </a:extLst>
          </p:cNvPr>
          <p:cNvSpPr>
            <a:spLocks noGrp="1"/>
          </p:cNvSpPr>
          <p:nvPr/>
        </p:nvSpPr>
        <p:spPr>
          <a:xfrm>
            <a:off x="8534400" y="331470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avg ready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7701C92-E2CA-446A-A74A-DFED0D6E4910}"/>
              </a:ext>
            </a:extLst>
          </p:cNvPr>
          <p:cNvSpPr>
            <a:spLocks noGrp="1"/>
          </p:cNvSpPr>
          <p:nvPr/>
        </p:nvSpPr>
        <p:spPr>
          <a:xfrm>
            <a:off x="8534400" y="3619500"/>
            <a:ext cx="87630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5 次心跳后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C604A5F-CAF3-41FA-A3BB-54C90AD065FE}"/>
              </a:ext>
            </a:extLst>
          </p:cNvPr>
          <p:cNvSpPr>
            <a:spLocks noGrp="1"/>
          </p:cNvSpPr>
          <p:nvPr/>
        </p:nvSpPr>
        <p:spPr>
          <a:xfrm>
            <a:off x="9572625" y="2667000"/>
            <a:ext cx="190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F243E41-4B46-4334-B120-B09349919926}"/>
              </a:ext>
            </a:extLst>
          </p:cNvPr>
          <p:cNvSpPr>
            <a:spLocks noGrp="1"/>
          </p:cNvSpPr>
          <p:nvPr/>
        </p:nvSpPr>
        <p:spPr>
          <a:xfrm>
            <a:off x="9467850" y="25717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ED31C6F-6C32-4103-95FD-E2C298D1F6BF}"/>
              </a:ext>
            </a:extLst>
          </p:cNvPr>
          <p:cNvSpPr>
            <a:spLocks noGrp="1"/>
          </p:cNvSpPr>
          <p:nvPr/>
        </p:nvSpPr>
        <p:spPr>
          <a:xfrm>
            <a:off x="9886950" y="2381250"/>
            <a:ext cx="12192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0992220-EC2B-4529-869C-6BB4FD442EE4}"/>
              </a:ext>
            </a:extLst>
          </p:cNvPr>
          <p:cNvSpPr>
            <a:spLocks noGrp="1"/>
          </p:cNvSpPr>
          <p:nvPr/>
        </p:nvSpPr>
        <p:spPr>
          <a:xfrm>
            <a:off x="9886950" y="2381250"/>
            <a:ext cx="57150" cy="5715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7A95639-32CD-4499-8D89-AF715BA2D489}"/>
              </a:ext>
            </a:extLst>
          </p:cNvPr>
          <p:cNvSpPr>
            <a:spLocks noGrp="1"/>
          </p:cNvSpPr>
          <p:nvPr/>
        </p:nvSpPr>
        <p:spPr>
          <a:xfrm>
            <a:off x="10058400" y="253365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notifyMetrics()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AC4C054-594F-4AC1-9275-4488065E5792}"/>
              </a:ext>
            </a:extLst>
          </p:cNvPr>
          <p:cNvSpPr>
            <a:spLocks noGrp="1"/>
          </p:cNvSpPr>
          <p:nvPr/>
        </p:nvSpPr>
        <p:spPr>
          <a:xfrm>
            <a:off x="10058400" y="2838450"/>
            <a:ext cx="87630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6-byte 包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1252258-E694-41B3-B58E-F1094381E708}"/>
              </a:ext>
            </a:extLst>
          </p:cNvPr>
          <p:cNvSpPr>
            <a:spLocks noGrp="1"/>
          </p:cNvSpPr>
          <p:nvPr/>
        </p:nvSpPr>
        <p:spPr>
          <a:xfrm>
            <a:off x="838200" y="4572000"/>
            <a:ext cx="4819650" cy="1009650"/>
          </a:xfrm>
          <a:prstGeom prst="rect">
            <a:avLst/>
          </a:prstGeom>
          <a:solidFill>
            <a:srgbClr val="0E1F28"/>
          </a:solidFill>
          <a:ln w="9525">
            <a:solidFill>
              <a:srgbClr val="1C39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2086DEA-62DA-404D-9F36-C1AE6CBE0DAD}"/>
              </a:ext>
            </a:extLst>
          </p:cNvPr>
          <p:cNvSpPr>
            <a:spLocks noGrp="1"/>
          </p:cNvSpPr>
          <p:nvPr/>
        </p:nvSpPr>
        <p:spPr>
          <a:xfrm>
            <a:off x="1009650" y="470535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if (PPGcount &gt;= 8) {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6064FD7-7D50-4223-AAD4-894E30087BBC}"/>
              </a:ext>
            </a:extLst>
          </p:cNvPr>
          <p:cNvSpPr>
            <a:spLocks noGrp="1"/>
          </p:cNvSpPr>
          <p:nvPr/>
        </p:nvSpPr>
        <p:spPr>
          <a:xfrm>
            <a:off x="1009650" y="491490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int display_val = map(..., -500, 500, 0, 120);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A6ABE9C-724E-4307-B8D1-7E59F8EB3360}"/>
              </a:ext>
            </a:extLst>
          </p:cNvPr>
          <p:cNvSpPr>
            <a:spLocks noGrp="1"/>
          </p:cNvSpPr>
          <p:nvPr/>
        </p:nvSpPr>
        <p:spPr>
          <a:xfrm>
            <a:off x="1009650" y="512445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Serial2.print("add s0.id,0," + String(display_val) + ...);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6BD7EA9-73D5-4C5D-B68A-EAEF903F060D}"/>
              </a:ext>
            </a:extLst>
          </p:cNvPr>
          <p:cNvSpPr>
            <a:spLocks noGrp="1"/>
          </p:cNvSpPr>
          <p:nvPr/>
        </p:nvSpPr>
        <p:spPr>
          <a:xfrm>
            <a:off x="933450" y="5314950"/>
            <a:ext cx="46291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0ECEDE8-F416-4D5F-8DB8-AC53F9E6F3AD}"/>
              </a:ext>
            </a:extLst>
          </p:cNvPr>
          <p:cNvSpPr>
            <a:spLocks noGrp="1"/>
          </p:cNvSpPr>
          <p:nvPr/>
        </p:nvSpPr>
        <p:spPr>
          <a:xfrm>
            <a:off x="1009650" y="533400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notifyWave(display_val, true);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D0209F9-04FA-4A93-86FA-35CF02E212A3}"/>
              </a:ext>
            </a:extLst>
          </p:cNvPr>
          <p:cNvSpPr>
            <a:spLocks noGrp="1"/>
          </p:cNvSpPr>
          <p:nvPr/>
        </p:nvSpPr>
        <p:spPr>
          <a:xfrm>
            <a:off x="1009650" y="554355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D91CDBA-45BB-4BB7-9FDF-6BC08E573DB5}"/>
              </a:ext>
            </a:extLst>
          </p:cNvPr>
          <p:cNvSpPr>
            <a:spLocks noGrp="1"/>
          </p:cNvSpPr>
          <p:nvPr/>
        </p:nvSpPr>
        <p:spPr>
          <a:xfrm>
            <a:off x="6229350" y="4572000"/>
            <a:ext cx="4819650" cy="1009650"/>
          </a:xfrm>
          <a:prstGeom prst="rect">
            <a:avLst/>
          </a:prstGeom>
          <a:solidFill>
            <a:srgbClr val="0E1F28"/>
          </a:solidFill>
          <a:ln w="9525">
            <a:solidFill>
              <a:srgbClr val="1C39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10150A4-151D-4DC7-B1E5-AA2AEDCA1BA2}"/>
              </a:ext>
            </a:extLst>
          </p:cNvPr>
          <p:cNvSpPr>
            <a:spLocks noGrp="1"/>
          </p:cNvSpPr>
          <p:nvPr/>
        </p:nvSpPr>
        <p:spPr>
          <a:xfrm>
            <a:off x="6400800" y="470535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if (averager_bpm.count() &gt;= kSampleThreshold) {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A350450-222A-4391-8072-5627CA1A9D38}"/>
              </a:ext>
            </a:extLst>
          </p:cNvPr>
          <p:cNvSpPr>
            <a:spLocks noGrp="1"/>
          </p:cNvSpPr>
          <p:nvPr/>
        </p:nvSpPr>
        <p:spPr>
          <a:xfrm>
            <a:off x="6400800" y="491490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latestAverageBpm = average_bpm;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E4D619D-8F7A-406B-A9DC-A617629DCAF8}"/>
              </a:ext>
            </a:extLst>
          </p:cNvPr>
          <p:cNvSpPr>
            <a:spLocks noGrp="1"/>
          </p:cNvSpPr>
          <p:nvPr/>
        </p:nvSpPr>
        <p:spPr>
          <a:xfrm>
            <a:off x="6400800" y="512445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latestAverageSpo2 = clampInt(average_spo2, 0, 100);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3F10551-96EF-4074-9941-C3A806F22E4C}"/>
              </a:ext>
            </a:extLst>
          </p:cNvPr>
          <p:cNvSpPr>
            <a:spLocks noGrp="1"/>
          </p:cNvSpPr>
          <p:nvPr/>
        </p:nvSpPr>
        <p:spPr>
          <a:xfrm>
            <a:off x="6324600" y="5314950"/>
            <a:ext cx="462915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3F3CAD0-C718-4F85-AB09-14A359585BD0}"/>
              </a:ext>
            </a:extLst>
          </p:cNvPr>
          <p:cNvSpPr>
            <a:spLocks noGrp="1"/>
          </p:cNvSpPr>
          <p:nvPr/>
        </p:nvSpPr>
        <p:spPr>
          <a:xfrm>
            <a:off x="6400800" y="533400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notifyMetrics(latestAverageBpm, latestAverageSpo2, true, true);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ABB95E4-C03A-4B39-B75C-19AD9813EC21}"/>
              </a:ext>
            </a:extLst>
          </p:cNvPr>
          <p:cNvSpPr>
            <a:spLocks noGrp="1"/>
          </p:cNvSpPr>
          <p:nvPr/>
        </p:nvSpPr>
        <p:spPr>
          <a:xfrm>
            <a:off x="6400800" y="554355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23166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D59B7D04-7D90-4E97-A4C9-A13915BA57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0737D46-443B-4669-9D29-571900D283D4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1A7C0F2-0E15-42A7-90D6-DE141A8C36F8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MINI PROGRAM 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48050D-9139-4696-80E4-7475C3B321E2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66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小程序端是一个严格的 BLE 状态机：先发现，再连接，再订阅。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C1A84D-52EF-4B7D-8ECB-C016A9B44D70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872463-71DB-4E81-9321-DAAE907EEBBD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A68A61-36F4-43FB-BBBE-BAE49965D78B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109D47-F7F7-465D-AC0F-055487038FFE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21526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0AED94-1C34-401C-A5A6-3F9EEC010CFE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57150" cy="7620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91794D-5A43-443D-ABA0-B8FA6A4AD4D8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openBluetoothAdapter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7C42F8-1C22-45A6-9A72-7249041DBBC8}"/>
              </a:ext>
            </a:extLst>
          </p:cNvPr>
          <p:cNvSpPr>
            <a:spLocks noGrp="1"/>
          </p:cNvSpPr>
          <p:nvPr/>
        </p:nvSpPr>
        <p:spPr>
          <a:xfrm>
            <a:off x="914400" y="25908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初始化蓝牙模块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524401-988F-40CD-A953-E54A56AD25FA}"/>
              </a:ext>
            </a:extLst>
          </p:cNvPr>
          <p:cNvSpPr>
            <a:spLocks noGrp="1"/>
          </p:cNvSpPr>
          <p:nvPr/>
        </p:nvSpPr>
        <p:spPr>
          <a:xfrm>
            <a:off x="2895600" y="2505075"/>
            <a:ext cx="5334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25B478-6BC2-4096-B24A-914E6B5EA1D5}"/>
              </a:ext>
            </a:extLst>
          </p:cNvPr>
          <p:cNvSpPr>
            <a:spLocks noGrp="1"/>
          </p:cNvSpPr>
          <p:nvPr/>
        </p:nvSpPr>
        <p:spPr>
          <a:xfrm>
            <a:off x="3295650" y="238125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946C49-7CFA-4D72-B965-E2292649501B}"/>
              </a:ext>
            </a:extLst>
          </p:cNvPr>
          <p:cNvSpPr>
            <a:spLocks noGrp="1"/>
          </p:cNvSpPr>
          <p:nvPr/>
        </p:nvSpPr>
        <p:spPr>
          <a:xfrm>
            <a:off x="3467100" y="2133600"/>
            <a:ext cx="21526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1D817A-E186-416B-9FDE-EA60314EA412}"/>
              </a:ext>
            </a:extLst>
          </p:cNvPr>
          <p:cNvSpPr>
            <a:spLocks noGrp="1"/>
          </p:cNvSpPr>
          <p:nvPr/>
        </p:nvSpPr>
        <p:spPr>
          <a:xfrm>
            <a:off x="3467100" y="2133600"/>
            <a:ext cx="57150" cy="7620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3FF34D-CF9C-47B2-A4D8-AF44374E8CA2}"/>
              </a:ext>
            </a:extLst>
          </p:cNvPr>
          <p:cNvSpPr>
            <a:spLocks noGrp="1"/>
          </p:cNvSpPr>
          <p:nvPr/>
        </p:nvSpPr>
        <p:spPr>
          <a:xfrm>
            <a:off x="3638550" y="22860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startBluetoothDevicesDiscovery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B6A73C-5C5A-4245-99B8-8D721CCE883A}"/>
              </a:ext>
            </a:extLst>
          </p:cNvPr>
          <p:cNvSpPr>
            <a:spLocks noGrp="1"/>
          </p:cNvSpPr>
          <p:nvPr/>
        </p:nvSpPr>
        <p:spPr>
          <a:xfrm>
            <a:off x="3638550" y="25908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扫描附近 BLE 外设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E918A7-FEED-41F9-B9F8-C870D6EFE667}"/>
              </a:ext>
            </a:extLst>
          </p:cNvPr>
          <p:cNvSpPr>
            <a:spLocks noGrp="1"/>
          </p:cNvSpPr>
          <p:nvPr/>
        </p:nvSpPr>
        <p:spPr>
          <a:xfrm>
            <a:off x="5619750" y="2505075"/>
            <a:ext cx="5334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D9A2EF3-8F41-4DED-844E-5BE418B81221}"/>
              </a:ext>
            </a:extLst>
          </p:cNvPr>
          <p:cNvSpPr>
            <a:spLocks noGrp="1"/>
          </p:cNvSpPr>
          <p:nvPr/>
        </p:nvSpPr>
        <p:spPr>
          <a:xfrm>
            <a:off x="6019800" y="238125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F3250C-E948-4A3A-9161-006F57C7D716}"/>
              </a:ext>
            </a:extLst>
          </p:cNvPr>
          <p:cNvSpPr>
            <a:spLocks noGrp="1"/>
          </p:cNvSpPr>
          <p:nvPr/>
        </p:nvSpPr>
        <p:spPr>
          <a:xfrm>
            <a:off x="6191250" y="2133600"/>
            <a:ext cx="21526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CC4747-70C8-4927-AC1B-85586A13D17E}"/>
              </a:ext>
            </a:extLst>
          </p:cNvPr>
          <p:cNvSpPr>
            <a:spLocks noGrp="1"/>
          </p:cNvSpPr>
          <p:nvPr/>
        </p:nvSpPr>
        <p:spPr>
          <a:xfrm>
            <a:off x="6191250" y="2133600"/>
            <a:ext cx="57150" cy="7620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B945C7-383F-4C0D-99D9-3ED0836CB991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createBLEConnection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E49CF88-0573-44FD-B82D-25C70D2E2D24}"/>
              </a:ext>
            </a:extLst>
          </p:cNvPr>
          <p:cNvSpPr>
            <a:spLocks noGrp="1"/>
          </p:cNvSpPr>
          <p:nvPr/>
        </p:nvSpPr>
        <p:spPr>
          <a:xfrm>
            <a:off x="6362700" y="25908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连接 deviceId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7978DE7-5B2A-45AE-9476-7D4C4A98DF0F}"/>
              </a:ext>
            </a:extLst>
          </p:cNvPr>
          <p:cNvSpPr>
            <a:spLocks noGrp="1"/>
          </p:cNvSpPr>
          <p:nvPr/>
        </p:nvSpPr>
        <p:spPr>
          <a:xfrm>
            <a:off x="8343900" y="2505075"/>
            <a:ext cx="5334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89DED16-7735-4448-9820-31EF010EEBA3}"/>
              </a:ext>
            </a:extLst>
          </p:cNvPr>
          <p:cNvSpPr>
            <a:spLocks noGrp="1"/>
          </p:cNvSpPr>
          <p:nvPr/>
        </p:nvSpPr>
        <p:spPr>
          <a:xfrm>
            <a:off x="8743950" y="238125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7C57502-425A-407B-AD77-9D0BCA7F7BE1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1526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B57A9A3-5811-458C-AD4E-5E3134B51523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57150" cy="7620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D1E3E0-1B73-4C5E-8D88-DD4C0267AF36}"/>
              </a:ext>
            </a:extLst>
          </p:cNvPr>
          <p:cNvSpPr>
            <a:spLocks noGrp="1"/>
          </p:cNvSpPr>
          <p:nvPr/>
        </p:nvSpPr>
        <p:spPr>
          <a:xfrm>
            <a:off x="9086850" y="22860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getBLEDeviceServices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01ED4F0-7C0F-4EDF-83AD-A95CA3525C43}"/>
              </a:ext>
            </a:extLst>
          </p:cNvPr>
          <p:cNvSpPr>
            <a:spLocks noGrp="1"/>
          </p:cNvSpPr>
          <p:nvPr/>
        </p:nvSpPr>
        <p:spPr>
          <a:xfrm>
            <a:off x="9086850" y="25908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找到 Service UUID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BA4F06-65E9-47D3-9FAA-24DF01B2B9C1}"/>
              </a:ext>
            </a:extLst>
          </p:cNvPr>
          <p:cNvSpPr>
            <a:spLocks noGrp="1"/>
          </p:cNvSpPr>
          <p:nvPr/>
        </p:nvSpPr>
        <p:spPr>
          <a:xfrm>
            <a:off x="9982200" y="2895600"/>
            <a:ext cx="19050" cy="7239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350DA5F-1BFB-48A4-9D39-D78FC3D7144B}"/>
              </a:ext>
            </a:extLst>
          </p:cNvPr>
          <p:cNvSpPr>
            <a:spLocks noGrp="1"/>
          </p:cNvSpPr>
          <p:nvPr/>
        </p:nvSpPr>
        <p:spPr>
          <a:xfrm>
            <a:off x="9877425" y="35242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27D4AF-5705-4D9B-8F72-7286C19B945F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21526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4FA8A22-7636-41E2-A74D-6B8BC26FDB8F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57150" cy="76200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E70F7E4-F0ED-4982-A732-DCB331297E1E}"/>
              </a:ext>
            </a:extLst>
          </p:cNvPr>
          <p:cNvSpPr>
            <a:spLocks noGrp="1"/>
          </p:cNvSpPr>
          <p:nvPr/>
        </p:nvSpPr>
        <p:spPr>
          <a:xfrm>
            <a:off x="914400" y="37719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getBLEDeviceCharacteristics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ABAB044-1524-41ED-9CA9-D9D709C4D051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找到 Wave / Metrics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D042D99-234D-46D0-91FE-6B3D6C5FE958}"/>
              </a:ext>
            </a:extLst>
          </p:cNvPr>
          <p:cNvSpPr>
            <a:spLocks noGrp="1"/>
          </p:cNvSpPr>
          <p:nvPr/>
        </p:nvSpPr>
        <p:spPr>
          <a:xfrm>
            <a:off x="2895600" y="3990975"/>
            <a:ext cx="5334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BBECFB7-6803-41E2-BE31-0B6278EBE3B4}"/>
              </a:ext>
            </a:extLst>
          </p:cNvPr>
          <p:cNvSpPr>
            <a:spLocks noGrp="1"/>
          </p:cNvSpPr>
          <p:nvPr/>
        </p:nvSpPr>
        <p:spPr>
          <a:xfrm>
            <a:off x="3295650" y="386715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D65CC20-C7DE-4A50-B313-56397AB7D3C0}"/>
              </a:ext>
            </a:extLst>
          </p:cNvPr>
          <p:cNvSpPr>
            <a:spLocks noGrp="1"/>
          </p:cNvSpPr>
          <p:nvPr/>
        </p:nvSpPr>
        <p:spPr>
          <a:xfrm>
            <a:off x="3467100" y="3619500"/>
            <a:ext cx="21526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0379743-FFDD-4C2C-B5F1-FF8484DA494A}"/>
              </a:ext>
            </a:extLst>
          </p:cNvPr>
          <p:cNvSpPr>
            <a:spLocks noGrp="1"/>
          </p:cNvSpPr>
          <p:nvPr/>
        </p:nvSpPr>
        <p:spPr>
          <a:xfrm>
            <a:off x="3467100" y="3619500"/>
            <a:ext cx="57150" cy="7620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68CEF47-C45D-4CD5-ADA9-62CEDA80B7DC}"/>
              </a:ext>
            </a:extLst>
          </p:cNvPr>
          <p:cNvSpPr>
            <a:spLocks noGrp="1"/>
          </p:cNvSpPr>
          <p:nvPr/>
        </p:nvSpPr>
        <p:spPr>
          <a:xfrm>
            <a:off x="3638550" y="37719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notifyBLECharacteristicValueChange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BC17CFB-056E-4F9D-A558-1F4219EC336A}"/>
              </a:ext>
            </a:extLst>
          </p:cNvPr>
          <p:cNvSpPr>
            <a:spLocks noGrp="1"/>
          </p:cNvSpPr>
          <p:nvPr/>
        </p:nvSpPr>
        <p:spPr>
          <a:xfrm>
            <a:off x="3638550" y="40767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启用 notification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B17EC95-5762-471D-A634-75FBE0848847}"/>
              </a:ext>
            </a:extLst>
          </p:cNvPr>
          <p:cNvSpPr>
            <a:spLocks noGrp="1"/>
          </p:cNvSpPr>
          <p:nvPr/>
        </p:nvSpPr>
        <p:spPr>
          <a:xfrm>
            <a:off x="5619750" y="3990975"/>
            <a:ext cx="53340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5762B6F-6B09-4C6B-AB7E-F3B0FDD46F28}"/>
              </a:ext>
            </a:extLst>
          </p:cNvPr>
          <p:cNvSpPr>
            <a:spLocks noGrp="1"/>
          </p:cNvSpPr>
          <p:nvPr/>
        </p:nvSpPr>
        <p:spPr>
          <a:xfrm>
            <a:off x="6019800" y="386715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FA20145-1B38-46C3-868D-827E3FDF4D15}"/>
              </a:ext>
            </a:extLst>
          </p:cNvPr>
          <p:cNvSpPr>
            <a:spLocks noGrp="1"/>
          </p:cNvSpPr>
          <p:nvPr/>
        </p:nvSpPr>
        <p:spPr>
          <a:xfrm>
            <a:off x="6191250" y="3619500"/>
            <a:ext cx="21526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BC0D312-C04C-451E-A8DC-CABECF47A744}"/>
              </a:ext>
            </a:extLst>
          </p:cNvPr>
          <p:cNvSpPr>
            <a:spLocks noGrp="1"/>
          </p:cNvSpPr>
          <p:nvPr/>
        </p:nvSpPr>
        <p:spPr>
          <a:xfrm>
            <a:off x="6191250" y="3619500"/>
            <a:ext cx="57150" cy="7620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BDA9B89-2B6C-4793-A08A-6BD3FA0C1F55}"/>
              </a:ext>
            </a:extLst>
          </p:cNvPr>
          <p:cNvSpPr>
            <a:spLocks noGrp="1"/>
          </p:cNvSpPr>
          <p:nvPr/>
        </p:nvSpPr>
        <p:spPr>
          <a:xfrm>
            <a:off x="6362700" y="37719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onBLECharacteristicValueChange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D3BFBD0-210E-4A3B-9928-8DCC0626D1BA}"/>
              </a:ext>
            </a:extLst>
          </p:cNvPr>
          <p:cNvSpPr>
            <a:spLocks noGrp="1"/>
          </p:cNvSpPr>
          <p:nvPr/>
        </p:nvSpPr>
        <p:spPr>
          <a:xfrm>
            <a:off x="6362700" y="40767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接收 ArrayBuffer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760C9FA-4625-4D29-AFC0-0A193BDDFA8F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代码锚点：startScan() -&gt; connectDevice() -&gt; discoverServices() -&gt; discoverCharacteristics() -&gt; subscribeNotifications()</a:t>
            </a:r>
          </a:p>
        </p:txBody>
      </p:sp>
    </p:spTree>
    <p:extLst>
      <p:ext uri="{BB962C8B-B14F-4D97-AF65-F5344CB8AC3E}">
        <p14:creationId xmlns:p14="http://schemas.microsoft.com/office/powerpoint/2010/main" val="829723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>
            <a:extLst>
              <a:ext uri="{FF2B5EF4-FFF2-40B4-BE49-F238E27FC236}">
                <a16:creationId xmlns:a16="http://schemas.microsoft.com/office/drawing/2014/main" id="{6B48A15D-6106-4F98-9A37-B51677BD52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49DD066-0E8C-4D9B-B74A-BFD49FF90D40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666C0D9-5993-4099-8EEE-31027EA99B16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MINI PROGRAM CODE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70A9D4-BE9C-44D3-A78A-49B3492A73B7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66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小程序把 notify 的 ArrayBuffer 解析成 UI 状态和波形数组。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AEA3E8-4D37-4600-90B4-2FF100117D73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0B09E1-1134-4A98-9094-D825A664C69E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3FF169-384D-4528-802E-5580CFC44601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E7F8C4-5F32-4CCE-9DBF-B22423EB25F2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4953000" cy="1828800"/>
          </a:xfrm>
          <a:prstGeom prst="rect">
            <a:avLst/>
          </a:prstGeom>
          <a:solidFill>
            <a:srgbClr val="0E1F28"/>
          </a:solidFill>
          <a:ln w="9525">
            <a:solidFill>
              <a:srgbClr val="1C39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822949-EE53-4757-8076-E66B985B8181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handleBleValueChange(result) {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82518C-5D2B-4DBB-BD03-8ADEA0816CD7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const id = normalizeUuid(result.characteristicId)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471AEA-D482-4141-A20F-6E3D8A6A1648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476250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D9C7BE-F472-44E4-927B-E8A6EE3BB89A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const view = new DataView(result.value)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D9BB57-7EF8-4F31-8F53-B41F8AC81788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76250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A7117A-C7FE-4361-9B3B-2DFA72B6DE91}"/>
              </a:ext>
            </a:extLst>
          </p:cNvPr>
          <p:cNvSpPr>
            <a:spLocks noGrp="1"/>
          </p:cNvSpPr>
          <p:nvPr/>
        </p:nvSpPr>
        <p:spPr>
          <a:xfrm>
            <a:off x="800100" y="280035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if (id === WAVE_CHARACTERISTIC_UUID) {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23107E-5282-4ADA-93D9-EAEF03D9D234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  this.handleWavePacket(view)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089B01-ECBD-4B44-B780-8C212D4EBFF0}"/>
              </a:ext>
            </a:extLst>
          </p:cNvPr>
          <p:cNvSpPr>
            <a:spLocks noGrp="1"/>
          </p:cNvSpPr>
          <p:nvPr/>
        </p:nvSpPr>
        <p:spPr>
          <a:xfrm>
            <a:off x="723900" y="3200400"/>
            <a:ext cx="476250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BA3CEB-7391-4D6C-805C-9CAE4056EC3E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} else if (id === METRICS_CHARACTERISTIC_UUID) {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F57902-0013-4844-B8E4-82311D1AD0C9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  this.handleMetricsPacket(view)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FB405FF-76A2-4909-86DD-24B2C455AB79}"/>
              </a:ext>
            </a:extLst>
          </p:cNvPr>
          <p:cNvSpPr>
            <a:spLocks noGrp="1"/>
          </p:cNvSpPr>
          <p:nvPr/>
        </p:nvSpPr>
        <p:spPr>
          <a:xfrm>
            <a:off x="800100" y="363855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  }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CB798B-7F87-485D-87B1-FF647E2AB5D2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020BDC-EABD-416B-8708-F4A3818A1D26}"/>
              </a:ext>
            </a:extLst>
          </p:cNvPr>
          <p:cNvSpPr>
            <a:spLocks noGrp="1"/>
          </p:cNvSpPr>
          <p:nvPr/>
        </p:nvSpPr>
        <p:spPr>
          <a:xfrm>
            <a:off x="628650" y="4171950"/>
            <a:ext cx="4953000" cy="1123950"/>
          </a:xfrm>
          <a:prstGeom prst="rect">
            <a:avLst/>
          </a:prstGeom>
          <a:solidFill>
            <a:srgbClr val="0E1F28"/>
          </a:solidFill>
          <a:ln w="9525">
            <a:solidFill>
              <a:srgbClr val="1C39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1362121-D205-4ACE-BD4E-A69100B446C7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476250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2F3EC5-21B2-4513-9903-1FA78381F7F1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wavePoints.shift()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397299-3F57-4FD1-9C00-404C1043E5A7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476250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815A0F3-C8B4-4147-BC4F-32293F9723E6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wavePoints.push(waveValue)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37A5AE-A0AE-4A46-B1E5-2F0AF8F3A376}"/>
              </a:ext>
            </a:extLst>
          </p:cNvPr>
          <p:cNvSpPr>
            <a:spLocks noGrp="1"/>
          </p:cNvSpPr>
          <p:nvPr/>
        </p:nvSpPr>
        <p:spPr>
          <a:xfrm>
            <a:off x="723900" y="4705350"/>
            <a:ext cx="4762500" cy="209550"/>
          </a:xfrm>
          <a:prstGeom prst="rect">
            <a:avLst/>
          </a:prstGeom>
          <a:solidFill>
            <a:srgbClr val="173A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8CCBF3-E9DE-4586-B03B-4212DC506C13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this.drawWave()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C6D46C6-9EBB-4D01-ABB0-B531D56CAD42}"/>
              </a:ext>
            </a:extLst>
          </p:cNvPr>
          <p:cNvSpPr>
            <a:spLocks noGrp="1"/>
          </p:cNvSpPr>
          <p:nvPr/>
        </p:nvSpPr>
        <p:spPr>
          <a:xfrm>
            <a:off x="800100" y="493395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AF4F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AF4F6"/>
                </a:solidFill>
                <a:latin typeface="Consolas"/>
                <a:ea typeface="Consolas"/>
                <a:cs typeface="Consolas"/>
              </a:rPr>
              <a:t>ctx.lineTo(x, y)  // Canvas curve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4740C8-9628-40AF-8822-725B4BBA2AB6}"/>
              </a:ext>
            </a:extLst>
          </p:cNvPr>
          <p:cNvSpPr>
            <a:spLocks noGrp="1"/>
          </p:cNvSpPr>
          <p:nvPr/>
        </p:nvSpPr>
        <p:spPr>
          <a:xfrm>
            <a:off x="6153150" y="2133600"/>
            <a:ext cx="21907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AA495FF-B2D9-4EC4-9FD0-79314A17164F}"/>
              </a:ext>
            </a:extLst>
          </p:cNvPr>
          <p:cNvSpPr>
            <a:spLocks noGrp="1"/>
          </p:cNvSpPr>
          <p:nvPr/>
        </p:nvSpPr>
        <p:spPr>
          <a:xfrm>
            <a:off x="6153150" y="2133600"/>
            <a:ext cx="57150" cy="10287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F2C43A7-9E26-4E43-95FC-6A6009D5FF19}"/>
              </a:ext>
            </a:extLst>
          </p:cNvPr>
          <p:cNvSpPr>
            <a:spLocks noGrp="1"/>
          </p:cNvSpPr>
          <p:nvPr/>
        </p:nvSpPr>
        <p:spPr>
          <a:xfrm>
            <a:off x="6324600" y="2286000"/>
            <a:ext cx="1847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Wave parser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353A462-9C4A-40C0-AE18-0BE5F5069CAC}"/>
              </a:ext>
            </a:extLst>
          </p:cNvPr>
          <p:cNvSpPr>
            <a:spLocks noGrp="1"/>
          </p:cNvSpPr>
          <p:nvPr/>
        </p:nvSpPr>
        <p:spPr>
          <a:xfrm>
            <a:off x="6324600" y="2590800"/>
            <a:ext cx="1847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type=0x01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byte2 -&gt; waveValue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byte3 bit0 -&gt; finger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326192-E9BE-4C0D-9CF0-F876D636961A}"/>
              </a:ext>
            </a:extLst>
          </p:cNvPr>
          <p:cNvSpPr>
            <a:spLocks noGrp="1"/>
          </p:cNvSpPr>
          <p:nvPr/>
        </p:nvSpPr>
        <p:spPr>
          <a:xfrm>
            <a:off x="8667750" y="2133600"/>
            <a:ext cx="21907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C4508EF-D9BB-40C2-913F-752A2FB6665C}"/>
              </a:ext>
            </a:extLst>
          </p:cNvPr>
          <p:cNvSpPr>
            <a:spLocks noGrp="1"/>
          </p:cNvSpPr>
          <p:nvPr/>
        </p:nvSpPr>
        <p:spPr>
          <a:xfrm>
            <a:off x="8667750" y="2133600"/>
            <a:ext cx="57150" cy="10287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7719B66-6ED0-42D0-80DF-7338BD6E5473}"/>
              </a:ext>
            </a:extLst>
          </p:cNvPr>
          <p:cNvSpPr>
            <a:spLocks noGrp="1"/>
          </p:cNvSpPr>
          <p:nvPr/>
        </p:nvSpPr>
        <p:spPr>
          <a:xfrm>
            <a:off x="8839200" y="2286000"/>
            <a:ext cx="1847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Metrics parser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971360F-2A54-4108-ACFA-9AD6AD70FD6C}"/>
              </a:ext>
            </a:extLst>
          </p:cNvPr>
          <p:cNvSpPr>
            <a:spLocks noGrp="1"/>
          </p:cNvSpPr>
          <p:nvPr/>
        </p:nvSpPr>
        <p:spPr>
          <a:xfrm>
            <a:off x="8839200" y="2590800"/>
            <a:ext cx="1847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type=0x02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bytes1-2 -&gt; bpm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byte3 -&gt; spo2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C5B27C7-A4DE-4471-8653-8C511E4A3A54}"/>
              </a:ext>
            </a:extLst>
          </p:cNvPr>
          <p:cNvSpPr>
            <a:spLocks noGrp="1"/>
          </p:cNvSpPr>
          <p:nvPr/>
        </p:nvSpPr>
        <p:spPr>
          <a:xfrm>
            <a:off x="8343900" y="2638425"/>
            <a:ext cx="323850" cy="19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8C1E644-7A82-4D7E-B000-CDCC3DD32799}"/>
              </a:ext>
            </a:extLst>
          </p:cNvPr>
          <p:cNvSpPr>
            <a:spLocks noGrp="1"/>
          </p:cNvSpPr>
          <p:nvPr/>
        </p:nvSpPr>
        <p:spPr>
          <a:xfrm>
            <a:off x="8534400" y="2514600"/>
            <a:ext cx="24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D889729-7F38-448A-89ED-E09E705B56B5}"/>
              </a:ext>
            </a:extLst>
          </p:cNvPr>
          <p:cNvSpPr>
            <a:spLocks noGrp="1"/>
          </p:cNvSpPr>
          <p:nvPr/>
        </p:nvSpPr>
        <p:spPr>
          <a:xfrm>
            <a:off x="7296150" y="3638550"/>
            <a:ext cx="2190750" cy="2343150"/>
          </a:xfrm>
          <a:prstGeom prst="rect">
            <a:avLst/>
          </a:prstGeom>
          <a:solidFill>
            <a:srgbClr val="101B21"/>
          </a:solidFill>
          <a:ln w="9525">
            <a:solidFill>
              <a:srgbClr val="101B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9D1ED75-E71B-4340-BA7C-CEBA210CEC56}"/>
              </a:ext>
            </a:extLst>
          </p:cNvPr>
          <p:cNvSpPr>
            <a:spLocks noGrp="1"/>
          </p:cNvSpPr>
          <p:nvPr/>
        </p:nvSpPr>
        <p:spPr>
          <a:xfrm>
            <a:off x="7391400" y="3829050"/>
            <a:ext cx="2000250" cy="1962150"/>
          </a:xfrm>
          <a:prstGeom prst="rect">
            <a:avLst/>
          </a:prstGeom>
          <a:solidFill>
            <a:srgbClr val="F7FB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02DD532-4119-4BF9-8F3F-D2CA63C3E3A6}"/>
              </a:ext>
            </a:extLst>
          </p:cNvPr>
          <p:cNvSpPr>
            <a:spLocks noGrp="1"/>
          </p:cNvSpPr>
          <p:nvPr/>
        </p:nvSpPr>
        <p:spPr>
          <a:xfrm>
            <a:off x="7391400" y="3829050"/>
            <a:ext cx="2000250" cy="45720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B2B0DA8-F6AB-4F08-A0BC-BDC3F49A59D6}"/>
              </a:ext>
            </a:extLst>
          </p:cNvPr>
          <p:cNvSpPr>
            <a:spLocks noGrp="1"/>
          </p:cNvSpPr>
          <p:nvPr/>
        </p:nvSpPr>
        <p:spPr>
          <a:xfrm>
            <a:off x="7505700" y="3943350"/>
            <a:ext cx="1771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脉搏血氧仪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34A28DD-5085-49E6-8552-D5376164D482}"/>
              </a:ext>
            </a:extLst>
          </p:cNvPr>
          <p:cNvSpPr>
            <a:spLocks noGrp="1"/>
          </p:cNvSpPr>
          <p:nvPr/>
        </p:nvSpPr>
        <p:spPr>
          <a:xfrm>
            <a:off x="7562850" y="4457700"/>
            <a:ext cx="80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SpO2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C41B3A1-EE2F-4FA3-A189-52BE5C6D3946}"/>
              </a:ext>
            </a:extLst>
          </p:cNvPr>
          <p:cNvSpPr>
            <a:spLocks noGrp="1"/>
          </p:cNvSpPr>
          <p:nvPr/>
        </p:nvSpPr>
        <p:spPr>
          <a:xfrm>
            <a:off x="8458200" y="4457700"/>
            <a:ext cx="80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HR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E0C8063-5421-4310-A07B-F841C9BF9AD9}"/>
              </a:ext>
            </a:extLst>
          </p:cNvPr>
          <p:cNvSpPr>
            <a:spLocks noGrp="1"/>
          </p:cNvSpPr>
          <p:nvPr/>
        </p:nvSpPr>
        <p:spPr>
          <a:xfrm>
            <a:off x="7562850" y="4714875"/>
            <a:ext cx="80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A6C7"/>
                </a:solidFill>
                <a:latin typeface="Microsoft YaHei"/>
                <a:ea typeface="Microsoft YaHei"/>
                <a:cs typeface="Microsoft YaHei"/>
              </a:rPr>
              <a:t>97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B43CC0B-9568-44B5-9DC6-B748131F2BAD}"/>
              </a:ext>
            </a:extLst>
          </p:cNvPr>
          <p:cNvSpPr>
            <a:spLocks noGrp="1"/>
          </p:cNvSpPr>
          <p:nvPr/>
        </p:nvSpPr>
        <p:spPr>
          <a:xfrm>
            <a:off x="8458200" y="4714875"/>
            <a:ext cx="80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C7A3"/>
                </a:solidFill>
                <a:latin typeface="Microsoft YaHei"/>
                <a:ea typeface="Microsoft YaHei"/>
                <a:cs typeface="Microsoft YaHei"/>
              </a:rPr>
              <a:t>82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A0F69EA-E117-4E60-A01C-741A9D8807EB}"/>
              </a:ext>
            </a:extLst>
          </p:cNvPr>
          <p:cNvSpPr>
            <a:spLocks noGrp="1"/>
          </p:cNvSpPr>
          <p:nvPr/>
        </p:nvSpPr>
        <p:spPr>
          <a:xfrm>
            <a:off x="7562850" y="5791200"/>
            <a:ext cx="1657350" cy="9525"/>
          </a:xfrm>
          <a:prstGeom prst="rect">
            <a:avLst/>
          </a:prstGeom>
          <a:solidFill>
            <a:srgbClr val="D6E3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F4E176A-A2DF-4BD1-9F61-80F50778A62A}"/>
              </a:ext>
            </a:extLst>
          </p:cNvPr>
          <p:cNvSpPr>
            <a:spLocks noGrp="1"/>
          </p:cNvSpPr>
          <p:nvPr/>
        </p:nvSpPr>
        <p:spPr>
          <a:xfrm rot="-4260141">
            <a:off x="7562850" y="6107430"/>
            <a:ext cx="267960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9A1C479-29F0-4CE7-8597-BF07389DA275}"/>
              </a:ext>
            </a:extLst>
          </p:cNvPr>
          <p:cNvSpPr>
            <a:spLocks noGrp="1"/>
          </p:cNvSpPr>
          <p:nvPr/>
        </p:nvSpPr>
        <p:spPr>
          <a:xfrm rot="3535880">
            <a:off x="7650079" y="5854065"/>
            <a:ext cx="169027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214F243-4917-454F-AD1F-C7EA491909DD}"/>
              </a:ext>
            </a:extLst>
          </p:cNvPr>
          <p:cNvSpPr>
            <a:spLocks noGrp="1"/>
          </p:cNvSpPr>
          <p:nvPr/>
        </p:nvSpPr>
        <p:spPr>
          <a:xfrm rot="-4658545">
            <a:off x="7737308" y="5998845"/>
            <a:ext cx="407588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74A34BF-696D-42AA-A697-B93DE142DCA6}"/>
              </a:ext>
            </a:extLst>
          </p:cNvPr>
          <p:cNvSpPr>
            <a:spLocks noGrp="1"/>
          </p:cNvSpPr>
          <p:nvPr/>
        </p:nvSpPr>
        <p:spPr>
          <a:xfrm rot="4086993">
            <a:off x="7824537" y="5600700"/>
            <a:ext cx="234034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EE8EB4E-5538-4431-9797-79745CC5E61F}"/>
              </a:ext>
            </a:extLst>
          </p:cNvPr>
          <p:cNvSpPr>
            <a:spLocks noGrp="1"/>
          </p:cNvSpPr>
          <p:nvPr/>
        </p:nvSpPr>
        <p:spPr>
          <a:xfrm rot="3855971">
            <a:off x="7911766" y="5817870"/>
            <a:ext cx="200900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2AF20DC-FC7C-407F-A0B0-2541837199B6}"/>
              </a:ext>
            </a:extLst>
          </p:cNvPr>
          <p:cNvSpPr>
            <a:spLocks noGrp="1"/>
          </p:cNvSpPr>
          <p:nvPr/>
        </p:nvSpPr>
        <p:spPr>
          <a:xfrm rot="-4500560">
            <a:off x="7998995" y="5998845"/>
            <a:ext cx="337232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60ED8EE-F630-486E-8FF2-AE82A10B1601}"/>
              </a:ext>
            </a:extLst>
          </p:cNvPr>
          <p:cNvSpPr>
            <a:spLocks noGrp="1"/>
          </p:cNvSpPr>
          <p:nvPr/>
        </p:nvSpPr>
        <p:spPr>
          <a:xfrm rot="4086993">
            <a:off x="8086224" y="5673090"/>
            <a:ext cx="234034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F00DE26-1FE8-4A0E-B1CA-EFF962224490}"/>
              </a:ext>
            </a:extLst>
          </p:cNvPr>
          <p:cNvSpPr>
            <a:spLocks noGrp="1"/>
          </p:cNvSpPr>
          <p:nvPr/>
        </p:nvSpPr>
        <p:spPr>
          <a:xfrm rot="-4460734">
            <a:off x="8173453" y="5890260"/>
            <a:ext cx="323268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FB8AC62-04EA-4CF9-AB93-752B772FF254}"/>
              </a:ext>
            </a:extLst>
          </p:cNvPr>
          <p:cNvSpPr>
            <a:spLocks noGrp="1"/>
          </p:cNvSpPr>
          <p:nvPr/>
        </p:nvSpPr>
        <p:spPr>
          <a:xfrm rot="4554465">
            <a:off x="8260682" y="5578983"/>
            <a:ext cx="358254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90A4324-D482-40EC-9C62-E3796E7EF75D}"/>
              </a:ext>
            </a:extLst>
          </p:cNvPr>
          <p:cNvSpPr>
            <a:spLocks noGrp="1"/>
          </p:cNvSpPr>
          <p:nvPr/>
        </p:nvSpPr>
        <p:spPr>
          <a:xfrm rot="-4161943">
            <a:off x="8347911" y="5926455"/>
            <a:ext cx="247527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6C0B1F9-8C8A-4EEF-B755-BBB73CC5A569}"/>
              </a:ext>
            </a:extLst>
          </p:cNvPr>
          <p:cNvSpPr>
            <a:spLocks noGrp="1"/>
          </p:cNvSpPr>
          <p:nvPr/>
        </p:nvSpPr>
        <p:spPr>
          <a:xfrm rot="3535880">
            <a:off x="8435139" y="5694807"/>
            <a:ext cx="169027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2B349C4-CAA4-48D3-9014-EAAFFCB8EE8E}"/>
              </a:ext>
            </a:extLst>
          </p:cNvPr>
          <p:cNvSpPr>
            <a:spLocks noGrp="1"/>
          </p:cNvSpPr>
          <p:nvPr/>
        </p:nvSpPr>
        <p:spPr>
          <a:xfrm rot="-3908061">
            <a:off x="8522368" y="5839587"/>
            <a:ext cx="207445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4401B8C-05A5-49E9-BC24-82579CB3DB4F}"/>
              </a:ext>
            </a:extLst>
          </p:cNvPr>
          <p:cNvSpPr>
            <a:spLocks noGrp="1"/>
          </p:cNvSpPr>
          <p:nvPr/>
        </p:nvSpPr>
        <p:spPr>
          <a:xfrm rot="4394115">
            <a:off x="8609597" y="5651373"/>
            <a:ext cx="302413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7AE4373-2FE2-42D4-A7BC-86A0FAEC0704}"/>
              </a:ext>
            </a:extLst>
          </p:cNvPr>
          <p:cNvSpPr>
            <a:spLocks noGrp="1"/>
          </p:cNvSpPr>
          <p:nvPr/>
        </p:nvSpPr>
        <p:spPr>
          <a:xfrm rot="-4086993">
            <a:off x="8696826" y="5940933"/>
            <a:ext cx="234034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2E6B450-97E2-4BDE-82D1-597AC786394C}"/>
              </a:ext>
            </a:extLst>
          </p:cNvPr>
          <p:cNvSpPr>
            <a:spLocks noGrp="1"/>
          </p:cNvSpPr>
          <p:nvPr/>
        </p:nvSpPr>
        <p:spPr>
          <a:xfrm rot="3535880">
            <a:off x="8784055" y="5723763"/>
            <a:ext cx="169027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26EAC95-C902-4915-B076-EFCFED223C3E}"/>
              </a:ext>
            </a:extLst>
          </p:cNvPr>
          <p:cNvSpPr>
            <a:spLocks noGrp="1"/>
          </p:cNvSpPr>
          <p:nvPr/>
        </p:nvSpPr>
        <p:spPr>
          <a:xfrm rot="-4229117">
            <a:off x="8871284" y="5868543"/>
            <a:ext cx="261126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3EE043B-F85C-41F7-B585-7DF09ADE7551}"/>
              </a:ext>
            </a:extLst>
          </p:cNvPr>
          <p:cNvSpPr>
            <a:spLocks noGrp="1"/>
          </p:cNvSpPr>
          <p:nvPr/>
        </p:nvSpPr>
        <p:spPr>
          <a:xfrm rot="4519260">
            <a:off x="8958513" y="5622417"/>
            <a:ext cx="344229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E05E33A-C2FD-412F-9807-912E52A58D02}"/>
              </a:ext>
            </a:extLst>
          </p:cNvPr>
          <p:cNvSpPr>
            <a:spLocks noGrp="1"/>
          </p:cNvSpPr>
          <p:nvPr/>
        </p:nvSpPr>
        <p:spPr>
          <a:xfrm rot="-4344366">
            <a:off x="9045742" y="5955411"/>
            <a:ext cx="288581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58B5E5E-79CC-4254-92E3-4507D3BA2A2D}"/>
              </a:ext>
            </a:extLst>
          </p:cNvPr>
          <p:cNvSpPr>
            <a:spLocks noGrp="1"/>
          </p:cNvSpPr>
          <p:nvPr/>
        </p:nvSpPr>
        <p:spPr>
          <a:xfrm rot="3535880">
            <a:off x="9132971" y="5680329"/>
            <a:ext cx="169027" cy="2286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CA93D74-39DD-4E1F-8E61-EC87C2EAD02D}"/>
              </a:ext>
            </a:extLst>
          </p:cNvPr>
          <p:cNvSpPr>
            <a:spLocks noGrp="1"/>
          </p:cNvSpPr>
          <p:nvPr/>
        </p:nvSpPr>
        <p:spPr>
          <a:xfrm>
            <a:off x="9734550" y="4057650"/>
            <a:ext cx="1524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核心观念：小程序不计算心率，只负责连接、解析、显示。</a:t>
            </a:r>
          </a:p>
        </p:txBody>
      </p:sp>
    </p:spTree>
    <p:extLst>
      <p:ext uri="{BB962C8B-B14F-4D97-AF65-F5344CB8AC3E}">
        <p14:creationId xmlns:p14="http://schemas.microsoft.com/office/powerpoint/2010/main" val="791699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D64EF60-B8AA-4640-B8AC-110F4AC2DE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D14CC58-8200-4F38-A182-20A1144CCB91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67BAD782-8FF7-4C2F-AE45-8D920E5817FD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CLASSROOM SCALE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E29625-2945-44BC-B7AC-4727E98E3A3E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66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14 个小组同时运行时，要分清“账号归属”和“蓝牙隔离”。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201F82-D813-4CA3-9DA1-96F6E2370829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65F3B8-E27A-4973-9000-E7C15089C72C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536B24-277E-4E85-A81A-84052F219EE6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FBD4DD-E52F-43AD-83CE-A4E16AB06083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31432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B3E13A-0E18-48F7-9804-1AB51D08B805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57150" cy="13906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0142D4-E382-4D6A-AEC2-D30D214D278B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AppID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1CBB59-8D1D-4ECE-B0C6-CC46D14F9898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8003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决定小程序属于谁。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每组注册自己的小程序或使用测试号。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6E4023-3E56-4576-9147-AE4602484E6A}"/>
              </a:ext>
            </a:extLst>
          </p:cNvPr>
          <p:cNvSpPr>
            <a:spLocks noGrp="1"/>
          </p:cNvSpPr>
          <p:nvPr/>
        </p:nvSpPr>
        <p:spPr>
          <a:xfrm>
            <a:off x="4514850" y="2114550"/>
            <a:ext cx="31432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7D045C-6C71-4DD5-9D68-FF43E5BDEBB0}"/>
              </a:ext>
            </a:extLst>
          </p:cNvPr>
          <p:cNvSpPr>
            <a:spLocks noGrp="1"/>
          </p:cNvSpPr>
          <p:nvPr/>
        </p:nvSpPr>
        <p:spPr>
          <a:xfrm>
            <a:off x="4514850" y="2114550"/>
            <a:ext cx="57150" cy="13906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D16821-D650-4855-AB87-77F04CBC9330}"/>
              </a:ext>
            </a:extLst>
          </p:cNvPr>
          <p:cNvSpPr>
            <a:spLocks noGrp="1"/>
          </p:cNvSpPr>
          <p:nvPr/>
        </p:nvSpPr>
        <p:spPr>
          <a:xfrm>
            <a:off x="4686300" y="226695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BLE name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FD6595-8B1C-4238-9EFA-852CB7F8BCC6}"/>
              </a:ext>
            </a:extLst>
          </p:cNvPr>
          <p:cNvSpPr>
            <a:spLocks noGrp="1"/>
          </p:cNvSpPr>
          <p:nvPr/>
        </p:nvSpPr>
        <p:spPr>
          <a:xfrm>
            <a:off x="4686300" y="2571750"/>
            <a:ext cx="28003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决定人眼和扫描列表里看到哪台设备。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例如 ESP32-PulseOX-G03。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1C5E83-0751-46B6-AC98-5185A0973CAD}"/>
              </a:ext>
            </a:extLst>
          </p:cNvPr>
          <p:cNvSpPr>
            <a:spLocks noGrp="1"/>
          </p:cNvSpPr>
          <p:nvPr/>
        </p:nvSpPr>
        <p:spPr>
          <a:xfrm>
            <a:off x="8343900" y="2114550"/>
            <a:ext cx="31432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3D04B1-A281-4255-92C7-A345A45126D3}"/>
              </a:ext>
            </a:extLst>
          </p:cNvPr>
          <p:cNvSpPr>
            <a:spLocks noGrp="1"/>
          </p:cNvSpPr>
          <p:nvPr/>
        </p:nvSpPr>
        <p:spPr>
          <a:xfrm>
            <a:off x="8343900" y="2114550"/>
            <a:ext cx="57150" cy="13906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140363-30A7-4299-A36F-EAF7B688DB39}"/>
              </a:ext>
            </a:extLst>
          </p:cNvPr>
          <p:cNvSpPr>
            <a:spLocks noGrp="1"/>
          </p:cNvSpPr>
          <p:nvPr/>
        </p:nvSpPr>
        <p:spPr>
          <a:xfrm>
            <a:off x="8515350" y="226695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BLE UUIDs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B8F3813-513C-4922-9173-0E3CCB25DA8B}"/>
              </a:ext>
            </a:extLst>
          </p:cNvPr>
          <p:cNvSpPr>
            <a:spLocks noGrp="1"/>
          </p:cNvSpPr>
          <p:nvPr/>
        </p:nvSpPr>
        <p:spPr>
          <a:xfrm>
            <a:off x="8515350" y="2571750"/>
            <a:ext cx="28003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决定程序精确连接哪组服务和特征值。</a:t>
            </a:r>
          </a:p>
          <a:p>
            <a:pPr algn="l">
              <a:def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Service / Wave / Metrics 都要唯一。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DCDB426-8522-42D9-8913-05CF226AA25F}"/>
              </a:ext>
            </a:extLst>
          </p:cNvPr>
          <p:cNvSpPr>
            <a:spLocks noGrp="1"/>
          </p:cNvSpPr>
          <p:nvPr/>
        </p:nvSpPr>
        <p:spPr>
          <a:xfrm>
            <a:off x="838200" y="4191000"/>
            <a:ext cx="104203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0F555B-BA8B-48F9-B9D6-74C2E2707084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G03 示例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F1BA17A-2ED0-49A0-AA5E-EBFB1F2A4293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914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B7C8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6B7C85"/>
                </a:solidFill>
                <a:latin typeface="Consolas"/>
                <a:ea typeface="Consolas"/>
                <a:cs typeface="Consolas"/>
              </a:rPr>
              <a:t>DEVICE_NAME_PREFIX = ESP32-PulseOX-G03    SERVICE_UUID = 7D6E0301-...    WAVE = 7D6E0302-...    METRICS = 7D6E0303-...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B47DA0-D41C-4B88-AA3D-F16200399443}"/>
              </a:ext>
            </a:extLst>
          </p:cNvPr>
          <p:cNvSpPr>
            <a:spLocks noGrp="1"/>
          </p:cNvSpPr>
          <p:nvPr/>
        </p:nvSpPr>
        <p:spPr>
          <a:xfrm>
            <a:off x="4229100" y="5505450"/>
            <a:ext cx="3733800" cy="304800"/>
          </a:xfrm>
          <a:prstGeom prst="rect">
            <a:avLst/>
          </a:prstGeom>
          <a:solidFill>
            <a:srgbClr val="FFF3F2"/>
          </a:solidFill>
          <a:ln w="13335">
            <a:solidFill>
              <a:srgbClr val="D951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6A848C-DB99-4388-BE8D-8E03BA2A2A97}"/>
              </a:ext>
            </a:extLst>
          </p:cNvPr>
          <p:cNvSpPr>
            <a:spLocks noGrp="1"/>
          </p:cNvSpPr>
          <p:nvPr/>
        </p:nvSpPr>
        <p:spPr>
          <a:xfrm>
            <a:off x="4324350" y="5543550"/>
            <a:ext cx="3543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514E"/>
                </a:solidFill>
                <a:latin typeface="Microsoft YaHei"/>
                <a:ea typeface="Microsoft YaHei"/>
                <a:cs typeface="Microsoft YaHei"/>
              </a:rPr>
              <a:t>Arduino 端和小程序端四个常量必须一一对应</a:t>
            </a:r>
          </a:p>
        </p:txBody>
      </p:sp>
    </p:spTree>
    <p:extLst>
      <p:ext uri="{BB962C8B-B14F-4D97-AF65-F5344CB8AC3E}">
        <p14:creationId xmlns:p14="http://schemas.microsoft.com/office/powerpoint/2010/main" val="764743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55245AAF-6C1B-45BC-B143-800ABE5723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633B253-9AB5-4012-96A0-F9E5CFAEDFC8}"/>
              </a:ext>
            </a:extLst>
          </p:cNvPr>
          <p:cNvSpPr>
            <a:spLocks noGrp="1"/>
          </p:cNvSpPr>
          <p:nvPr/>
        </p:nvSpPr>
        <p:spPr>
          <a:xfrm>
            <a:off x="419100" y="323850"/>
            <a:ext cx="95250" cy="19050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F632E73B-38E8-4785-86C6-F5F614837AF5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DEBUGGING MAP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407ED3-CF69-4EB3-9626-B5D26F9EA3EF}"/>
              </a:ext>
            </a:extLst>
          </p:cNvPr>
          <p:cNvSpPr>
            <a:spLocks noGrp="1"/>
          </p:cNvSpPr>
          <p:nvPr/>
        </p:nvSpPr>
        <p:spPr>
          <a:xfrm>
            <a:off x="419100" y="685800"/>
            <a:ext cx="1066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调试时不要猜，按通信链路逐层定位。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ACE1B7-1BC6-4D7A-911D-60E21934FB96}"/>
              </a:ext>
            </a:extLst>
          </p:cNvPr>
          <p:cNvSpPr>
            <a:spLocks noGrp="1"/>
          </p:cNvSpPr>
          <p:nvPr/>
        </p:nvSpPr>
        <p:spPr>
          <a:xfrm>
            <a:off x="419100" y="6438900"/>
            <a:ext cx="8572500" cy="9525"/>
          </a:xfrm>
          <a:prstGeom prst="rect">
            <a:avLst/>
          </a:prstGeom>
          <a:solidFill>
            <a:srgbClr val="D6DE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36EA18-F61E-4858-A780-13A81D47113D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Source: Arduino / WeChat Mini Program source code; WeChat Mini Program BLE docs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042240-7B3F-4E19-A6AB-501A62A0DD7A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C8A9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5C4664-73C7-4E84-8891-FE1BCF6E8ED1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686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62924A-1F29-493F-A137-FD554A276AE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57150" cy="7810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43F426-364F-491B-8B28-A975028076DE}"/>
              </a:ext>
            </a:extLst>
          </p:cNvPr>
          <p:cNvSpPr>
            <a:spLocks noGrp="1"/>
          </p:cNvSpPr>
          <p:nvPr/>
        </p:nvSpPr>
        <p:spPr>
          <a:xfrm>
            <a:off x="895350" y="2152650"/>
            <a:ext cx="4343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1. ESP32 广播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C4BA1B-572D-4E77-A10C-FC703931F825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434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串口监视器看到 advertising；nRF Connect 能扫到设备名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F82DB0-C840-4BC0-9A82-43AA7815648A}"/>
              </a:ext>
            </a:extLst>
          </p:cNvPr>
          <p:cNvSpPr>
            <a:spLocks noGrp="1"/>
          </p:cNvSpPr>
          <p:nvPr/>
        </p:nvSpPr>
        <p:spPr>
          <a:xfrm>
            <a:off x="5981700" y="2000250"/>
            <a:ext cx="4686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CC929F-7A7E-4156-B167-7696D367C3F7}"/>
              </a:ext>
            </a:extLst>
          </p:cNvPr>
          <p:cNvSpPr>
            <a:spLocks noGrp="1"/>
          </p:cNvSpPr>
          <p:nvPr/>
        </p:nvSpPr>
        <p:spPr>
          <a:xfrm>
            <a:off x="5981700" y="2000250"/>
            <a:ext cx="57150" cy="7810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D6CC70-4699-42BB-B6D7-ABB077480AD5}"/>
              </a:ext>
            </a:extLst>
          </p:cNvPr>
          <p:cNvSpPr>
            <a:spLocks noGrp="1"/>
          </p:cNvSpPr>
          <p:nvPr/>
        </p:nvSpPr>
        <p:spPr>
          <a:xfrm>
            <a:off x="6153150" y="2152650"/>
            <a:ext cx="4343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2. 手机权限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B1F39E8-7222-48D4-B837-14A8F28753B7}"/>
              </a:ext>
            </a:extLst>
          </p:cNvPr>
          <p:cNvSpPr>
            <a:spLocks noGrp="1"/>
          </p:cNvSpPr>
          <p:nvPr/>
        </p:nvSpPr>
        <p:spPr>
          <a:xfrm>
            <a:off x="6153150" y="2457450"/>
            <a:ext cx="434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手机蓝牙打开；Android 给微信定位/附近设备权限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191E9D5-B459-466D-8651-4D97D9E80C90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4686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D45CB4-7CAC-447D-9C11-3117CC52D22C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571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0C338BC-1F63-4FBE-8068-2F5C76C4019D}"/>
              </a:ext>
            </a:extLst>
          </p:cNvPr>
          <p:cNvSpPr>
            <a:spLocks noGrp="1"/>
          </p:cNvSpPr>
          <p:nvPr/>
        </p:nvSpPr>
        <p:spPr>
          <a:xfrm>
            <a:off x="895350" y="3257550"/>
            <a:ext cx="4343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3. Service 匹配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C91509-43AC-4B41-9AF6-C8636A22D42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434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小程序能连接，但若提示未找到服务，检查 SERVICE_UUID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F08102-342F-4CD5-97EA-48B422E14B7C}"/>
              </a:ext>
            </a:extLst>
          </p:cNvPr>
          <p:cNvSpPr>
            <a:spLocks noGrp="1"/>
          </p:cNvSpPr>
          <p:nvPr/>
        </p:nvSpPr>
        <p:spPr>
          <a:xfrm>
            <a:off x="5981700" y="3105150"/>
            <a:ext cx="4686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E27B7F2-46D9-4796-8B0A-8E5DB7B3D6E1}"/>
              </a:ext>
            </a:extLst>
          </p:cNvPr>
          <p:cNvSpPr>
            <a:spLocks noGrp="1"/>
          </p:cNvSpPr>
          <p:nvPr/>
        </p:nvSpPr>
        <p:spPr>
          <a:xfrm>
            <a:off x="5981700" y="3105150"/>
            <a:ext cx="57150" cy="781050"/>
          </a:xfrm>
          <a:prstGeom prst="rect">
            <a:avLst/>
          </a:prstGeom>
          <a:solidFill>
            <a:srgbClr val="22A6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A945EF4-9999-4959-B64C-A38E5E666325}"/>
              </a:ext>
            </a:extLst>
          </p:cNvPr>
          <p:cNvSpPr>
            <a:spLocks noGrp="1"/>
          </p:cNvSpPr>
          <p:nvPr/>
        </p:nvSpPr>
        <p:spPr>
          <a:xfrm>
            <a:off x="6153150" y="3257550"/>
            <a:ext cx="4343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4. notify 订阅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EE85ED-C512-493C-9413-F17D765134C6}"/>
              </a:ext>
            </a:extLst>
          </p:cNvPr>
          <p:cNvSpPr>
            <a:spLocks noGrp="1"/>
          </p:cNvSpPr>
          <p:nvPr/>
        </p:nvSpPr>
        <p:spPr>
          <a:xfrm>
            <a:off x="6153150" y="3562350"/>
            <a:ext cx="434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能连接但没数据，检查 Characteristic UUID 和 notify 属性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38CCE6-CFC1-42DB-A2D8-2988C9B16A49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4686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C00379B-24AD-4AED-B075-ED4931346602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57150" cy="781050"/>
          </a:xfrm>
          <a:prstGeom prst="rect">
            <a:avLst/>
          </a:prstGeom>
          <a:solidFill>
            <a:srgbClr val="18C7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437E35-AD90-470F-AF46-AB2926C07811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4343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5. 数据解析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4DE48A-1FA4-4807-93A5-DA3D2AF33405}"/>
              </a:ext>
            </a:extLst>
          </p:cNvPr>
          <p:cNvSpPr>
            <a:spLocks noGrp="1"/>
          </p:cNvSpPr>
          <p:nvPr/>
        </p:nvSpPr>
        <p:spPr>
          <a:xfrm>
            <a:off x="895350" y="4667250"/>
            <a:ext cx="434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有包但 UI 不变，检查 type 字节、长度和小端序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D2FEA96-C35A-4B97-88E7-5E13FCFFD43D}"/>
              </a:ext>
            </a:extLst>
          </p:cNvPr>
          <p:cNvSpPr>
            <a:spLocks noGrp="1"/>
          </p:cNvSpPr>
          <p:nvPr/>
        </p:nvSpPr>
        <p:spPr>
          <a:xfrm>
            <a:off x="5981700" y="4210050"/>
            <a:ext cx="4686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5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5FE5453-BD0E-4BD1-9B4A-875E7A67C00F}"/>
              </a:ext>
            </a:extLst>
          </p:cNvPr>
          <p:cNvSpPr>
            <a:spLocks noGrp="1"/>
          </p:cNvSpPr>
          <p:nvPr/>
        </p:nvSpPr>
        <p:spPr>
          <a:xfrm>
            <a:off x="5981700" y="4210050"/>
            <a:ext cx="57150" cy="781050"/>
          </a:xfrm>
          <a:prstGeom prst="rect">
            <a:avLst/>
          </a:prstGeom>
          <a:solidFill>
            <a:srgbClr val="F2A2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912B61C-99FB-4960-8AF9-D68EB498519B}"/>
              </a:ext>
            </a:extLst>
          </p:cNvPr>
          <p:cNvSpPr>
            <a:spLocks noGrp="1"/>
          </p:cNvSpPr>
          <p:nvPr/>
        </p:nvSpPr>
        <p:spPr>
          <a:xfrm>
            <a:off x="6153150" y="4362450"/>
            <a:ext cx="4343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13B"/>
                </a:solidFill>
                <a:latin typeface="Microsoft YaHei"/>
                <a:ea typeface="Microsoft YaHei"/>
                <a:cs typeface="Microsoft YaHei"/>
              </a:rPr>
              <a:t>6. 算法输入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A34EED5-650E-42FE-945D-E5C017C7BF42}"/>
              </a:ext>
            </a:extLst>
          </p:cNvPr>
          <p:cNvSpPr>
            <a:spLocks noGrp="1"/>
          </p:cNvSpPr>
          <p:nvPr/>
        </p:nvSpPr>
        <p:spPr>
          <a:xfrm>
            <a:off x="6153150" y="4667250"/>
            <a:ext cx="434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rPr>
              <a:t>有波形但无 BPM/SpO2，检查手指放置、阈值、平均样本数</a:t>
            </a:r>
          </a:p>
        </p:txBody>
      </p:sp>
    </p:spTree>
    <p:extLst>
      <p:ext uri="{BB962C8B-B14F-4D97-AF65-F5344CB8AC3E}">
        <p14:creationId xmlns:p14="http://schemas.microsoft.com/office/powerpoint/2010/main" val="15295005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1274</Words>
  <Application>Microsoft Office PowerPoint</Application>
  <DocSecurity>0</DocSecurity>
  <PresentationFormat>宽屏</PresentationFormat>
  <Paragraphs>312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Chengyu Huo</cp:lastModifiedBy>
  <cp:revision>1</cp:revision>
  <dcterms:created xsi:type="dcterms:W3CDTF">2026-05-29T04:55:32Z</dcterms:created>
  <dcterms:modified xsi:type="dcterms:W3CDTF">2026-05-29T05:05:31Z</dcterms:modified>
</cp:coreProperties>
</file>