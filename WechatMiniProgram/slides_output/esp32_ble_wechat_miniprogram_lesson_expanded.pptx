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20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</p:sldIdLst>
  <p:sldSz cx="12192000" cy="6858000"/>
  <p:notesSz cx="6858000" cy="9144000"/>
  <p:defaultTextStyle>
    <a:defPPr>
      <a:defRPr lang="en-US"/>
    </a:defPPr>
    <a:lvl1pPr marL="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11"/>
    <p:restoredTop sz="94658"/>
  </p:normalViewPr>
  <p:slideViewPr>
    <p:cSldViewPr snapToGrid="0">
      <p:cViewPr varScale="1">
        <p:scale>
          <a:sx n="152" d="100"/>
          <a:sy n="152" d="100"/>
        </p:scale>
        <p:origin x="604" y="10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presProps" Target="pres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notesMaster" Target="notesMasters/notesMaster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"/>
          <p:cNvSpPr>
            <a:spLocks noGrp="1"/>
          </p:cNvSpPr>
          <p:nvPr>
            <p:ph type="hdr" sz="quarter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3" name="Date Placeholder"/>
          <p:cNvSpPr>
            <a:spLocks noGrp="1"/>
          </p:cNvSpPr>
          <p:nvPr>
            <p:ph type="dt" sz="quarter" idx="1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4" name="Slide Image Placeholder"/>
          <p:cNvSpPr>
            <a:spLocks noGrp="1" noRot="1" noChangeAspect="1"/>
          </p:cNvSpPr>
          <p:nvPr>
            <p:ph type="sldImg" idx="2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5" name="Notes Placeholder"/>
          <p:cNvSpPr>
            <a:spLocks noGrp="1"/>
          </p:cNvSpPr>
          <p:nvPr>
            <p:ph type="body" sz="quarter" idx="3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6" name="Footer Placeholder"/>
          <p:cNvSpPr>
            <a:spLocks noGrp="1"/>
          </p:cNvSpPr>
          <p:nvPr>
            <p:ph type="ftr" sz="quarter" idx="4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7" name="Slide Number Placeholder"/>
          <p:cNvSpPr>
            <a:spLocks noGrp="1"/>
          </p:cNvSpPr>
          <p:nvPr>
            <p:ph type="sldNum" sz="quarter" idx="5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/>
    </a:lvl1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Master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txStyles>
    <p:titleStyle>
      <a:lvl1pPr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矩形 53">
            <a:extLst>
              <a:ext uri="{FF2B5EF4-FFF2-40B4-BE49-F238E27FC236}">
                <a16:creationId xmlns:a16="http://schemas.microsoft.com/office/drawing/2014/main" id="{17FA28F6-CDFA-4DFD-86AA-F21A7AE3BD76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6F3EA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" name="矩形 1">
            <a:extLst>
              <a:ext uri="{FF2B5EF4-FFF2-40B4-BE49-F238E27FC236}">
                <a16:creationId xmlns:a16="http://schemas.microsoft.com/office/drawing/2014/main" id="{DE3A44A5-624F-478D-AFAB-0CF0E2E32879}"/>
              </a:ext>
            </a:extLst>
          </p:cNvPr>
          <p:cNvSpPr>
            <a:spLocks noGrp="1"/>
          </p:cNvSpPr>
          <p:nvPr/>
        </p:nvSpPr>
        <p:spPr>
          <a:xfrm>
            <a:off x="419100" y="323850"/>
            <a:ext cx="95250" cy="190500"/>
          </a:xfrm>
          <a:prstGeom prst="rect">
            <a:avLst/>
          </a:prstGeom>
          <a:solidFill>
            <a:srgbClr val="22A6C7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6DC27D0D-F219-4578-A99D-B9FA7E771723}"/>
              </a:ext>
            </a:extLst>
          </p:cNvPr>
          <p:cNvSpPr>
            <a:spLocks noGrp="1"/>
          </p:cNvSpPr>
          <p:nvPr/>
        </p:nvSpPr>
        <p:spPr>
          <a:xfrm>
            <a:off x="590550" y="266700"/>
            <a:ext cx="4095750" cy="3238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ctr"/>
          <a:lstStyle/>
          <a:p>
            <a:pPr algn="l">
              <a:defRPr sz="1125" b="1">
                <a:solidFill>
                  <a:srgbClr val="687A8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1">
                <a:solidFill>
                  <a:srgbClr val="687A84"/>
                </a:solidFill>
                <a:latin typeface="Microsoft YaHei"/>
                <a:ea typeface="Microsoft YaHei"/>
                <a:cs typeface="Microsoft YaHei"/>
              </a:rPr>
              <a:t>LECTURE MAP</a:t>
            </a:r>
          </a:p>
        </p:txBody>
      </p:sp>
      <p:sp>
        <p:nvSpPr>
          <p:cNvPr id="4" name="矩形 3">
            <a:extLst>
              <a:ext uri="{FF2B5EF4-FFF2-40B4-BE49-F238E27FC236}">
                <a16:creationId xmlns:a16="http://schemas.microsoft.com/office/drawing/2014/main" id="{E75CBFB8-9B7A-4085-8F74-AB8EBFB7EB38}"/>
              </a:ext>
            </a:extLst>
          </p:cNvPr>
          <p:cNvSpPr>
            <a:spLocks noGrp="1"/>
          </p:cNvSpPr>
          <p:nvPr/>
        </p:nvSpPr>
        <p:spPr>
          <a:xfrm>
            <a:off x="1312528" y="681038"/>
            <a:ext cx="10763250" cy="7810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2400" b="1">
                <a:solidFill>
                  <a:srgbClr val="17313B"/>
                </a:solidFill>
                <a:latin typeface="Microsoft YaHei"/>
                <a:ea typeface="Microsoft YaHei"/>
                <a:cs typeface="Microsoft YaHei"/>
              </a:defRPr>
            </a:pPr>
            <a:r>
              <a:rPr lang="zh-CN" altLang="en-US" sz="2400" b="1" dirty="0">
                <a:solidFill>
                  <a:srgbClr val="17313B"/>
                </a:solidFill>
                <a:latin typeface="Microsoft YaHei"/>
                <a:ea typeface="Microsoft YaHei"/>
                <a:cs typeface="Microsoft YaHei"/>
              </a:rPr>
              <a:t>基于蓝牙通信和微信小程序实现心率、血氧和脉搏波的手机端显示</a:t>
            </a:r>
            <a:endParaRPr sz="2400" b="1" dirty="0">
              <a:solidFill>
                <a:srgbClr val="17313B"/>
              </a:solidFill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6" name="矩形 5">
            <a:extLst>
              <a:ext uri="{FF2B5EF4-FFF2-40B4-BE49-F238E27FC236}">
                <a16:creationId xmlns:a16="http://schemas.microsoft.com/office/drawing/2014/main" id="{B5886A63-2BCA-4376-B6E4-5526CD0EEBDA}"/>
              </a:ext>
            </a:extLst>
          </p:cNvPr>
          <p:cNvSpPr>
            <a:spLocks noGrp="1"/>
          </p:cNvSpPr>
          <p:nvPr/>
        </p:nvSpPr>
        <p:spPr>
          <a:xfrm>
            <a:off x="419100" y="6438900"/>
            <a:ext cx="8572500" cy="9525"/>
          </a:xfrm>
          <a:prstGeom prst="rect">
            <a:avLst/>
          </a:prstGeom>
          <a:solidFill>
            <a:srgbClr val="D6DEE1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D47AB896-E635-4DC4-A452-097B6C9CD169}"/>
              </a:ext>
            </a:extLst>
          </p:cNvPr>
          <p:cNvSpPr>
            <a:spLocks noGrp="1"/>
          </p:cNvSpPr>
          <p:nvPr/>
        </p:nvSpPr>
        <p:spPr>
          <a:xfrm>
            <a:off x="11334750" y="6496050"/>
            <a:ext cx="419100" cy="2095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r">
              <a:defRPr sz="825" b="0">
                <a:solidFill>
                  <a:srgbClr val="7C8A9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825" b="0">
                <a:solidFill>
                  <a:srgbClr val="7C8A90"/>
                </a:solidFill>
                <a:latin typeface="Microsoft YaHei"/>
                <a:ea typeface="Microsoft YaHei"/>
                <a:cs typeface="Microsoft YaHei"/>
              </a:rPr>
              <a:t>01</a:t>
            </a:r>
          </a:p>
        </p:txBody>
      </p:sp>
      <p:sp>
        <p:nvSpPr>
          <p:cNvPr id="16" name="矩形 15">
            <a:extLst>
              <a:ext uri="{FF2B5EF4-FFF2-40B4-BE49-F238E27FC236}">
                <a16:creationId xmlns:a16="http://schemas.microsoft.com/office/drawing/2014/main" id="{9365270B-97A7-42A2-808E-4DF5DE32A21A}"/>
              </a:ext>
            </a:extLst>
          </p:cNvPr>
          <p:cNvSpPr>
            <a:spLocks noGrp="1"/>
          </p:cNvSpPr>
          <p:nvPr/>
        </p:nvSpPr>
        <p:spPr>
          <a:xfrm>
            <a:off x="9048750" y="1790700"/>
            <a:ext cx="2095500" cy="3333750"/>
          </a:xfrm>
          <a:prstGeom prst="rect">
            <a:avLst/>
          </a:prstGeom>
          <a:solidFill>
            <a:srgbClr val="101B21"/>
          </a:solidFill>
          <a:ln w="9525">
            <a:solidFill>
              <a:srgbClr val="101B21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7" name="矩形 16">
            <a:extLst>
              <a:ext uri="{FF2B5EF4-FFF2-40B4-BE49-F238E27FC236}">
                <a16:creationId xmlns:a16="http://schemas.microsoft.com/office/drawing/2014/main" id="{4ED2948C-41A8-4873-833E-940464E3D3C4}"/>
              </a:ext>
            </a:extLst>
          </p:cNvPr>
          <p:cNvSpPr>
            <a:spLocks noGrp="1"/>
          </p:cNvSpPr>
          <p:nvPr/>
        </p:nvSpPr>
        <p:spPr>
          <a:xfrm>
            <a:off x="9144000" y="1981200"/>
            <a:ext cx="1905000" cy="2952750"/>
          </a:xfrm>
          <a:prstGeom prst="rect">
            <a:avLst/>
          </a:prstGeom>
          <a:solidFill>
            <a:srgbClr val="F7FBFC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8" name="矩形 17">
            <a:extLst>
              <a:ext uri="{FF2B5EF4-FFF2-40B4-BE49-F238E27FC236}">
                <a16:creationId xmlns:a16="http://schemas.microsoft.com/office/drawing/2014/main" id="{1DB7AE2A-6CE4-4342-AAA2-ED29925BEE6A}"/>
              </a:ext>
            </a:extLst>
          </p:cNvPr>
          <p:cNvSpPr>
            <a:spLocks noGrp="1"/>
          </p:cNvSpPr>
          <p:nvPr/>
        </p:nvSpPr>
        <p:spPr>
          <a:xfrm>
            <a:off x="9144000" y="1981200"/>
            <a:ext cx="1905000" cy="457200"/>
          </a:xfrm>
          <a:prstGeom prst="rect">
            <a:avLst/>
          </a:prstGeom>
          <a:solidFill>
            <a:srgbClr val="18C7A3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9" name="矩形 18">
            <a:extLst>
              <a:ext uri="{FF2B5EF4-FFF2-40B4-BE49-F238E27FC236}">
                <a16:creationId xmlns:a16="http://schemas.microsoft.com/office/drawing/2014/main" id="{4B7CE5C8-A32B-45AF-8C04-00BABBA1FA0C}"/>
              </a:ext>
            </a:extLst>
          </p:cNvPr>
          <p:cNvSpPr>
            <a:spLocks noGrp="1"/>
          </p:cNvSpPr>
          <p:nvPr/>
        </p:nvSpPr>
        <p:spPr>
          <a:xfrm>
            <a:off x="9258300" y="2095500"/>
            <a:ext cx="1676400" cy="2095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ctr">
              <a:defRPr sz="97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脉搏血氧仪</a:t>
            </a:r>
          </a:p>
        </p:txBody>
      </p:sp>
      <p:sp>
        <p:nvSpPr>
          <p:cNvPr id="20" name="矩形 19">
            <a:extLst>
              <a:ext uri="{FF2B5EF4-FFF2-40B4-BE49-F238E27FC236}">
                <a16:creationId xmlns:a16="http://schemas.microsoft.com/office/drawing/2014/main" id="{9D27E9D4-CF76-4715-8BF5-F31F79B624AD}"/>
              </a:ext>
            </a:extLst>
          </p:cNvPr>
          <p:cNvSpPr>
            <a:spLocks noGrp="1"/>
          </p:cNvSpPr>
          <p:nvPr/>
        </p:nvSpPr>
        <p:spPr>
          <a:xfrm>
            <a:off x="9315450" y="2609850"/>
            <a:ext cx="800100" cy="2476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ctr">
              <a:defRPr sz="900" b="0">
                <a:solidFill>
                  <a:srgbClr val="687A8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0">
                <a:solidFill>
                  <a:srgbClr val="687A84"/>
                </a:solidFill>
                <a:latin typeface="Microsoft YaHei"/>
                <a:ea typeface="Microsoft YaHei"/>
                <a:cs typeface="Microsoft YaHei"/>
              </a:rPr>
              <a:t>SpO2</a:t>
            </a:r>
          </a:p>
        </p:txBody>
      </p:sp>
      <p:sp>
        <p:nvSpPr>
          <p:cNvPr id="21" name="矩形 20">
            <a:extLst>
              <a:ext uri="{FF2B5EF4-FFF2-40B4-BE49-F238E27FC236}">
                <a16:creationId xmlns:a16="http://schemas.microsoft.com/office/drawing/2014/main" id="{FAD2EC42-4318-4AA2-AF25-3C62BB1F9FDF}"/>
              </a:ext>
            </a:extLst>
          </p:cNvPr>
          <p:cNvSpPr>
            <a:spLocks noGrp="1"/>
          </p:cNvSpPr>
          <p:nvPr/>
        </p:nvSpPr>
        <p:spPr>
          <a:xfrm>
            <a:off x="10210800" y="2609850"/>
            <a:ext cx="800100" cy="2476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ctr">
              <a:defRPr sz="900" b="0">
                <a:solidFill>
                  <a:srgbClr val="687A8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0">
                <a:solidFill>
                  <a:srgbClr val="687A84"/>
                </a:solidFill>
                <a:latin typeface="Microsoft YaHei"/>
                <a:ea typeface="Microsoft YaHei"/>
                <a:cs typeface="Microsoft YaHei"/>
              </a:rPr>
              <a:t>HR</a:t>
            </a:r>
          </a:p>
        </p:txBody>
      </p:sp>
      <p:sp>
        <p:nvSpPr>
          <p:cNvPr id="22" name="矩形 21">
            <a:extLst>
              <a:ext uri="{FF2B5EF4-FFF2-40B4-BE49-F238E27FC236}">
                <a16:creationId xmlns:a16="http://schemas.microsoft.com/office/drawing/2014/main" id="{E6BC222B-BA35-4F1E-A05E-036B603D3EA3}"/>
              </a:ext>
            </a:extLst>
          </p:cNvPr>
          <p:cNvSpPr>
            <a:spLocks noGrp="1"/>
          </p:cNvSpPr>
          <p:nvPr/>
        </p:nvSpPr>
        <p:spPr>
          <a:xfrm>
            <a:off x="9315450" y="2867025"/>
            <a:ext cx="800100" cy="4000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ctr">
              <a:defRPr sz="2100" b="1">
                <a:solidFill>
                  <a:srgbClr val="22A6C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1">
                <a:solidFill>
                  <a:srgbClr val="22A6C7"/>
                </a:solidFill>
                <a:latin typeface="Microsoft YaHei"/>
                <a:ea typeface="Microsoft YaHei"/>
                <a:cs typeface="Microsoft YaHei"/>
              </a:rPr>
              <a:t>97</a:t>
            </a:r>
          </a:p>
        </p:txBody>
      </p:sp>
      <p:sp>
        <p:nvSpPr>
          <p:cNvPr id="23" name="矩形 22">
            <a:extLst>
              <a:ext uri="{FF2B5EF4-FFF2-40B4-BE49-F238E27FC236}">
                <a16:creationId xmlns:a16="http://schemas.microsoft.com/office/drawing/2014/main" id="{9F85E7BA-B561-45FC-8FC1-41D95BDA8D4A}"/>
              </a:ext>
            </a:extLst>
          </p:cNvPr>
          <p:cNvSpPr>
            <a:spLocks noGrp="1"/>
          </p:cNvSpPr>
          <p:nvPr/>
        </p:nvSpPr>
        <p:spPr>
          <a:xfrm>
            <a:off x="10210800" y="2867025"/>
            <a:ext cx="800100" cy="4000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ctr">
              <a:defRPr sz="2100" b="1">
                <a:solidFill>
                  <a:srgbClr val="18C7A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1">
                <a:solidFill>
                  <a:srgbClr val="18C7A3"/>
                </a:solidFill>
                <a:latin typeface="Microsoft YaHei"/>
                <a:ea typeface="Microsoft YaHei"/>
                <a:cs typeface="Microsoft YaHei"/>
              </a:rPr>
              <a:t>82</a:t>
            </a:r>
          </a:p>
        </p:txBody>
      </p:sp>
      <p:sp>
        <p:nvSpPr>
          <p:cNvPr id="24" name="矩形 23">
            <a:extLst>
              <a:ext uri="{FF2B5EF4-FFF2-40B4-BE49-F238E27FC236}">
                <a16:creationId xmlns:a16="http://schemas.microsoft.com/office/drawing/2014/main" id="{114DE62A-6F58-45FE-9C69-27C77E5979CB}"/>
              </a:ext>
            </a:extLst>
          </p:cNvPr>
          <p:cNvSpPr>
            <a:spLocks noGrp="1"/>
          </p:cNvSpPr>
          <p:nvPr/>
        </p:nvSpPr>
        <p:spPr>
          <a:xfrm>
            <a:off x="9315450" y="3886200"/>
            <a:ext cx="1562100" cy="9525"/>
          </a:xfrm>
          <a:prstGeom prst="rect">
            <a:avLst/>
          </a:prstGeom>
          <a:solidFill>
            <a:srgbClr val="D6E3E7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5" name="矩形 24">
            <a:extLst>
              <a:ext uri="{FF2B5EF4-FFF2-40B4-BE49-F238E27FC236}">
                <a16:creationId xmlns:a16="http://schemas.microsoft.com/office/drawing/2014/main" id="{0C57556C-2E9D-4DF1-A1E8-D0EA5C3814D3}"/>
              </a:ext>
            </a:extLst>
          </p:cNvPr>
          <p:cNvSpPr>
            <a:spLocks noGrp="1"/>
          </p:cNvSpPr>
          <p:nvPr/>
        </p:nvSpPr>
        <p:spPr>
          <a:xfrm>
            <a:off x="9410700" y="3943350"/>
            <a:ext cx="28575" cy="95250"/>
          </a:xfrm>
          <a:prstGeom prst="rect">
            <a:avLst/>
          </a:prstGeom>
          <a:solidFill>
            <a:srgbClr val="22A6C7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6" name="矩形 25">
            <a:extLst>
              <a:ext uri="{FF2B5EF4-FFF2-40B4-BE49-F238E27FC236}">
                <a16:creationId xmlns:a16="http://schemas.microsoft.com/office/drawing/2014/main" id="{6ABD8EF9-A003-4A20-BA82-CFBA3817CF38}"/>
              </a:ext>
            </a:extLst>
          </p:cNvPr>
          <p:cNvSpPr>
            <a:spLocks noGrp="1"/>
          </p:cNvSpPr>
          <p:nvPr/>
        </p:nvSpPr>
        <p:spPr>
          <a:xfrm>
            <a:off x="9502140" y="3619500"/>
            <a:ext cx="28575" cy="419100"/>
          </a:xfrm>
          <a:prstGeom prst="rect">
            <a:avLst/>
          </a:prstGeom>
          <a:solidFill>
            <a:srgbClr val="22A6C7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7" name="矩形 26">
            <a:extLst>
              <a:ext uri="{FF2B5EF4-FFF2-40B4-BE49-F238E27FC236}">
                <a16:creationId xmlns:a16="http://schemas.microsoft.com/office/drawing/2014/main" id="{20F53185-C39B-414A-A7B6-BEF87DF79388}"/>
              </a:ext>
            </a:extLst>
          </p:cNvPr>
          <p:cNvSpPr>
            <a:spLocks noGrp="1"/>
          </p:cNvSpPr>
          <p:nvPr/>
        </p:nvSpPr>
        <p:spPr>
          <a:xfrm>
            <a:off x="9593580" y="3867150"/>
            <a:ext cx="28575" cy="171450"/>
          </a:xfrm>
          <a:prstGeom prst="rect">
            <a:avLst/>
          </a:prstGeom>
          <a:solidFill>
            <a:srgbClr val="22A6C7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8" name="矩形 27">
            <a:extLst>
              <a:ext uri="{FF2B5EF4-FFF2-40B4-BE49-F238E27FC236}">
                <a16:creationId xmlns:a16="http://schemas.microsoft.com/office/drawing/2014/main" id="{507A3F8D-1883-4012-9A9F-E7F31C3D39D7}"/>
              </a:ext>
            </a:extLst>
          </p:cNvPr>
          <p:cNvSpPr>
            <a:spLocks noGrp="1"/>
          </p:cNvSpPr>
          <p:nvPr/>
        </p:nvSpPr>
        <p:spPr>
          <a:xfrm>
            <a:off x="9685020" y="3429000"/>
            <a:ext cx="28575" cy="609600"/>
          </a:xfrm>
          <a:prstGeom prst="rect">
            <a:avLst/>
          </a:prstGeom>
          <a:solidFill>
            <a:srgbClr val="22A6C7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9" name="矩形 28">
            <a:extLst>
              <a:ext uri="{FF2B5EF4-FFF2-40B4-BE49-F238E27FC236}">
                <a16:creationId xmlns:a16="http://schemas.microsoft.com/office/drawing/2014/main" id="{2463E8BB-944F-4F32-8FEA-B35A3058986C}"/>
              </a:ext>
            </a:extLst>
          </p:cNvPr>
          <p:cNvSpPr>
            <a:spLocks noGrp="1"/>
          </p:cNvSpPr>
          <p:nvPr/>
        </p:nvSpPr>
        <p:spPr>
          <a:xfrm>
            <a:off x="9776460" y="3790950"/>
            <a:ext cx="28575" cy="247650"/>
          </a:xfrm>
          <a:prstGeom prst="rect">
            <a:avLst/>
          </a:prstGeom>
          <a:solidFill>
            <a:srgbClr val="22A6C7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30" name="矩形 29">
            <a:extLst>
              <a:ext uri="{FF2B5EF4-FFF2-40B4-BE49-F238E27FC236}">
                <a16:creationId xmlns:a16="http://schemas.microsoft.com/office/drawing/2014/main" id="{7C9296BA-5F98-48BC-AB36-EAF2FF91CA1A}"/>
              </a:ext>
            </a:extLst>
          </p:cNvPr>
          <p:cNvSpPr>
            <a:spLocks noGrp="1"/>
          </p:cNvSpPr>
          <p:nvPr/>
        </p:nvSpPr>
        <p:spPr>
          <a:xfrm>
            <a:off x="9867900" y="3352800"/>
            <a:ext cx="28575" cy="685800"/>
          </a:xfrm>
          <a:prstGeom prst="rect">
            <a:avLst/>
          </a:prstGeom>
          <a:solidFill>
            <a:srgbClr val="22A6C7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31" name="矩形 30">
            <a:extLst>
              <a:ext uri="{FF2B5EF4-FFF2-40B4-BE49-F238E27FC236}">
                <a16:creationId xmlns:a16="http://schemas.microsoft.com/office/drawing/2014/main" id="{22B7BF29-95BE-4786-B1C7-B00DA8DA8B94}"/>
              </a:ext>
            </a:extLst>
          </p:cNvPr>
          <p:cNvSpPr>
            <a:spLocks noGrp="1"/>
          </p:cNvSpPr>
          <p:nvPr/>
        </p:nvSpPr>
        <p:spPr>
          <a:xfrm>
            <a:off x="9959340" y="3829050"/>
            <a:ext cx="28575" cy="209550"/>
          </a:xfrm>
          <a:prstGeom prst="rect">
            <a:avLst/>
          </a:prstGeom>
          <a:solidFill>
            <a:srgbClr val="22A6C7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32" name="矩形 31">
            <a:extLst>
              <a:ext uri="{FF2B5EF4-FFF2-40B4-BE49-F238E27FC236}">
                <a16:creationId xmlns:a16="http://schemas.microsoft.com/office/drawing/2014/main" id="{DB6BAF5E-6782-49F9-937E-29BC99096611}"/>
              </a:ext>
            </a:extLst>
          </p:cNvPr>
          <p:cNvSpPr>
            <a:spLocks noGrp="1"/>
          </p:cNvSpPr>
          <p:nvPr/>
        </p:nvSpPr>
        <p:spPr>
          <a:xfrm>
            <a:off x="10050780" y="3486150"/>
            <a:ext cx="28575" cy="552450"/>
          </a:xfrm>
          <a:prstGeom prst="rect">
            <a:avLst/>
          </a:prstGeom>
          <a:solidFill>
            <a:srgbClr val="22A6C7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33" name="矩形 32">
            <a:extLst>
              <a:ext uri="{FF2B5EF4-FFF2-40B4-BE49-F238E27FC236}">
                <a16:creationId xmlns:a16="http://schemas.microsoft.com/office/drawing/2014/main" id="{54F5B253-3F44-41B8-A2BB-B0CC03F1D7E6}"/>
              </a:ext>
            </a:extLst>
          </p:cNvPr>
          <p:cNvSpPr>
            <a:spLocks noGrp="1"/>
          </p:cNvSpPr>
          <p:nvPr/>
        </p:nvSpPr>
        <p:spPr>
          <a:xfrm>
            <a:off x="10142220" y="3733800"/>
            <a:ext cx="28575" cy="304800"/>
          </a:xfrm>
          <a:prstGeom prst="rect">
            <a:avLst/>
          </a:prstGeom>
          <a:solidFill>
            <a:srgbClr val="22A6C7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34" name="矩形 33">
            <a:extLst>
              <a:ext uri="{FF2B5EF4-FFF2-40B4-BE49-F238E27FC236}">
                <a16:creationId xmlns:a16="http://schemas.microsoft.com/office/drawing/2014/main" id="{008A8B9E-1BE0-4FA8-A56C-7B3D8CDD3ABB}"/>
              </a:ext>
            </a:extLst>
          </p:cNvPr>
          <p:cNvSpPr>
            <a:spLocks noGrp="1"/>
          </p:cNvSpPr>
          <p:nvPr/>
        </p:nvSpPr>
        <p:spPr>
          <a:xfrm>
            <a:off x="10233660" y="3409950"/>
            <a:ext cx="28575" cy="628650"/>
          </a:xfrm>
          <a:prstGeom prst="rect">
            <a:avLst/>
          </a:prstGeom>
          <a:solidFill>
            <a:srgbClr val="22A6C7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35" name="矩形 34">
            <a:extLst>
              <a:ext uri="{FF2B5EF4-FFF2-40B4-BE49-F238E27FC236}">
                <a16:creationId xmlns:a16="http://schemas.microsoft.com/office/drawing/2014/main" id="{BD1A80C9-9591-4679-A0B0-87191643546F}"/>
              </a:ext>
            </a:extLst>
          </p:cNvPr>
          <p:cNvSpPr>
            <a:spLocks noGrp="1"/>
          </p:cNvSpPr>
          <p:nvPr/>
        </p:nvSpPr>
        <p:spPr>
          <a:xfrm>
            <a:off x="10325100" y="3810000"/>
            <a:ext cx="28575" cy="228600"/>
          </a:xfrm>
          <a:prstGeom prst="rect">
            <a:avLst/>
          </a:prstGeom>
          <a:solidFill>
            <a:srgbClr val="22A6C7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36" name="矩形 35">
            <a:extLst>
              <a:ext uri="{FF2B5EF4-FFF2-40B4-BE49-F238E27FC236}">
                <a16:creationId xmlns:a16="http://schemas.microsoft.com/office/drawing/2014/main" id="{4215367B-E7A1-41E5-B4B8-159EAED60484}"/>
              </a:ext>
            </a:extLst>
          </p:cNvPr>
          <p:cNvSpPr>
            <a:spLocks noGrp="1"/>
          </p:cNvSpPr>
          <p:nvPr/>
        </p:nvSpPr>
        <p:spPr>
          <a:xfrm>
            <a:off x="10416540" y="3524250"/>
            <a:ext cx="28575" cy="514350"/>
          </a:xfrm>
          <a:prstGeom prst="rect">
            <a:avLst/>
          </a:prstGeom>
          <a:solidFill>
            <a:srgbClr val="22A6C7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37" name="矩形 36">
            <a:extLst>
              <a:ext uri="{FF2B5EF4-FFF2-40B4-BE49-F238E27FC236}">
                <a16:creationId xmlns:a16="http://schemas.microsoft.com/office/drawing/2014/main" id="{56E43C17-3004-4FD3-99EA-D4C7F3A22A16}"/>
              </a:ext>
            </a:extLst>
          </p:cNvPr>
          <p:cNvSpPr>
            <a:spLocks noGrp="1"/>
          </p:cNvSpPr>
          <p:nvPr/>
        </p:nvSpPr>
        <p:spPr>
          <a:xfrm>
            <a:off x="10507980" y="3752850"/>
            <a:ext cx="28575" cy="285750"/>
          </a:xfrm>
          <a:prstGeom prst="rect">
            <a:avLst/>
          </a:prstGeom>
          <a:solidFill>
            <a:srgbClr val="22A6C7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38" name="矩形 37">
            <a:extLst>
              <a:ext uri="{FF2B5EF4-FFF2-40B4-BE49-F238E27FC236}">
                <a16:creationId xmlns:a16="http://schemas.microsoft.com/office/drawing/2014/main" id="{5184D743-2DDB-4844-92BD-AAE36646EF36}"/>
              </a:ext>
            </a:extLst>
          </p:cNvPr>
          <p:cNvSpPr>
            <a:spLocks noGrp="1"/>
          </p:cNvSpPr>
          <p:nvPr/>
        </p:nvSpPr>
        <p:spPr>
          <a:xfrm>
            <a:off x="10599420" y="3390900"/>
            <a:ext cx="28575" cy="647700"/>
          </a:xfrm>
          <a:prstGeom prst="rect">
            <a:avLst/>
          </a:prstGeom>
          <a:solidFill>
            <a:srgbClr val="22A6C7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39" name="矩形 38">
            <a:extLst>
              <a:ext uri="{FF2B5EF4-FFF2-40B4-BE49-F238E27FC236}">
                <a16:creationId xmlns:a16="http://schemas.microsoft.com/office/drawing/2014/main" id="{80ECE4C7-052A-4788-A9CF-63E3D6418EA3}"/>
              </a:ext>
            </a:extLst>
          </p:cNvPr>
          <p:cNvSpPr>
            <a:spLocks noGrp="1"/>
          </p:cNvSpPr>
          <p:nvPr/>
        </p:nvSpPr>
        <p:spPr>
          <a:xfrm>
            <a:off x="10690860" y="3848100"/>
            <a:ext cx="28575" cy="190500"/>
          </a:xfrm>
          <a:prstGeom prst="rect">
            <a:avLst/>
          </a:prstGeom>
          <a:solidFill>
            <a:srgbClr val="22A6C7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40" name="矩形 39">
            <a:extLst>
              <a:ext uri="{FF2B5EF4-FFF2-40B4-BE49-F238E27FC236}">
                <a16:creationId xmlns:a16="http://schemas.microsoft.com/office/drawing/2014/main" id="{068AEFBB-F005-4416-9DF4-631823F5D619}"/>
              </a:ext>
            </a:extLst>
          </p:cNvPr>
          <p:cNvSpPr>
            <a:spLocks noGrp="1"/>
          </p:cNvSpPr>
          <p:nvPr/>
        </p:nvSpPr>
        <p:spPr>
          <a:xfrm>
            <a:off x="5810250" y="2266950"/>
            <a:ext cx="2667000" cy="1009650"/>
          </a:xfrm>
          <a:prstGeom prst="rect">
            <a:avLst/>
          </a:prstGeom>
          <a:solidFill>
            <a:srgbClr val="FFFFFF"/>
          </a:solidFill>
          <a:ln w="9525">
            <a:solidFill>
              <a:srgbClr val="DCE5E7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41" name="矩形 40">
            <a:extLst>
              <a:ext uri="{FF2B5EF4-FFF2-40B4-BE49-F238E27FC236}">
                <a16:creationId xmlns:a16="http://schemas.microsoft.com/office/drawing/2014/main" id="{4B63E7F8-CE69-4D54-9A01-DA181441F238}"/>
              </a:ext>
            </a:extLst>
          </p:cNvPr>
          <p:cNvSpPr>
            <a:spLocks noGrp="1"/>
          </p:cNvSpPr>
          <p:nvPr/>
        </p:nvSpPr>
        <p:spPr>
          <a:xfrm>
            <a:off x="5810250" y="2266949"/>
            <a:ext cx="76200" cy="1000125"/>
          </a:xfrm>
          <a:prstGeom prst="rect">
            <a:avLst/>
          </a:prstGeom>
          <a:solidFill>
            <a:srgbClr val="F2A23A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42" name="矩形 41">
            <a:extLst>
              <a:ext uri="{FF2B5EF4-FFF2-40B4-BE49-F238E27FC236}">
                <a16:creationId xmlns:a16="http://schemas.microsoft.com/office/drawing/2014/main" id="{3A2DA2A3-5303-4380-A83F-7ADB0013A699}"/>
              </a:ext>
            </a:extLst>
          </p:cNvPr>
          <p:cNvSpPr>
            <a:spLocks noGrp="1"/>
          </p:cNvSpPr>
          <p:nvPr/>
        </p:nvSpPr>
        <p:spPr>
          <a:xfrm>
            <a:off x="5981700" y="2400300"/>
            <a:ext cx="2324100" cy="2857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350" b="1">
                <a:solidFill>
                  <a:srgbClr val="17313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17313B"/>
                </a:solidFill>
                <a:latin typeface="Microsoft YaHei"/>
                <a:ea typeface="Microsoft YaHei"/>
                <a:cs typeface="Microsoft YaHei"/>
              </a:rPr>
              <a:t>ESP32 Peripheral</a:t>
            </a:r>
          </a:p>
        </p:txBody>
      </p:sp>
      <p:sp>
        <p:nvSpPr>
          <p:cNvPr id="43" name="矩形 42">
            <a:extLst>
              <a:ext uri="{FF2B5EF4-FFF2-40B4-BE49-F238E27FC236}">
                <a16:creationId xmlns:a16="http://schemas.microsoft.com/office/drawing/2014/main" id="{46998F1C-E806-4EDE-9B58-EAAE7884ABE0}"/>
              </a:ext>
            </a:extLst>
          </p:cNvPr>
          <p:cNvSpPr>
            <a:spLocks noGrp="1"/>
          </p:cNvSpPr>
          <p:nvPr/>
        </p:nvSpPr>
        <p:spPr>
          <a:xfrm>
            <a:off x="5981700" y="2724150"/>
            <a:ext cx="2324100" cy="3238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088" b="0">
                <a:solidFill>
                  <a:srgbClr val="687A8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88" b="0">
                <a:solidFill>
                  <a:srgbClr val="687A84"/>
                </a:solidFill>
                <a:latin typeface="Microsoft YaHei"/>
                <a:ea typeface="Microsoft YaHei"/>
                <a:cs typeface="Microsoft YaHei"/>
              </a:rPr>
              <a:t>MAX30102 采样</a:t>
            </a:r>
          </a:p>
          <a:p>
            <a:pPr algn="l">
              <a:defRPr sz="1088" b="0">
                <a:solidFill>
                  <a:srgbClr val="687A8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88" b="0">
                <a:solidFill>
                  <a:srgbClr val="687A84"/>
                </a:solidFill>
                <a:latin typeface="Microsoft YaHei"/>
                <a:ea typeface="Microsoft YaHei"/>
                <a:cs typeface="Microsoft YaHei"/>
              </a:rPr>
              <a:t>心率/SpO2 本地计算</a:t>
            </a:r>
          </a:p>
          <a:p>
            <a:pPr algn="l">
              <a:defRPr sz="1088" b="0">
                <a:solidFill>
                  <a:srgbClr val="687A8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88" b="0">
                <a:solidFill>
                  <a:srgbClr val="687A84"/>
                </a:solidFill>
                <a:latin typeface="Microsoft YaHei"/>
                <a:ea typeface="Microsoft YaHei"/>
                <a:cs typeface="Microsoft YaHei"/>
              </a:rPr>
              <a:t>BLE notify 推送</a:t>
            </a:r>
          </a:p>
        </p:txBody>
      </p:sp>
      <p:sp>
        <p:nvSpPr>
          <p:cNvPr id="44" name="矩形 43">
            <a:extLst>
              <a:ext uri="{FF2B5EF4-FFF2-40B4-BE49-F238E27FC236}">
                <a16:creationId xmlns:a16="http://schemas.microsoft.com/office/drawing/2014/main" id="{FD28EC23-61EB-41EF-80E4-5EAEC41E92C6}"/>
              </a:ext>
            </a:extLst>
          </p:cNvPr>
          <p:cNvSpPr>
            <a:spLocks noGrp="1"/>
          </p:cNvSpPr>
          <p:nvPr/>
        </p:nvSpPr>
        <p:spPr>
          <a:xfrm>
            <a:off x="5810250" y="3790949"/>
            <a:ext cx="2665095" cy="981075"/>
          </a:xfrm>
          <a:prstGeom prst="rect">
            <a:avLst/>
          </a:prstGeom>
          <a:solidFill>
            <a:srgbClr val="FFFFFF"/>
          </a:solidFill>
          <a:ln w="9525">
            <a:solidFill>
              <a:srgbClr val="DCE5E7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45" name="矩形 44">
            <a:extLst>
              <a:ext uri="{FF2B5EF4-FFF2-40B4-BE49-F238E27FC236}">
                <a16:creationId xmlns:a16="http://schemas.microsoft.com/office/drawing/2014/main" id="{582BFE28-5E40-401E-BD8D-8C4E7ECE9AFD}"/>
              </a:ext>
            </a:extLst>
          </p:cNvPr>
          <p:cNvSpPr>
            <a:spLocks noGrp="1"/>
          </p:cNvSpPr>
          <p:nvPr/>
        </p:nvSpPr>
        <p:spPr>
          <a:xfrm>
            <a:off x="5810250" y="3790950"/>
            <a:ext cx="45719" cy="981074"/>
          </a:xfrm>
          <a:prstGeom prst="rect">
            <a:avLst/>
          </a:prstGeom>
          <a:solidFill>
            <a:srgbClr val="18C7A3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46" name="矩形 45">
            <a:extLst>
              <a:ext uri="{FF2B5EF4-FFF2-40B4-BE49-F238E27FC236}">
                <a16:creationId xmlns:a16="http://schemas.microsoft.com/office/drawing/2014/main" id="{A035BA35-7602-47BF-8B66-0509089E1FA6}"/>
              </a:ext>
            </a:extLst>
          </p:cNvPr>
          <p:cNvSpPr>
            <a:spLocks noGrp="1"/>
          </p:cNvSpPr>
          <p:nvPr/>
        </p:nvSpPr>
        <p:spPr>
          <a:xfrm>
            <a:off x="5981700" y="3924300"/>
            <a:ext cx="2324100" cy="2857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350" b="1">
                <a:solidFill>
                  <a:srgbClr val="17313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17313B"/>
                </a:solidFill>
                <a:latin typeface="Microsoft YaHei"/>
                <a:ea typeface="Microsoft YaHei"/>
                <a:cs typeface="Microsoft YaHei"/>
              </a:rPr>
              <a:t>WeChat Mini Program</a:t>
            </a:r>
          </a:p>
        </p:txBody>
      </p:sp>
      <p:sp>
        <p:nvSpPr>
          <p:cNvPr id="47" name="矩形 46">
            <a:extLst>
              <a:ext uri="{FF2B5EF4-FFF2-40B4-BE49-F238E27FC236}">
                <a16:creationId xmlns:a16="http://schemas.microsoft.com/office/drawing/2014/main" id="{2C136606-B929-4B22-AE87-D7A72B486D9A}"/>
              </a:ext>
            </a:extLst>
          </p:cNvPr>
          <p:cNvSpPr>
            <a:spLocks noGrp="1"/>
          </p:cNvSpPr>
          <p:nvPr/>
        </p:nvSpPr>
        <p:spPr>
          <a:xfrm>
            <a:off x="5981700" y="4248150"/>
            <a:ext cx="2324100" cy="3238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088" b="0">
                <a:solidFill>
                  <a:srgbClr val="687A8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88" b="0">
                <a:solidFill>
                  <a:srgbClr val="687A84"/>
                </a:solidFill>
                <a:latin typeface="Microsoft YaHei"/>
                <a:ea typeface="Microsoft YaHei"/>
                <a:cs typeface="Microsoft YaHei"/>
              </a:rPr>
              <a:t>BLE Central</a:t>
            </a:r>
          </a:p>
          <a:p>
            <a:pPr algn="l">
              <a:defRPr sz="1088" b="0">
                <a:solidFill>
                  <a:srgbClr val="687A8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88" b="0">
                <a:solidFill>
                  <a:srgbClr val="687A84"/>
                </a:solidFill>
                <a:latin typeface="Microsoft YaHei"/>
                <a:ea typeface="Microsoft YaHei"/>
                <a:cs typeface="Microsoft YaHei"/>
              </a:rPr>
              <a:t>订阅两个 Characteristic</a:t>
            </a:r>
          </a:p>
          <a:p>
            <a:pPr algn="l">
              <a:defRPr sz="1088" b="0">
                <a:solidFill>
                  <a:srgbClr val="687A8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88" b="0">
                <a:solidFill>
                  <a:srgbClr val="687A84"/>
                </a:solidFill>
                <a:latin typeface="Microsoft YaHei"/>
                <a:ea typeface="Microsoft YaHei"/>
                <a:cs typeface="Microsoft YaHei"/>
              </a:rPr>
              <a:t>Canvas 绘制波形</a:t>
            </a:r>
          </a:p>
        </p:txBody>
      </p:sp>
      <p:sp>
        <p:nvSpPr>
          <p:cNvPr id="48" name="矩形 47">
            <a:extLst>
              <a:ext uri="{FF2B5EF4-FFF2-40B4-BE49-F238E27FC236}">
                <a16:creationId xmlns:a16="http://schemas.microsoft.com/office/drawing/2014/main" id="{3F56DDC8-0346-45CB-8EC6-50910F394AA8}"/>
              </a:ext>
            </a:extLst>
          </p:cNvPr>
          <p:cNvSpPr>
            <a:spLocks noGrp="1"/>
          </p:cNvSpPr>
          <p:nvPr/>
        </p:nvSpPr>
        <p:spPr>
          <a:xfrm>
            <a:off x="8477250" y="2695575"/>
            <a:ext cx="552450" cy="19050"/>
          </a:xfrm>
          <a:prstGeom prst="rect">
            <a:avLst/>
          </a:prstGeom>
          <a:solidFill>
            <a:srgbClr val="22A6C7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49" name="矩形 48">
            <a:extLst>
              <a:ext uri="{FF2B5EF4-FFF2-40B4-BE49-F238E27FC236}">
                <a16:creationId xmlns:a16="http://schemas.microsoft.com/office/drawing/2014/main" id="{D2CD8A20-C127-49F4-80A6-382BDF602949}"/>
              </a:ext>
            </a:extLst>
          </p:cNvPr>
          <p:cNvSpPr>
            <a:spLocks noGrp="1"/>
          </p:cNvSpPr>
          <p:nvPr/>
        </p:nvSpPr>
        <p:spPr>
          <a:xfrm>
            <a:off x="8896350" y="2581275"/>
            <a:ext cx="247650" cy="2476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ctr"/>
          <a:lstStyle/>
          <a:p>
            <a:pPr algn="ctr">
              <a:defRPr sz="1275" b="1">
                <a:solidFill>
                  <a:srgbClr val="22A6C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1">
                <a:solidFill>
                  <a:srgbClr val="22A6C7"/>
                </a:solidFill>
                <a:latin typeface="Microsoft YaHei"/>
                <a:ea typeface="Microsoft YaHei"/>
                <a:cs typeface="Microsoft YaHei"/>
              </a:rPr>
              <a:t>&gt;</a:t>
            </a:r>
          </a:p>
        </p:txBody>
      </p:sp>
      <p:sp>
        <p:nvSpPr>
          <p:cNvPr id="50" name="矩形 49">
            <a:extLst>
              <a:ext uri="{FF2B5EF4-FFF2-40B4-BE49-F238E27FC236}">
                <a16:creationId xmlns:a16="http://schemas.microsoft.com/office/drawing/2014/main" id="{B5FC6F49-5803-4E3C-9CBD-33BA0F031BD5}"/>
              </a:ext>
            </a:extLst>
          </p:cNvPr>
          <p:cNvSpPr>
            <a:spLocks noGrp="1"/>
          </p:cNvSpPr>
          <p:nvPr/>
        </p:nvSpPr>
        <p:spPr>
          <a:xfrm>
            <a:off x="8477250" y="4219575"/>
            <a:ext cx="552450" cy="19050"/>
          </a:xfrm>
          <a:prstGeom prst="rect">
            <a:avLst/>
          </a:prstGeom>
          <a:solidFill>
            <a:srgbClr val="22A6C7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51" name="矩形 50">
            <a:extLst>
              <a:ext uri="{FF2B5EF4-FFF2-40B4-BE49-F238E27FC236}">
                <a16:creationId xmlns:a16="http://schemas.microsoft.com/office/drawing/2014/main" id="{8ED42C3C-B628-4685-A677-020391DEE5D8}"/>
              </a:ext>
            </a:extLst>
          </p:cNvPr>
          <p:cNvSpPr>
            <a:spLocks noGrp="1"/>
          </p:cNvSpPr>
          <p:nvPr/>
        </p:nvSpPr>
        <p:spPr>
          <a:xfrm>
            <a:off x="8896350" y="4105275"/>
            <a:ext cx="247650" cy="2476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ctr"/>
          <a:lstStyle/>
          <a:p>
            <a:pPr algn="ctr">
              <a:defRPr sz="1275" b="1">
                <a:solidFill>
                  <a:srgbClr val="22A6C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1">
                <a:solidFill>
                  <a:srgbClr val="22A6C7"/>
                </a:solidFill>
                <a:latin typeface="Microsoft YaHei"/>
                <a:ea typeface="Microsoft YaHei"/>
                <a:cs typeface="Microsoft YaHei"/>
              </a:rPr>
              <a:t>&gt;</a:t>
            </a:r>
          </a:p>
        </p:txBody>
      </p:sp>
      <p:sp>
        <p:nvSpPr>
          <p:cNvPr id="52" name="矩形 51">
            <a:extLst>
              <a:ext uri="{FF2B5EF4-FFF2-40B4-BE49-F238E27FC236}">
                <a16:creationId xmlns:a16="http://schemas.microsoft.com/office/drawing/2014/main" id="{1ADDBC4A-3F4F-4CF3-8A08-E7193545B776}"/>
              </a:ext>
            </a:extLst>
          </p:cNvPr>
          <p:cNvSpPr>
            <a:spLocks noGrp="1"/>
          </p:cNvSpPr>
          <p:nvPr/>
        </p:nvSpPr>
        <p:spPr>
          <a:xfrm>
            <a:off x="5962650" y="3371850"/>
            <a:ext cx="2324100" cy="323850"/>
          </a:xfrm>
          <a:prstGeom prst="rect">
            <a:avLst/>
          </a:prstGeom>
          <a:solidFill>
            <a:srgbClr val="FFFFFF"/>
          </a:solidFill>
          <a:ln w="13335">
            <a:solidFill>
              <a:srgbClr val="22A6C7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53" name="矩形 52">
            <a:extLst>
              <a:ext uri="{FF2B5EF4-FFF2-40B4-BE49-F238E27FC236}">
                <a16:creationId xmlns:a16="http://schemas.microsoft.com/office/drawing/2014/main" id="{7AEA77F5-C290-4462-A71A-9C88DDF38035}"/>
              </a:ext>
            </a:extLst>
          </p:cNvPr>
          <p:cNvSpPr>
            <a:spLocks noGrp="1"/>
          </p:cNvSpPr>
          <p:nvPr/>
        </p:nvSpPr>
        <p:spPr>
          <a:xfrm>
            <a:off x="6057900" y="3419475"/>
            <a:ext cx="213360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ctr"/>
          <a:lstStyle/>
          <a:p>
            <a:pPr algn="ctr">
              <a:defRPr sz="1013" b="1">
                <a:solidFill>
                  <a:srgbClr val="22A6C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13" b="1">
                <a:solidFill>
                  <a:srgbClr val="22A6C7"/>
                </a:solidFill>
                <a:latin typeface="Microsoft YaHei"/>
                <a:ea typeface="Microsoft YaHei"/>
                <a:cs typeface="Microsoft YaHei"/>
              </a:rPr>
              <a:t>4-byte wave + 6-byte metrics</a:t>
            </a:r>
          </a:p>
        </p:txBody>
      </p:sp>
    </p:spTree>
    <p:extLst>
      <p:ext uri="{BB962C8B-B14F-4D97-AF65-F5344CB8AC3E}">
        <p14:creationId xmlns:p14="http://schemas.microsoft.com/office/powerpoint/2010/main" val="168463671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矩形 27">
            <a:extLst>
              <a:ext uri="{FF2B5EF4-FFF2-40B4-BE49-F238E27FC236}">
                <a16:creationId xmlns:a16="http://schemas.microsoft.com/office/drawing/2014/main" id="{EC2AB945-0132-4464-B1EB-A310652CD678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6F3EA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" name="矩形 1">
            <a:extLst>
              <a:ext uri="{FF2B5EF4-FFF2-40B4-BE49-F238E27FC236}">
                <a16:creationId xmlns:a16="http://schemas.microsoft.com/office/drawing/2014/main" id="{9C717B7D-7190-4C59-B051-F29D1D8A9C9B}"/>
              </a:ext>
            </a:extLst>
          </p:cNvPr>
          <p:cNvSpPr>
            <a:spLocks noGrp="1"/>
          </p:cNvSpPr>
          <p:nvPr/>
        </p:nvSpPr>
        <p:spPr>
          <a:xfrm>
            <a:off x="419100" y="323850"/>
            <a:ext cx="95250" cy="190500"/>
          </a:xfrm>
          <a:prstGeom prst="rect">
            <a:avLst/>
          </a:prstGeom>
          <a:solidFill>
            <a:srgbClr val="22A6C7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5AD29994-8BB0-457D-9955-AA6B2F399711}"/>
              </a:ext>
            </a:extLst>
          </p:cNvPr>
          <p:cNvSpPr>
            <a:spLocks noGrp="1"/>
          </p:cNvSpPr>
          <p:nvPr/>
        </p:nvSpPr>
        <p:spPr>
          <a:xfrm>
            <a:off x="590550" y="266700"/>
            <a:ext cx="4095750" cy="3238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ctr"/>
          <a:lstStyle/>
          <a:p>
            <a:pPr algn="l">
              <a:defRPr sz="1125" b="1">
                <a:solidFill>
                  <a:srgbClr val="687A8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1">
                <a:solidFill>
                  <a:srgbClr val="687A84"/>
                </a:solidFill>
                <a:latin typeface="Microsoft YaHei"/>
                <a:ea typeface="Microsoft YaHei"/>
                <a:cs typeface="Microsoft YaHei"/>
              </a:rPr>
              <a:t>BLUETOOTH FIRST PRINCIPLES</a:t>
            </a:r>
          </a:p>
        </p:txBody>
      </p:sp>
      <p:sp>
        <p:nvSpPr>
          <p:cNvPr id="4" name="矩形 3">
            <a:extLst>
              <a:ext uri="{FF2B5EF4-FFF2-40B4-BE49-F238E27FC236}">
                <a16:creationId xmlns:a16="http://schemas.microsoft.com/office/drawing/2014/main" id="{66E28716-31FF-4625-8203-B61687B23BD7}"/>
              </a:ext>
            </a:extLst>
          </p:cNvPr>
          <p:cNvSpPr>
            <a:spLocks noGrp="1"/>
          </p:cNvSpPr>
          <p:nvPr/>
        </p:nvSpPr>
        <p:spPr>
          <a:xfrm>
            <a:off x="419100" y="685800"/>
            <a:ext cx="10763250" cy="7810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2400" b="1">
                <a:solidFill>
                  <a:srgbClr val="17313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400" b="1">
                <a:solidFill>
                  <a:srgbClr val="17313B"/>
                </a:solidFill>
                <a:latin typeface="Microsoft YaHei"/>
                <a:ea typeface="Microsoft YaHei"/>
                <a:cs typeface="Microsoft YaHei"/>
              </a:rPr>
              <a:t>蓝牙先解决“近距离无线交换数据”，但不规定你一定像串口那样发。</a:t>
            </a:r>
          </a:p>
        </p:txBody>
      </p:sp>
      <p:sp>
        <p:nvSpPr>
          <p:cNvPr id="6" name="矩形 5">
            <a:extLst>
              <a:ext uri="{FF2B5EF4-FFF2-40B4-BE49-F238E27FC236}">
                <a16:creationId xmlns:a16="http://schemas.microsoft.com/office/drawing/2014/main" id="{3AF68B15-A670-427B-A919-184DD3C4C29B}"/>
              </a:ext>
            </a:extLst>
          </p:cNvPr>
          <p:cNvSpPr>
            <a:spLocks noGrp="1"/>
          </p:cNvSpPr>
          <p:nvPr/>
        </p:nvSpPr>
        <p:spPr>
          <a:xfrm>
            <a:off x="419100" y="6438900"/>
            <a:ext cx="8572500" cy="9525"/>
          </a:xfrm>
          <a:prstGeom prst="rect">
            <a:avLst/>
          </a:prstGeom>
          <a:solidFill>
            <a:srgbClr val="D6DEE1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E6F6A246-6E5D-4B26-9D91-C967DD5D7EBA}"/>
              </a:ext>
            </a:extLst>
          </p:cNvPr>
          <p:cNvSpPr>
            <a:spLocks noGrp="1"/>
          </p:cNvSpPr>
          <p:nvPr/>
        </p:nvSpPr>
        <p:spPr>
          <a:xfrm>
            <a:off x="11334750" y="6496050"/>
            <a:ext cx="419100" cy="2095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r">
              <a:defRPr sz="825" b="0">
                <a:solidFill>
                  <a:srgbClr val="7C8A9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825" b="0">
                <a:solidFill>
                  <a:srgbClr val="7C8A90"/>
                </a:solidFill>
                <a:latin typeface="Microsoft YaHei"/>
                <a:ea typeface="Microsoft YaHei"/>
                <a:cs typeface="Microsoft YaHei"/>
              </a:rPr>
              <a:t>02</a:t>
            </a:r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08F42B9B-EE5E-4033-9700-1F257DF92F66}"/>
              </a:ext>
            </a:extLst>
          </p:cNvPr>
          <p:cNvSpPr>
            <a:spLocks noGrp="1"/>
          </p:cNvSpPr>
          <p:nvPr/>
        </p:nvSpPr>
        <p:spPr>
          <a:xfrm>
            <a:off x="781050" y="1618735"/>
            <a:ext cx="2381250" cy="1219200"/>
          </a:xfrm>
          <a:prstGeom prst="rect">
            <a:avLst/>
          </a:prstGeom>
          <a:solidFill>
            <a:srgbClr val="FFF4DD"/>
          </a:solidFill>
          <a:ln w="9525">
            <a:solidFill>
              <a:srgbClr val="DCE5E7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AB77065D-8155-4015-8EE5-0734049D499A}"/>
              </a:ext>
            </a:extLst>
          </p:cNvPr>
          <p:cNvSpPr>
            <a:spLocks noGrp="1"/>
          </p:cNvSpPr>
          <p:nvPr/>
        </p:nvSpPr>
        <p:spPr>
          <a:xfrm>
            <a:off x="781050" y="1618735"/>
            <a:ext cx="57150" cy="1219200"/>
          </a:xfrm>
          <a:prstGeom prst="rect">
            <a:avLst/>
          </a:prstGeom>
          <a:solidFill>
            <a:srgbClr val="F2A23A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1" name="矩形 10">
            <a:extLst>
              <a:ext uri="{FF2B5EF4-FFF2-40B4-BE49-F238E27FC236}">
                <a16:creationId xmlns:a16="http://schemas.microsoft.com/office/drawing/2014/main" id="{C4827533-7B76-4450-8D3D-112377966EFE}"/>
              </a:ext>
            </a:extLst>
          </p:cNvPr>
          <p:cNvSpPr>
            <a:spLocks noGrp="1"/>
          </p:cNvSpPr>
          <p:nvPr/>
        </p:nvSpPr>
        <p:spPr>
          <a:xfrm>
            <a:off x="952500" y="1752085"/>
            <a:ext cx="2038350" cy="2857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350" b="1">
                <a:solidFill>
                  <a:srgbClr val="17313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17313B"/>
                </a:solidFill>
                <a:latin typeface="Microsoft YaHei"/>
                <a:ea typeface="Microsoft YaHei"/>
                <a:cs typeface="Microsoft YaHei"/>
              </a:rPr>
              <a:t>连接前</a:t>
            </a:r>
          </a:p>
        </p:txBody>
      </p:sp>
      <p:sp>
        <p:nvSpPr>
          <p:cNvPr id="12" name="矩形 11">
            <a:extLst>
              <a:ext uri="{FF2B5EF4-FFF2-40B4-BE49-F238E27FC236}">
                <a16:creationId xmlns:a16="http://schemas.microsoft.com/office/drawing/2014/main" id="{B04B6FD9-DEBC-42C2-B9AF-36F66A38CA5A}"/>
              </a:ext>
            </a:extLst>
          </p:cNvPr>
          <p:cNvSpPr>
            <a:spLocks noGrp="1"/>
          </p:cNvSpPr>
          <p:nvPr/>
        </p:nvSpPr>
        <p:spPr>
          <a:xfrm>
            <a:off x="952500" y="2075935"/>
            <a:ext cx="2038350" cy="6667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088" b="0">
                <a:solidFill>
                  <a:srgbClr val="687A8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88" b="0">
                <a:solidFill>
                  <a:srgbClr val="687A84"/>
                </a:solidFill>
                <a:latin typeface="Microsoft YaHei"/>
                <a:ea typeface="Microsoft YaHei"/>
                <a:cs typeface="Microsoft YaHei"/>
              </a:rPr>
              <a:t>设备要让别人发现自己：名字、地址、服务线索。</a:t>
            </a:r>
          </a:p>
        </p:txBody>
      </p:sp>
      <p:sp>
        <p:nvSpPr>
          <p:cNvPr id="13" name="矩形 12">
            <a:extLst>
              <a:ext uri="{FF2B5EF4-FFF2-40B4-BE49-F238E27FC236}">
                <a16:creationId xmlns:a16="http://schemas.microsoft.com/office/drawing/2014/main" id="{66E55622-5D70-492C-8F9E-5080C47284BE}"/>
              </a:ext>
            </a:extLst>
          </p:cNvPr>
          <p:cNvSpPr>
            <a:spLocks noGrp="1"/>
          </p:cNvSpPr>
          <p:nvPr/>
        </p:nvSpPr>
        <p:spPr>
          <a:xfrm>
            <a:off x="4914900" y="1618735"/>
            <a:ext cx="2381250" cy="1219200"/>
          </a:xfrm>
          <a:prstGeom prst="rect">
            <a:avLst/>
          </a:prstGeom>
          <a:solidFill>
            <a:srgbClr val="E7F6FA"/>
          </a:solidFill>
          <a:ln w="9525">
            <a:solidFill>
              <a:srgbClr val="DCE5E7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4" name="矩形 13">
            <a:extLst>
              <a:ext uri="{FF2B5EF4-FFF2-40B4-BE49-F238E27FC236}">
                <a16:creationId xmlns:a16="http://schemas.microsoft.com/office/drawing/2014/main" id="{9B9ABA2B-61CA-49CD-A6C5-9E9D3B35DBD3}"/>
              </a:ext>
            </a:extLst>
          </p:cNvPr>
          <p:cNvSpPr>
            <a:spLocks noGrp="1"/>
          </p:cNvSpPr>
          <p:nvPr/>
        </p:nvSpPr>
        <p:spPr>
          <a:xfrm>
            <a:off x="4914900" y="1618735"/>
            <a:ext cx="57150" cy="1219200"/>
          </a:xfrm>
          <a:prstGeom prst="rect">
            <a:avLst/>
          </a:prstGeom>
          <a:solidFill>
            <a:srgbClr val="22A6C7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5" name="矩形 14">
            <a:extLst>
              <a:ext uri="{FF2B5EF4-FFF2-40B4-BE49-F238E27FC236}">
                <a16:creationId xmlns:a16="http://schemas.microsoft.com/office/drawing/2014/main" id="{A599724E-C7BD-4D4D-9548-DDE515BEDE13}"/>
              </a:ext>
            </a:extLst>
          </p:cNvPr>
          <p:cNvSpPr>
            <a:spLocks noGrp="1"/>
          </p:cNvSpPr>
          <p:nvPr/>
        </p:nvSpPr>
        <p:spPr>
          <a:xfrm>
            <a:off x="5086350" y="1752085"/>
            <a:ext cx="2038350" cy="2857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350" b="1">
                <a:solidFill>
                  <a:srgbClr val="17313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17313B"/>
                </a:solidFill>
                <a:latin typeface="Microsoft YaHei"/>
                <a:ea typeface="Microsoft YaHei"/>
                <a:cs typeface="Microsoft YaHei"/>
              </a:rPr>
              <a:t>连接中</a:t>
            </a:r>
          </a:p>
        </p:txBody>
      </p:sp>
      <p:sp>
        <p:nvSpPr>
          <p:cNvPr id="16" name="矩形 15">
            <a:extLst>
              <a:ext uri="{FF2B5EF4-FFF2-40B4-BE49-F238E27FC236}">
                <a16:creationId xmlns:a16="http://schemas.microsoft.com/office/drawing/2014/main" id="{9F2F4EF1-1DC1-47C8-AAED-DA7D104EB170}"/>
              </a:ext>
            </a:extLst>
          </p:cNvPr>
          <p:cNvSpPr>
            <a:spLocks noGrp="1"/>
          </p:cNvSpPr>
          <p:nvPr/>
        </p:nvSpPr>
        <p:spPr>
          <a:xfrm>
            <a:off x="5086350" y="2075935"/>
            <a:ext cx="2038350" cy="6667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088" b="0">
                <a:solidFill>
                  <a:srgbClr val="687A8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88" b="0">
                <a:solidFill>
                  <a:srgbClr val="687A84"/>
                </a:solidFill>
                <a:latin typeface="Microsoft YaHei"/>
                <a:ea typeface="Microsoft YaHei"/>
                <a:cs typeface="Microsoft YaHei"/>
              </a:rPr>
              <a:t>两端协商角色和通信方式，决定如何交换数据。</a:t>
            </a:r>
          </a:p>
        </p:txBody>
      </p:sp>
      <p:sp>
        <p:nvSpPr>
          <p:cNvPr id="17" name="矩形 16">
            <a:extLst>
              <a:ext uri="{FF2B5EF4-FFF2-40B4-BE49-F238E27FC236}">
                <a16:creationId xmlns:a16="http://schemas.microsoft.com/office/drawing/2014/main" id="{0B8F3A50-FBCA-464B-811D-2407EF44C8A6}"/>
              </a:ext>
            </a:extLst>
          </p:cNvPr>
          <p:cNvSpPr>
            <a:spLocks noGrp="1"/>
          </p:cNvSpPr>
          <p:nvPr/>
        </p:nvSpPr>
        <p:spPr>
          <a:xfrm>
            <a:off x="9048750" y="1618735"/>
            <a:ext cx="2381250" cy="1219200"/>
          </a:xfrm>
          <a:prstGeom prst="rect">
            <a:avLst/>
          </a:prstGeom>
          <a:solidFill>
            <a:srgbClr val="E8F8F3"/>
          </a:solidFill>
          <a:ln w="9525">
            <a:solidFill>
              <a:srgbClr val="DCE5E7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8" name="矩形 17">
            <a:extLst>
              <a:ext uri="{FF2B5EF4-FFF2-40B4-BE49-F238E27FC236}">
                <a16:creationId xmlns:a16="http://schemas.microsoft.com/office/drawing/2014/main" id="{A3D09856-6206-407D-AE67-AF0E0D5EB037}"/>
              </a:ext>
            </a:extLst>
          </p:cNvPr>
          <p:cNvSpPr>
            <a:spLocks noGrp="1"/>
          </p:cNvSpPr>
          <p:nvPr/>
        </p:nvSpPr>
        <p:spPr>
          <a:xfrm>
            <a:off x="9048750" y="1618735"/>
            <a:ext cx="57150" cy="1219200"/>
          </a:xfrm>
          <a:prstGeom prst="rect">
            <a:avLst/>
          </a:prstGeom>
          <a:solidFill>
            <a:srgbClr val="18C7A3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9" name="矩形 18">
            <a:extLst>
              <a:ext uri="{FF2B5EF4-FFF2-40B4-BE49-F238E27FC236}">
                <a16:creationId xmlns:a16="http://schemas.microsoft.com/office/drawing/2014/main" id="{EF35FD14-71C6-455D-827B-E52376A67029}"/>
              </a:ext>
            </a:extLst>
          </p:cNvPr>
          <p:cNvSpPr>
            <a:spLocks noGrp="1"/>
          </p:cNvSpPr>
          <p:nvPr/>
        </p:nvSpPr>
        <p:spPr>
          <a:xfrm>
            <a:off x="9220200" y="1752085"/>
            <a:ext cx="2038350" cy="2857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350" b="1">
                <a:solidFill>
                  <a:srgbClr val="17313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17313B"/>
                </a:solidFill>
                <a:latin typeface="Microsoft YaHei"/>
                <a:ea typeface="Microsoft YaHei"/>
                <a:cs typeface="Microsoft YaHei"/>
              </a:rPr>
              <a:t>连接后</a:t>
            </a:r>
          </a:p>
        </p:txBody>
      </p:sp>
      <p:sp>
        <p:nvSpPr>
          <p:cNvPr id="20" name="矩形 19">
            <a:extLst>
              <a:ext uri="{FF2B5EF4-FFF2-40B4-BE49-F238E27FC236}">
                <a16:creationId xmlns:a16="http://schemas.microsoft.com/office/drawing/2014/main" id="{7E4AD5B3-F83C-4178-8934-CB1EF7EB62BB}"/>
              </a:ext>
            </a:extLst>
          </p:cNvPr>
          <p:cNvSpPr>
            <a:spLocks noGrp="1"/>
          </p:cNvSpPr>
          <p:nvPr/>
        </p:nvSpPr>
        <p:spPr>
          <a:xfrm>
            <a:off x="9220200" y="2075935"/>
            <a:ext cx="2038350" cy="6667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088" b="0">
                <a:solidFill>
                  <a:srgbClr val="687A8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88" b="0">
                <a:solidFill>
                  <a:srgbClr val="687A84"/>
                </a:solidFill>
                <a:latin typeface="Microsoft YaHei"/>
                <a:ea typeface="Microsoft YaHei"/>
                <a:cs typeface="Microsoft YaHei"/>
              </a:rPr>
              <a:t>真正的差异出现：可能是字节流，也可能是服务字段。</a:t>
            </a:r>
          </a:p>
        </p:txBody>
      </p:sp>
      <p:sp>
        <p:nvSpPr>
          <p:cNvPr id="21" name="矩形 20">
            <a:extLst>
              <a:ext uri="{FF2B5EF4-FFF2-40B4-BE49-F238E27FC236}">
                <a16:creationId xmlns:a16="http://schemas.microsoft.com/office/drawing/2014/main" id="{A9B11D9D-62E3-4F87-B49E-781F77F5D58D}"/>
              </a:ext>
            </a:extLst>
          </p:cNvPr>
          <p:cNvSpPr>
            <a:spLocks noGrp="1"/>
          </p:cNvSpPr>
          <p:nvPr/>
        </p:nvSpPr>
        <p:spPr>
          <a:xfrm>
            <a:off x="3162300" y="2218810"/>
            <a:ext cx="1752600" cy="19050"/>
          </a:xfrm>
          <a:prstGeom prst="rect">
            <a:avLst/>
          </a:prstGeom>
          <a:solidFill>
            <a:srgbClr val="22A6C7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2" name="矩形 21">
            <a:extLst>
              <a:ext uri="{FF2B5EF4-FFF2-40B4-BE49-F238E27FC236}">
                <a16:creationId xmlns:a16="http://schemas.microsoft.com/office/drawing/2014/main" id="{F54B1AFE-FDA7-4F32-9B22-51DFA8E758E6}"/>
              </a:ext>
            </a:extLst>
          </p:cNvPr>
          <p:cNvSpPr>
            <a:spLocks noGrp="1"/>
          </p:cNvSpPr>
          <p:nvPr/>
        </p:nvSpPr>
        <p:spPr>
          <a:xfrm>
            <a:off x="4781550" y="2104510"/>
            <a:ext cx="247650" cy="2476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ctr"/>
          <a:lstStyle/>
          <a:p>
            <a:pPr algn="ctr">
              <a:defRPr sz="1275" b="1">
                <a:solidFill>
                  <a:srgbClr val="22A6C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1">
                <a:solidFill>
                  <a:srgbClr val="22A6C7"/>
                </a:solidFill>
                <a:latin typeface="Microsoft YaHei"/>
                <a:ea typeface="Microsoft YaHei"/>
                <a:cs typeface="Microsoft YaHei"/>
              </a:rPr>
              <a:t>&gt;</a:t>
            </a:r>
          </a:p>
        </p:txBody>
      </p:sp>
      <p:sp>
        <p:nvSpPr>
          <p:cNvPr id="23" name="矩形 22">
            <a:extLst>
              <a:ext uri="{FF2B5EF4-FFF2-40B4-BE49-F238E27FC236}">
                <a16:creationId xmlns:a16="http://schemas.microsoft.com/office/drawing/2014/main" id="{AEF87499-03A2-4A85-AD7B-DB9F30C78ABB}"/>
              </a:ext>
            </a:extLst>
          </p:cNvPr>
          <p:cNvSpPr>
            <a:spLocks noGrp="1"/>
          </p:cNvSpPr>
          <p:nvPr/>
        </p:nvSpPr>
        <p:spPr>
          <a:xfrm>
            <a:off x="7296150" y="2218810"/>
            <a:ext cx="1752600" cy="19050"/>
          </a:xfrm>
          <a:prstGeom prst="rect">
            <a:avLst/>
          </a:prstGeom>
          <a:solidFill>
            <a:srgbClr val="22A6C7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4" name="矩形 23">
            <a:extLst>
              <a:ext uri="{FF2B5EF4-FFF2-40B4-BE49-F238E27FC236}">
                <a16:creationId xmlns:a16="http://schemas.microsoft.com/office/drawing/2014/main" id="{117101AE-CB32-4808-B1BB-2C97F5306E0C}"/>
              </a:ext>
            </a:extLst>
          </p:cNvPr>
          <p:cNvSpPr>
            <a:spLocks noGrp="1"/>
          </p:cNvSpPr>
          <p:nvPr/>
        </p:nvSpPr>
        <p:spPr>
          <a:xfrm>
            <a:off x="8915400" y="2104510"/>
            <a:ext cx="247650" cy="2476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ctr"/>
          <a:lstStyle/>
          <a:p>
            <a:pPr algn="ctr">
              <a:defRPr sz="1275" b="1">
                <a:solidFill>
                  <a:srgbClr val="22A6C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1">
                <a:solidFill>
                  <a:srgbClr val="22A6C7"/>
                </a:solidFill>
                <a:latin typeface="Microsoft YaHei"/>
                <a:ea typeface="Microsoft YaHei"/>
                <a:cs typeface="Microsoft YaHei"/>
              </a:rPr>
              <a:t>&gt;</a:t>
            </a:r>
          </a:p>
        </p:txBody>
      </p:sp>
      <p:sp>
        <p:nvSpPr>
          <p:cNvPr id="25" name="矩形 24">
            <a:extLst>
              <a:ext uri="{FF2B5EF4-FFF2-40B4-BE49-F238E27FC236}">
                <a16:creationId xmlns:a16="http://schemas.microsoft.com/office/drawing/2014/main" id="{F6444D65-0C66-414B-A31D-C01F944D20B3}"/>
              </a:ext>
            </a:extLst>
          </p:cNvPr>
          <p:cNvSpPr>
            <a:spLocks noGrp="1"/>
          </p:cNvSpPr>
          <p:nvPr/>
        </p:nvSpPr>
        <p:spPr>
          <a:xfrm>
            <a:off x="1047750" y="3163619"/>
            <a:ext cx="10096500" cy="990600"/>
          </a:xfrm>
          <a:prstGeom prst="rect">
            <a:avLst/>
          </a:prstGeom>
          <a:solidFill>
            <a:srgbClr val="FFFFFF"/>
          </a:solidFill>
          <a:ln w="9525">
            <a:solidFill>
              <a:srgbClr val="DCE5E7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6" name="矩形 25">
            <a:extLst>
              <a:ext uri="{FF2B5EF4-FFF2-40B4-BE49-F238E27FC236}">
                <a16:creationId xmlns:a16="http://schemas.microsoft.com/office/drawing/2014/main" id="{EC179410-24DF-4774-93EC-E42D324CDB4D}"/>
              </a:ext>
            </a:extLst>
          </p:cNvPr>
          <p:cNvSpPr>
            <a:spLocks noGrp="1"/>
          </p:cNvSpPr>
          <p:nvPr/>
        </p:nvSpPr>
        <p:spPr>
          <a:xfrm>
            <a:off x="1333500" y="3363644"/>
            <a:ext cx="4381500" cy="4381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800" b="1">
                <a:solidFill>
                  <a:srgbClr val="17313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1" dirty="0" err="1">
                <a:solidFill>
                  <a:srgbClr val="17313B"/>
                </a:solidFill>
                <a:latin typeface="Microsoft YaHei"/>
                <a:ea typeface="Microsoft YaHei"/>
                <a:cs typeface="Microsoft YaHei"/>
              </a:rPr>
              <a:t>同一个“蓝牙”名字下面，有不同的通信模型</a:t>
            </a:r>
            <a:r>
              <a:rPr sz="1800" b="1" dirty="0">
                <a:solidFill>
                  <a:srgbClr val="17313B"/>
                </a:solidFill>
                <a:latin typeface="Microsoft YaHei"/>
                <a:ea typeface="Microsoft YaHei"/>
                <a:cs typeface="Microsoft YaHei"/>
              </a:rPr>
              <a:t>。</a:t>
            </a:r>
          </a:p>
        </p:txBody>
      </p:sp>
      <p:sp>
        <p:nvSpPr>
          <p:cNvPr id="27" name="矩形 26">
            <a:extLst>
              <a:ext uri="{FF2B5EF4-FFF2-40B4-BE49-F238E27FC236}">
                <a16:creationId xmlns:a16="http://schemas.microsoft.com/office/drawing/2014/main" id="{EC423AD2-E2DC-481A-91EA-3DFDB33E0202}"/>
              </a:ext>
            </a:extLst>
          </p:cNvPr>
          <p:cNvSpPr>
            <a:spLocks noGrp="1"/>
          </p:cNvSpPr>
          <p:nvPr/>
        </p:nvSpPr>
        <p:spPr>
          <a:xfrm>
            <a:off x="6096000" y="3325544"/>
            <a:ext cx="4476750" cy="5524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350" b="0">
                <a:solidFill>
                  <a:srgbClr val="687A8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 dirty="0" err="1">
                <a:solidFill>
                  <a:srgbClr val="687A84"/>
                </a:solidFill>
                <a:latin typeface="Microsoft YaHei"/>
                <a:ea typeface="Microsoft YaHei"/>
                <a:cs typeface="Microsoft YaHei"/>
              </a:rPr>
              <a:t>本课只对比和项目有关的两种：经典蓝牙</a:t>
            </a:r>
            <a:r>
              <a:rPr sz="1350" b="0" dirty="0">
                <a:solidFill>
                  <a:srgbClr val="687A84"/>
                </a:solidFill>
                <a:latin typeface="Microsoft YaHei"/>
                <a:ea typeface="Microsoft YaHei"/>
                <a:cs typeface="Microsoft YaHei"/>
              </a:rPr>
              <a:t> </a:t>
            </a:r>
            <a:r>
              <a:rPr sz="1350" b="0" dirty="0" err="1">
                <a:solidFill>
                  <a:srgbClr val="687A84"/>
                </a:solidFill>
                <a:latin typeface="Microsoft YaHei"/>
                <a:ea typeface="Microsoft YaHei"/>
                <a:cs typeface="Microsoft YaHei"/>
              </a:rPr>
              <a:t>SPP，以及</a:t>
            </a:r>
            <a:r>
              <a:rPr sz="1350" b="0" dirty="0">
                <a:solidFill>
                  <a:srgbClr val="687A84"/>
                </a:solidFill>
                <a:latin typeface="Microsoft YaHei"/>
                <a:ea typeface="Microsoft YaHei"/>
                <a:cs typeface="Microsoft YaHei"/>
              </a:rPr>
              <a:t> BLE GATT。</a:t>
            </a:r>
          </a:p>
        </p:txBody>
      </p:sp>
      <p:sp>
        <p:nvSpPr>
          <p:cNvPr id="31" name="文本框 30">
            <a:extLst>
              <a:ext uri="{FF2B5EF4-FFF2-40B4-BE49-F238E27FC236}">
                <a16:creationId xmlns:a16="http://schemas.microsoft.com/office/drawing/2014/main" id="{08C92832-6A11-EC72-CA40-B47A13E630C7}"/>
              </a:ext>
            </a:extLst>
          </p:cNvPr>
          <p:cNvSpPr txBox="1"/>
          <p:nvPr/>
        </p:nvSpPr>
        <p:spPr>
          <a:xfrm>
            <a:off x="1047750" y="4522541"/>
            <a:ext cx="6098796" cy="1231106"/>
          </a:xfrm>
          <a:prstGeom prst="rect">
            <a:avLst/>
          </a:prstGeom>
          <a:solidFill>
            <a:schemeClr val="bg1"/>
          </a:solidFill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buNone/>
            </a:pPr>
            <a:r>
              <a:rPr lang="zh-CN" altLang="zh-CN" b="1" dirty="0">
                <a:solidFill>
                  <a:srgbClr val="17313B"/>
                </a:solidFill>
                <a:latin typeface="Microsoft YaHei"/>
                <a:ea typeface="Microsoft YaHei"/>
              </a:rPr>
              <a:t>蓝牙中涉及通用数据传输协议的有两种：</a:t>
            </a:r>
          </a:p>
          <a:p>
            <a:pPr marL="342900" lvl="0" indent="-342900" algn="l">
              <a:spcBef>
                <a:spcPts val="600"/>
              </a:spcBef>
              <a:buSzPts val="1000"/>
              <a:buFont typeface="Symbol" panose="05050102010706020507" pitchFamily="18" charset="2"/>
              <a:buChar char=""/>
              <a:tabLst>
                <a:tab pos="457200" algn="l"/>
              </a:tabLst>
            </a:pPr>
            <a:r>
              <a:rPr lang="en-US" altLang="zh-CN" b="1" dirty="0">
                <a:solidFill>
                  <a:srgbClr val="17313B"/>
                </a:solidFill>
                <a:latin typeface="Microsoft YaHei"/>
                <a:ea typeface="Microsoft YaHei"/>
              </a:rPr>
              <a:t>SPP(Serial Port Profile)</a:t>
            </a:r>
            <a:r>
              <a:rPr lang="zh-CN" altLang="zh-CN" b="1" dirty="0">
                <a:solidFill>
                  <a:srgbClr val="17313B"/>
                </a:solidFill>
                <a:latin typeface="Microsoft YaHei"/>
                <a:ea typeface="Microsoft YaHei"/>
              </a:rPr>
              <a:t>协议</a:t>
            </a:r>
          </a:p>
          <a:p>
            <a:pPr marL="342900" lvl="0" indent="-342900" algn="l">
              <a:spcBef>
                <a:spcPts val="600"/>
              </a:spcBef>
              <a:buSzPts val="1000"/>
              <a:buFont typeface="Symbol" panose="05050102010706020507" pitchFamily="18" charset="2"/>
              <a:buChar char=""/>
              <a:tabLst>
                <a:tab pos="457200" algn="l"/>
              </a:tabLst>
            </a:pPr>
            <a:r>
              <a:rPr lang="en-US" altLang="zh-CN" b="1" dirty="0">
                <a:solidFill>
                  <a:srgbClr val="17313B"/>
                </a:solidFill>
                <a:latin typeface="Microsoft YaHei"/>
                <a:ea typeface="Microsoft YaHei"/>
              </a:rPr>
              <a:t>BLE(Bluetooth low energy)</a:t>
            </a:r>
            <a:r>
              <a:rPr lang="zh-CN" altLang="zh-CN" b="1" dirty="0">
                <a:solidFill>
                  <a:srgbClr val="17313B"/>
                </a:solidFill>
                <a:latin typeface="Microsoft YaHei"/>
                <a:ea typeface="Microsoft YaHei"/>
              </a:rPr>
              <a:t>协议</a:t>
            </a:r>
          </a:p>
        </p:txBody>
      </p:sp>
    </p:spTree>
    <p:extLst>
      <p:ext uri="{BB962C8B-B14F-4D97-AF65-F5344CB8AC3E}">
        <p14:creationId xmlns:p14="http://schemas.microsoft.com/office/powerpoint/2010/main" val="128389752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矩形 30">
            <a:extLst>
              <a:ext uri="{FF2B5EF4-FFF2-40B4-BE49-F238E27FC236}">
                <a16:creationId xmlns:a16="http://schemas.microsoft.com/office/drawing/2014/main" id="{33DD819F-EDAF-4520-9F26-8FB2815C33B9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6F3EA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" name="矩形 1">
            <a:extLst>
              <a:ext uri="{FF2B5EF4-FFF2-40B4-BE49-F238E27FC236}">
                <a16:creationId xmlns:a16="http://schemas.microsoft.com/office/drawing/2014/main" id="{B5D90141-F745-47E3-81E5-F75B708A12D1}"/>
              </a:ext>
            </a:extLst>
          </p:cNvPr>
          <p:cNvSpPr>
            <a:spLocks noGrp="1"/>
          </p:cNvSpPr>
          <p:nvPr/>
        </p:nvSpPr>
        <p:spPr>
          <a:xfrm>
            <a:off x="419100" y="323850"/>
            <a:ext cx="95250" cy="190500"/>
          </a:xfrm>
          <a:prstGeom prst="rect">
            <a:avLst/>
          </a:prstGeom>
          <a:solidFill>
            <a:srgbClr val="22A6C7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EC9D79FA-3076-4ADD-87E8-E442B6E36530}"/>
              </a:ext>
            </a:extLst>
          </p:cNvPr>
          <p:cNvSpPr>
            <a:spLocks noGrp="1"/>
          </p:cNvSpPr>
          <p:nvPr/>
        </p:nvSpPr>
        <p:spPr>
          <a:xfrm>
            <a:off x="590550" y="266700"/>
            <a:ext cx="4095750" cy="3238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ctr"/>
          <a:lstStyle/>
          <a:p>
            <a:pPr algn="l">
              <a:defRPr sz="1125" b="1">
                <a:solidFill>
                  <a:srgbClr val="687A8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1">
                <a:solidFill>
                  <a:srgbClr val="687A84"/>
                </a:solidFill>
                <a:latin typeface="Microsoft YaHei"/>
                <a:ea typeface="Microsoft YaHei"/>
                <a:cs typeface="Microsoft YaHei"/>
              </a:rPr>
              <a:t>CLASSIC BLUETOOTH SPP</a:t>
            </a:r>
          </a:p>
        </p:txBody>
      </p:sp>
      <p:sp>
        <p:nvSpPr>
          <p:cNvPr id="4" name="矩形 3">
            <a:extLst>
              <a:ext uri="{FF2B5EF4-FFF2-40B4-BE49-F238E27FC236}">
                <a16:creationId xmlns:a16="http://schemas.microsoft.com/office/drawing/2014/main" id="{4E35084B-1EBE-4EF4-84D9-F84ABB56CB00}"/>
              </a:ext>
            </a:extLst>
          </p:cNvPr>
          <p:cNvSpPr>
            <a:spLocks noGrp="1"/>
          </p:cNvSpPr>
          <p:nvPr/>
        </p:nvSpPr>
        <p:spPr>
          <a:xfrm>
            <a:off x="419100" y="685800"/>
            <a:ext cx="10763250" cy="7810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2400" b="1">
                <a:solidFill>
                  <a:srgbClr val="17313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400" b="1">
                <a:solidFill>
                  <a:srgbClr val="17313B"/>
                </a:solidFill>
                <a:latin typeface="Microsoft YaHei"/>
                <a:ea typeface="Microsoft YaHei"/>
                <a:cs typeface="Microsoft YaHei"/>
              </a:rPr>
              <a:t>SPP 可以先理解成：把一根串口线换成无线。</a:t>
            </a:r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6D672ED0-05D9-4C87-9FD6-85CF6E4FA417}"/>
              </a:ext>
            </a:extLst>
          </p:cNvPr>
          <p:cNvSpPr>
            <a:spLocks noGrp="1"/>
          </p:cNvSpPr>
          <p:nvPr/>
        </p:nvSpPr>
        <p:spPr>
          <a:xfrm>
            <a:off x="752475" y="1966913"/>
            <a:ext cx="8858250" cy="3238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200" b="0">
                <a:solidFill>
                  <a:srgbClr val="687A8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 dirty="0" err="1">
                <a:solidFill>
                  <a:srgbClr val="687A84"/>
                </a:solidFill>
                <a:latin typeface="Microsoft YaHei"/>
                <a:ea typeface="Microsoft YaHei"/>
                <a:cs typeface="Microsoft YaHei"/>
              </a:rPr>
              <a:t>这就是很多单片机项目喜欢</a:t>
            </a:r>
            <a:r>
              <a:rPr sz="1200" b="0" dirty="0">
                <a:solidFill>
                  <a:srgbClr val="687A84"/>
                </a:solidFill>
                <a:latin typeface="Microsoft YaHei"/>
                <a:ea typeface="Microsoft YaHei"/>
                <a:cs typeface="Microsoft YaHei"/>
              </a:rPr>
              <a:t> SPP </a:t>
            </a:r>
            <a:r>
              <a:rPr sz="1200" b="0" dirty="0" err="1">
                <a:solidFill>
                  <a:srgbClr val="687A84"/>
                </a:solidFill>
                <a:latin typeface="Microsoft YaHei"/>
                <a:ea typeface="Microsoft YaHei"/>
                <a:cs typeface="Microsoft YaHei"/>
              </a:rPr>
              <a:t>的原因：思维模型接近</a:t>
            </a:r>
            <a:r>
              <a:rPr sz="1200" b="0" dirty="0">
                <a:solidFill>
                  <a:srgbClr val="687A84"/>
                </a:solidFill>
                <a:latin typeface="Microsoft YaHei"/>
                <a:ea typeface="Microsoft YaHei"/>
                <a:cs typeface="Microsoft YaHei"/>
              </a:rPr>
              <a:t> </a:t>
            </a:r>
            <a:r>
              <a:rPr sz="1200" b="0" dirty="0" err="1">
                <a:solidFill>
                  <a:srgbClr val="687A84"/>
                </a:solidFill>
                <a:latin typeface="Microsoft YaHei"/>
                <a:ea typeface="Microsoft YaHei"/>
                <a:cs typeface="Microsoft YaHei"/>
              </a:rPr>
              <a:t>Serial.print</a:t>
            </a:r>
            <a:r>
              <a:rPr sz="1200" b="0" dirty="0">
                <a:solidFill>
                  <a:srgbClr val="687A84"/>
                </a:solidFill>
                <a:latin typeface="Microsoft YaHei"/>
                <a:ea typeface="Microsoft YaHei"/>
                <a:cs typeface="Microsoft YaHei"/>
              </a:rPr>
              <a:t>。</a:t>
            </a:r>
          </a:p>
        </p:txBody>
      </p:sp>
      <p:sp>
        <p:nvSpPr>
          <p:cNvPr id="6" name="矩形 5">
            <a:extLst>
              <a:ext uri="{FF2B5EF4-FFF2-40B4-BE49-F238E27FC236}">
                <a16:creationId xmlns:a16="http://schemas.microsoft.com/office/drawing/2014/main" id="{FF90D7F4-7A96-42CA-AC62-EAE8AB2E36E6}"/>
              </a:ext>
            </a:extLst>
          </p:cNvPr>
          <p:cNvSpPr>
            <a:spLocks noGrp="1"/>
          </p:cNvSpPr>
          <p:nvPr/>
        </p:nvSpPr>
        <p:spPr>
          <a:xfrm>
            <a:off x="419100" y="6438900"/>
            <a:ext cx="8572500" cy="9525"/>
          </a:xfrm>
          <a:prstGeom prst="rect">
            <a:avLst/>
          </a:prstGeom>
          <a:solidFill>
            <a:srgbClr val="D6DEE1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7" name="矩形 6">
            <a:extLst>
              <a:ext uri="{FF2B5EF4-FFF2-40B4-BE49-F238E27FC236}">
                <a16:creationId xmlns:a16="http://schemas.microsoft.com/office/drawing/2014/main" id="{2E2A6A8A-62C6-4D5A-B54D-35F107571AF3}"/>
              </a:ext>
            </a:extLst>
          </p:cNvPr>
          <p:cNvSpPr>
            <a:spLocks noGrp="1"/>
          </p:cNvSpPr>
          <p:nvPr/>
        </p:nvSpPr>
        <p:spPr>
          <a:xfrm>
            <a:off x="419100" y="6515100"/>
            <a:ext cx="8572500" cy="1905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675" b="0">
                <a:solidFill>
                  <a:srgbClr val="7C8A9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675" b="0">
                <a:solidFill>
                  <a:srgbClr val="7C8A90"/>
                </a:solidFill>
                <a:latin typeface="Microsoft YaHei"/>
                <a:ea typeface="Microsoft YaHei"/>
                <a:cs typeface="Microsoft YaHei"/>
              </a:rPr>
              <a:t>Source: Arduino / WeChat Mini Program source code; WeChat Mini Program BLE API docs</a:t>
            </a:r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95F6796A-268D-4D79-BAA7-19E13AE33F3A}"/>
              </a:ext>
            </a:extLst>
          </p:cNvPr>
          <p:cNvSpPr>
            <a:spLocks noGrp="1"/>
          </p:cNvSpPr>
          <p:nvPr/>
        </p:nvSpPr>
        <p:spPr>
          <a:xfrm>
            <a:off x="11334750" y="6496050"/>
            <a:ext cx="419100" cy="2095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r">
              <a:defRPr sz="825" b="0">
                <a:solidFill>
                  <a:srgbClr val="7C8A9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825" b="0">
                <a:solidFill>
                  <a:srgbClr val="7C8A90"/>
                </a:solidFill>
                <a:latin typeface="Microsoft YaHei"/>
                <a:ea typeface="Microsoft YaHei"/>
                <a:cs typeface="Microsoft YaHei"/>
              </a:rPr>
              <a:t>03</a:t>
            </a:r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8D7820F2-BCBE-49CA-95DD-513A9192FAD2}"/>
              </a:ext>
            </a:extLst>
          </p:cNvPr>
          <p:cNvSpPr>
            <a:spLocks noGrp="1"/>
          </p:cNvSpPr>
          <p:nvPr/>
        </p:nvSpPr>
        <p:spPr>
          <a:xfrm>
            <a:off x="723900" y="2400300"/>
            <a:ext cx="2381250" cy="1276350"/>
          </a:xfrm>
          <a:prstGeom prst="rect">
            <a:avLst/>
          </a:prstGeom>
          <a:solidFill>
            <a:srgbClr val="FFFFFF"/>
          </a:solidFill>
          <a:ln w="9525">
            <a:solidFill>
              <a:srgbClr val="DCE5E7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E3DA341B-B8B2-4ABF-90AB-22E2572E180B}"/>
              </a:ext>
            </a:extLst>
          </p:cNvPr>
          <p:cNvSpPr>
            <a:spLocks noGrp="1"/>
          </p:cNvSpPr>
          <p:nvPr/>
        </p:nvSpPr>
        <p:spPr>
          <a:xfrm>
            <a:off x="723900" y="2400300"/>
            <a:ext cx="57150" cy="1276350"/>
          </a:xfrm>
          <a:prstGeom prst="rect">
            <a:avLst/>
          </a:prstGeom>
          <a:solidFill>
            <a:srgbClr val="F2A23A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1" name="矩形 10">
            <a:extLst>
              <a:ext uri="{FF2B5EF4-FFF2-40B4-BE49-F238E27FC236}">
                <a16:creationId xmlns:a16="http://schemas.microsoft.com/office/drawing/2014/main" id="{E44C5856-FFE6-457F-BECC-ECC68750102A}"/>
              </a:ext>
            </a:extLst>
          </p:cNvPr>
          <p:cNvSpPr>
            <a:spLocks noGrp="1"/>
          </p:cNvSpPr>
          <p:nvPr/>
        </p:nvSpPr>
        <p:spPr>
          <a:xfrm>
            <a:off x="895350" y="2533650"/>
            <a:ext cx="2038350" cy="2857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350" b="1">
                <a:solidFill>
                  <a:srgbClr val="17313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17313B"/>
                </a:solidFill>
                <a:latin typeface="Microsoft YaHei"/>
                <a:ea typeface="Microsoft YaHei"/>
                <a:cs typeface="Microsoft YaHei"/>
              </a:rPr>
              <a:t>单片机侧</a:t>
            </a:r>
          </a:p>
        </p:txBody>
      </p:sp>
      <p:sp>
        <p:nvSpPr>
          <p:cNvPr id="12" name="矩形 11">
            <a:extLst>
              <a:ext uri="{FF2B5EF4-FFF2-40B4-BE49-F238E27FC236}">
                <a16:creationId xmlns:a16="http://schemas.microsoft.com/office/drawing/2014/main" id="{1E78045D-62A6-4682-8BF7-9DAAF4EBDE31}"/>
              </a:ext>
            </a:extLst>
          </p:cNvPr>
          <p:cNvSpPr>
            <a:spLocks noGrp="1"/>
          </p:cNvSpPr>
          <p:nvPr/>
        </p:nvSpPr>
        <p:spPr>
          <a:xfrm>
            <a:off x="895350" y="2857500"/>
            <a:ext cx="2038350" cy="7239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088" b="0">
                <a:solidFill>
                  <a:srgbClr val="687A8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88" b="0">
                <a:solidFill>
                  <a:srgbClr val="687A84"/>
                </a:solidFill>
                <a:latin typeface="Microsoft YaHei"/>
                <a:ea typeface="Microsoft YaHei"/>
                <a:cs typeface="Microsoft YaHei"/>
              </a:rPr>
              <a:t>UART TX/RX</a:t>
            </a:r>
          </a:p>
          <a:p>
            <a:pPr algn="l">
              <a:defRPr sz="1088" b="0">
                <a:solidFill>
                  <a:srgbClr val="687A8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88" b="0">
                <a:solidFill>
                  <a:srgbClr val="687A84"/>
                </a:solidFill>
                <a:latin typeface="Microsoft YaHei"/>
                <a:ea typeface="Microsoft YaHei"/>
                <a:cs typeface="Microsoft YaHei"/>
              </a:rPr>
              <a:t>一串连续字节</a:t>
            </a:r>
          </a:p>
          <a:p>
            <a:pPr algn="l">
              <a:defRPr sz="1088" b="0">
                <a:solidFill>
                  <a:srgbClr val="687A8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88" b="0">
                <a:solidFill>
                  <a:srgbClr val="687A84"/>
                </a:solidFill>
                <a:latin typeface="Microsoft YaHei"/>
                <a:ea typeface="Microsoft YaHei"/>
                <a:cs typeface="Microsoft YaHei"/>
              </a:rPr>
              <a:t>Serial.print(...)</a:t>
            </a:r>
          </a:p>
        </p:txBody>
      </p:sp>
      <p:sp>
        <p:nvSpPr>
          <p:cNvPr id="13" name="矩形 12">
            <a:extLst>
              <a:ext uri="{FF2B5EF4-FFF2-40B4-BE49-F238E27FC236}">
                <a16:creationId xmlns:a16="http://schemas.microsoft.com/office/drawing/2014/main" id="{AAAE088A-A992-46AB-A7A7-0D95101BBBFA}"/>
              </a:ext>
            </a:extLst>
          </p:cNvPr>
          <p:cNvSpPr>
            <a:spLocks noGrp="1"/>
          </p:cNvSpPr>
          <p:nvPr/>
        </p:nvSpPr>
        <p:spPr>
          <a:xfrm>
            <a:off x="4857750" y="2400300"/>
            <a:ext cx="2381250" cy="1276350"/>
          </a:xfrm>
          <a:prstGeom prst="rect">
            <a:avLst/>
          </a:prstGeom>
          <a:solidFill>
            <a:srgbClr val="E7F6FA"/>
          </a:solidFill>
          <a:ln w="9525">
            <a:solidFill>
              <a:srgbClr val="DCE5E7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4" name="矩形 13">
            <a:extLst>
              <a:ext uri="{FF2B5EF4-FFF2-40B4-BE49-F238E27FC236}">
                <a16:creationId xmlns:a16="http://schemas.microsoft.com/office/drawing/2014/main" id="{A17E6ED6-A19E-4D1A-857E-E031F3AB80A6}"/>
              </a:ext>
            </a:extLst>
          </p:cNvPr>
          <p:cNvSpPr>
            <a:spLocks noGrp="1"/>
          </p:cNvSpPr>
          <p:nvPr/>
        </p:nvSpPr>
        <p:spPr>
          <a:xfrm>
            <a:off x="4857750" y="2400300"/>
            <a:ext cx="57150" cy="1276350"/>
          </a:xfrm>
          <a:prstGeom prst="rect">
            <a:avLst/>
          </a:prstGeom>
          <a:solidFill>
            <a:srgbClr val="22A6C7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5" name="矩形 14">
            <a:extLst>
              <a:ext uri="{FF2B5EF4-FFF2-40B4-BE49-F238E27FC236}">
                <a16:creationId xmlns:a16="http://schemas.microsoft.com/office/drawing/2014/main" id="{DC4E1A96-0742-4278-8184-11B5E2D30CBE}"/>
              </a:ext>
            </a:extLst>
          </p:cNvPr>
          <p:cNvSpPr>
            <a:spLocks noGrp="1"/>
          </p:cNvSpPr>
          <p:nvPr/>
        </p:nvSpPr>
        <p:spPr>
          <a:xfrm>
            <a:off x="5029200" y="2533650"/>
            <a:ext cx="2038350" cy="2857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350" b="1">
                <a:solidFill>
                  <a:srgbClr val="17313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17313B"/>
                </a:solidFill>
                <a:latin typeface="Microsoft YaHei"/>
                <a:ea typeface="Microsoft YaHei"/>
                <a:cs typeface="Microsoft YaHei"/>
              </a:rPr>
              <a:t>SPP 链路</a:t>
            </a:r>
          </a:p>
        </p:txBody>
      </p:sp>
      <p:sp>
        <p:nvSpPr>
          <p:cNvPr id="16" name="矩形 15">
            <a:extLst>
              <a:ext uri="{FF2B5EF4-FFF2-40B4-BE49-F238E27FC236}">
                <a16:creationId xmlns:a16="http://schemas.microsoft.com/office/drawing/2014/main" id="{DDC16DC6-4CC3-48BB-8AD6-43CDA7EC81E6}"/>
              </a:ext>
            </a:extLst>
          </p:cNvPr>
          <p:cNvSpPr>
            <a:spLocks noGrp="1"/>
          </p:cNvSpPr>
          <p:nvPr/>
        </p:nvSpPr>
        <p:spPr>
          <a:xfrm>
            <a:off x="5029200" y="2857500"/>
            <a:ext cx="2038350" cy="7239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088" b="0">
                <a:solidFill>
                  <a:srgbClr val="687A8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88" b="0">
                <a:solidFill>
                  <a:srgbClr val="687A84"/>
                </a:solidFill>
                <a:latin typeface="Microsoft YaHei"/>
                <a:ea typeface="Microsoft YaHei"/>
                <a:cs typeface="Microsoft YaHei"/>
              </a:rPr>
              <a:t>配对后像打开一个</a:t>
            </a:r>
          </a:p>
          <a:p>
            <a:pPr algn="l">
              <a:defRPr sz="1088" b="0">
                <a:solidFill>
                  <a:srgbClr val="687A8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88" b="0">
                <a:solidFill>
                  <a:srgbClr val="687A84"/>
                </a:solidFill>
                <a:latin typeface="Microsoft YaHei"/>
                <a:ea typeface="Microsoft YaHei"/>
                <a:cs typeface="Microsoft YaHei"/>
              </a:rPr>
              <a:t>无线串口通道</a:t>
            </a:r>
          </a:p>
        </p:txBody>
      </p:sp>
      <p:sp>
        <p:nvSpPr>
          <p:cNvPr id="17" name="矩形 16">
            <a:extLst>
              <a:ext uri="{FF2B5EF4-FFF2-40B4-BE49-F238E27FC236}">
                <a16:creationId xmlns:a16="http://schemas.microsoft.com/office/drawing/2014/main" id="{D3E86AD1-4608-41DD-AD00-F7CDC8830F61}"/>
              </a:ext>
            </a:extLst>
          </p:cNvPr>
          <p:cNvSpPr>
            <a:spLocks noGrp="1"/>
          </p:cNvSpPr>
          <p:nvPr/>
        </p:nvSpPr>
        <p:spPr>
          <a:xfrm>
            <a:off x="8991600" y="2400300"/>
            <a:ext cx="2381250" cy="1276350"/>
          </a:xfrm>
          <a:prstGeom prst="rect">
            <a:avLst/>
          </a:prstGeom>
          <a:solidFill>
            <a:srgbClr val="FFFFFF"/>
          </a:solidFill>
          <a:ln w="9525">
            <a:solidFill>
              <a:srgbClr val="DCE5E7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8" name="矩形 17">
            <a:extLst>
              <a:ext uri="{FF2B5EF4-FFF2-40B4-BE49-F238E27FC236}">
                <a16:creationId xmlns:a16="http://schemas.microsoft.com/office/drawing/2014/main" id="{4F7D1A91-C787-49AC-83B6-5A2B4A63A4C2}"/>
              </a:ext>
            </a:extLst>
          </p:cNvPr>
          <p:cNvSpPr>
            <a:spLocks noGrp="1"/>
          </p:cNvSpPr>
          <p:nvPr/>
        </p:nvSpPr>
        <p:spPr>
          <a:xfrm>
            <a:off x="8991600" y="2400300"/>
            <a:ext cx="57150" cy="1276350"/>
          </a:xfrm>
          <a:prstGeom prst="rect">
            <a:avLst/>
          </a:prstGeom>
          <a:solidFill>
            <a:srgbClr val="18C7A3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9" name="矩形 18">
            <a:extLst>
              <a:ext uri="{FF2B5EF4-FFF2-40B4-BE49-F238E27FC236}">
                <a16:creationId xmlns:a16="http://schemas.microsoft.com/office/drawing/2014/main" id="{4345603E-0F08-424D-843A-36CE5271E515}"/>
              </a:ext>
            </a:extLst>
          </p:cNvPr>
          <p:cNvSpPr>
            <a:spLocks noGrp="1"/>
          </p:cNvSpPr>
          <p:nvPr/>
        </p:nvSpPr>
        <p:spPr>
          <a:xfrm>
            <a:off x="9163050" y="2533650"/>
            <a:ext cx="2038350" cy="2857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350" b="1">
                <a:solidFill>
                  <a:srgbClr val="17313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17313B"/>
                </a:solidFill>
                <a:latin typeface="Microsoft YaHei"/>
                <a:ea typeface="Microsoft YaHei"/>
                <a:cs typeface="Microsoft YaHei"/>
              </a:rPr>
              <a:t>手机 App 侧</a:t>
            </a:r>
          </a:p>
        </p:txBody>
      </p:sp>
      <p:sp>
        <p:nvSpPr>
          <p:cNvPr id="20" name="矩形 19">
            <a:extLst>
              <a:ext uri="{FF2B5EF4-FFF2-40B4-BE49-F238E27FC236}">
                <a16:creationId xmlns:a16="http://schemas.microsoft.com/office/drawing/2014/main" id="{1B8ECDB1-B5C7-4D18-A360-F19FA54F4320}"/>
              </a:ext>
            </a:extLst>
          </p:cNvPr>
          <p:cNvSpPr>
            <a:spLocks noGrp="1"/>
          </p:cNvSpPr>
          <p:nvPr/>
        </p:nvSpPr>
        <p:spPr>
          <a:xfrm>
            <a:off x="9163050" y="2857500"/>
            <a:ext cx="2038350" cy="7239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088" b="0">
                <a:solidFill>
                  <a:srgbClr val="687A8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88" b="0">
                <a:solidFill>
                  <a:srgbClr val="687A84"/>
                </a:solidFill>
                <a:latin typeface="Microsoft YaHei"/>
                <a:ea typeface="Microsoft YaHei"/>
                <a:cs typeface="Microsoft YaHei"/>
              </a:rPr>
              <a:t>App 读取字节流</a:t>
            </a:r>
          </a:p>
          <a:p>
            <a:pPr algn="l">
              <a:defRPr sz="1088" b="0">
                <a:solidFill>
                  <a:srgbClr val="687A8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88" b="0">
                <a:solidFill>
                  <a:srgbClr val="687A84"/>
                </a:solidFill>
                <a:latin typeface="Microsoft YaHei"/>
                <a:ea typeface="Microsoft YaHei"/>
                <a:cs typeface="Microsoft YaHei"/>
              </a:rPr>
              <a:t>自己决定如何分包</a:t>
            </a:r>
          </a:p>
        </p:txBody>
      </p:sp>
      <p:sp>
        <p:nvSpPr>
          <p:cNvPr id="21" name="矩形 20">
            <a:extLst>
              <a:ext uri="{FF2B5EF4-FFF2-40B4-BE49-F238E27FC236}">
                <a16:creationId xmlns:a16="http://schemas.microsoft.com/office/drawing/2014/main" id="{9F0E4872-DBCE-4252-AF3A-64D91E8E6804}"/>
              </a:ext>
            </a:extLst>
          </p:cNvPr>
          <p:cNvSpPr>
            <a:spLocks noGrp="1"/>
          </p:cNvSpPr>
          <p:nvPr/>
        </p:nvSpPr>
        <p:spPr>
          <a:xfrm>
            <a:off x="3105150" y="3038475"/>
            <a:ext cx="1752600" cy="19050"/>
          </a:xfrm>
          <a:prstGeom prst="rect">
            <a:avLst/>
          </a:prstGeom>
          <a:solidFill>
            <a:srgbClr val="22A6C7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2" name="矩形 21">
            <a:extLst>
              <a:ext uri="{FF2B5EF4-FFF2-40B4-BE49-F238E27FC236}">
                <a16:creationId xmlns:a16="http://schemas.microsoft.com/office/drawing/2014/main" id="{A86696A3-762A-4A45-B4DF-760BDB3AA800}"/>
              </a:ext>
            </a:extLst>
          </p:cNvPr>
          <p:cNvSpPr>
            <a:spLocks noGrp="1"/>
          </p:cNvSpPr>
          <p:nvPr/>
        </p:nvSpPr>
        <p:spPr>
          <a:xfrm>
            <a:off x="4724400" y="2924175"/>
            <a:ext cx="247650" cy="2476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ctr"/>
          <a:lstStyle/>
          <a:p>
            <a:pPr algn="ctr">
              <a:defRPr sz="1275" b="1">
                <a:solidFill>
                  <a:srgbClr val="22A6C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1">
                <a:solidFill>
                  <a:srgbClr val="22A6C7"/>
                </a:solidFill>
                <a:latin typeface="Microsoft YaHei"/>
                <a:ea typeface="Microsoft YaHei"/>
                <a:cs typeface="Microsoft YaHei"/>
              </a:rPr>
              <a:t>&gt;</a:t>
            </a:r>
          </a:p>
        </p:txBody>
      </p:sp>
      <p:sp>
        <p:nvSpPr>
          <p:cNvPr id="23" name="矩形 22">
            <a:extLst>
              <a:ext uri="{FF2B5EF4-FFF2-40B4-BE49-F238E27FC236}">
                <a16:creationId xmlns:a16="http://schemas.microsoft.com/office/drawing/2014/main" id="{78D11BB9-C2F7-4C0F-91E3-52C7F54D2C97}"/>
              </a:ext>
            </a:extLst>
          </p:cNvPr>
          <p:cNvSpPr>
            <a:spLocks noGrp="1"/>
          </p:cNvSpPr>
          <p:nvPr/>
        </p:nvSpPr>
        <p:spPr>
          <a:xfrm>
            <a:off x="7239000" y="3038475"/>
            <a:ext cx="1752600" cy="19050"/>
          </a:xfrm>
          <a:prstGeom prst="rect">
            <a:avLst/>
          </a:prstGeom>
          <a:solidFill>
            <a:srgbClr val="22A6C7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4" name="矩形 23">
            <a:extLst>
              <a:ext uri="{FF2B5EF4-FFF2-40B4-BE49-F238E27FC236}">
                <a16:creationId xmlns:a16="http://schemas.microsoft.com/office/drawing/2014/main" id="{47074D02-1922-46C0-AFCD-09962CEAF68D}"/>
              </a:ext>
            </a:extLst>
          </p:cNvPr>
          <p:cNvSpPr>
            <a:spLocks noGrp="1"/>
          </p:cNvSpPr>
          <p:nvPr/>
        </p:nvSpPr>
        <p:spPr>
          <a:xfrm>
            <a:off x="8858250" y="2924175"/>
            <a:ext cx="247650" cy="2476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ctr"/>
          <a:lstStyle/>
          <a:p>
            <a:pPr algn="ctr">
              <a:defRPr sz="1275" b="1">
                <a:solidFill>
                  <a:srgbClr val="22A6C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1">
                <a:solidFill>
                  <a:srgbClr val="22A6C7"/>
                </a:solidFill>
                <a:latin typeface="Microsoft YaHei"/>
                <a:ea typeface="Microsoft YaHei"/>
                <a:cs typeface="Microsoft YaHei"/>
              </a:rPr>
              <a:t>&gt;</a:t>
            </a:r>
          </a:p>
        </p:txBody>
      </p:sp>
      <p:sp>
        <p:nvSpPr>
          <p:cNvPr id="25" name="矩形 24">
            <a:extLst>
              <a:ext uri="{FF2B5EF4-FFF2-40B4-BE49-F238E27FC236}">
                <a16:creationId xmlns:a16="http://schemas.microsoft.com/office/drawing/2014/main" id="{ADE231CC-F612-4154-A100-58B87A8950FA}"/>
              </a:ext>
            </a:extLst>
          </p:cNvPr>
          <p:cNvSpPr>
            <a:spLocks noGrp="1"/>
          </p:cNvSpPr>
          <p:nvPr/>
        </p:nvSpPr>
        <p:spPr>
          <a:xfrm>
            <a:off x="1104900" y="4438650"/>
            <a:ext cx="66675" cy="66675"/>
          </a:xfrm>
          <a:prstGeom prst="rect">
            <a:avLst/>
          </a:prstGeom>
          <a:solidFill>
            <a:srgbClr val="18C7A3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6" name="矩形 25">
            <a:extLst>
              <a:ext uri="{FF2B5EF4-FFF2-40B4-BE49-F238E27FC236}">
                <a16:creationId xmlns:a16="http://schemas.microsoft.com/office/drawing/2014/main" id="{317B9071-F66D-4D41-9638-D24D0ADCF543}"/>
              </a:ext>
            </a:extLst>
          </p:cNvPr>
          <p:cNvSpPr>
            <a:spLocks noGrp="1"/>
          </p:cNvSpPr>
          <p:nvPr/>
        </p:nvSpPr>
        <p:spPr>
          <a:xfrm>
            <a:off x="1276350" y="4362450"/>
            <a:ext cx="4572000" cy="3619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163" b="0">
                <a:solidFill>
                  <a:srgbClr val="17313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63" b="0">
                <a:solidFill>
                  <a:srgbClr val="17313B"/>
                </a:solidFill>
                <a:latin typeface="Microsoft YaHei"/>
                <a:ea typeface="Microsoft YaHei"/>
                <a:cs typeface="Microsoft YaHei"/>
              </a:rPr>
              <a:t>优点：概念直观，和串口屏/串口助手很像。</a:t>
            </a:r>
          </a:p>
        </p:txBody>
      </p:sp>
      <p:sp>
        <p:nvSpPr>
          <p:cNvPr id="27" name="矩形 26">
            <a:extLst>
              <a:ext uri="{FF2B5EF4-FFF2-40B4-BE49-F238E27FC236}">
                <a16:creationId xmlns:a16="http://schemas.microsoft.com/office/drawing/2014/main" id="{3F265D34-B51B-4C31-944F-DB420BF192A5}"/>
              </a:ext>
            </a:extLst>
          </p:cNvPr>
          <p:cNvSpPr>
            <a:spLocks noGrp="1"/>
          </p:cNvSpPr>
          <p:nvPr/>
        </p:nvSpPr>
        <p:spPr>
          <a:xfrm>
            <a:off x="1104900" y="4895850"/>
            <a:ext cx="66675" cy="66675"/>
          </a:xfrm>
          <a:prstGeom prst="rect">
            <a:avLst/>
          </a:prstGeom>
          <a:solidFill>
            <a:srgbClr val="D9514E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8" name="矩形 27">
            <a:extLst>
              <a:ext uri="{FF2B5EF4-FFF2-40B4-BE49-F238E27FC236}">
                <a16:creationId xmlns:a16="http://schemas.microsoft.com/office/drawing/2014/main" id="{D48D2548-EC08-439D-8A30-E5E87CE96F82}"/>
              </a:ext>
            </a:extLst>
          </p:cNvPr>
          <p:cNvSpPr>
            <a:spLocks noGrp="1"/>
          </p:cNvSpPr>
          <p:nvPr/>
        </p:nvSpPr>
        <p:spPr>
          <a:xfrm>
            <a:off x="1276350" y="4819650"/>
            <a:ext cx="5143500" cy="3619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163" b="0">
                <a:solidFill>
                  <a:srgbClr val="17313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63" b="0">
                <a:solidFill>
                  <a:srgbClr val="17313B"/>
                </a:solidFill>
                <a:latin typeface="Microsoft YaHei"/>
                <a:ea typeface="Microsoft YaHei"/>
                <a:cs typeface="Microsoft YaHei"/>
              </a:rPr>
              <a:t>难点：手机端尤其 iOS/微信小程序并不把 SPP 当作统一开放能力。</a:t>
            </a:r>
          </a:p>
        </p:txBody>
      </p:sp>
      <p:sp>
        <p:nvSpPr>
          <p:cNvPr id="29" name="矩形 28">
            <a:extLst>
              <a:ext uri="{FF2B5EF4-FFF2-40B4-BE49-F238E27FC236}">
                <a16:creationId xmlns:a16="http://schemas.microsoft.com/office/drawing/2014/main" id="{F1FCD7AD-369F-4A81-9449-66CD0AE0E869}"/>
              </a:ext>
            </a:extLst>
          </p:cNvPr>
          <p:cNvSpPr>
            <a:spLocks noGrp="1"/>
          </p:cNvSpPr>
          <p:nvPr/>
        </p:nvSpPr>
        <p:spPr>
          <a:xfrm>
            <a:off x="6572250" y="4648200"/>
            <a:ext cx="3714750" cy="323850"/>
          </a:xfrm>
          <a:prstGeom prst="rect">
            <a:avLst/>
          </a:prstGeom>
          <a:solidFill>
            <a:srgbClr val="FFF4DD"/>
          </a:solidFill>
          <a:ln w="13335">
            <a:solidFill>
              <a:srgbClr val="F2A23A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30" name="矩形 29">
            <a:extLst>
              <a:ext uri="{FF2B5EF4-FFF2-40B4-BE49-F238E27FC236}">
                <a16:creationId xmlns:a16="http://schemas.microsoft.com/office/drawing/2014/main" id="{5FE85B1E-B59A-4C05-AAF7-855B4879441F}"/>
              </a:ext>
            </a:extLst>
          </p:cNvPr>
          <p:cNvSpPr>
            <a:spLocks noGrp="1"/>
          </p:cNvSpPr>
          <p:nvPr/>
        </p:nvSpPr>
        <p:spPr>
          <a:xfrm>
            <a:off x="6667500" y="4695825"/>
            <a:ext cx="352425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ctr"/>
          <a:lstStyle/>
          <a:p>
            <a:pPr algn="ctr">
              <a:defRPr sz="1013" b="1">
                <a:solidFill>
                  <a:srgbClr val="F2A2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13" b="1">
                <a:solidFill>
                  <a:srgbClr val="F2A23A"/>
                </a:solidFill>
                <a:latin typeface="Microsoft YaHei"/>
                <a:ea typeface="Microsoft YaHei"/>
                <a:cs typeface="Microsoft YaHei"/>
              </a:rPr>
              <a:t>SPP 思维：我只管不停发字节</a:t>
            </a:r>
          </a:p>
        </p:txBody>
      </p:sp>
    </p:spTree>
    <p:extLst>
      <p:ext uri="{BB962C8B-B14F-4D97-AF65-F5344CB8AC3E}">
        <p14:creationId xmlns:p14="http://schemas.microsoft.com/office/powerpoint/2010/main" val="68353612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" name="矩形 34">
            <a:extLst>
              <a:ext uri="{FF2B5EF4-FFF2-40B4-BE49-F238E27FC236}">
                <a16:creationId xmlns:a16="http://schemas.microsoft.com/office/drawing/2014/main" id="{9732D9CE-1AC9-4D3C-AB97-5180F4611BAE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6F3EA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" name="矩形 1">
            <a:extLst>
              <a:ext uri="{FF2B5EF4-FFF2-40B4-BE49-F238E27FC236}">
                <a16:creationId xmlns:a16="http://schemas.microsoft.com/office/drawing/2014/main" id="{0C7F0ECE-08C9-436E-A329-DDFF56264741}"/>
              </a:ext>
            </a:extLst>
          </p:cNvPr>
          <p:cNvSpPr>
            <a:spLocks noGrp="1"/>
          </p:cNvSpPr>
          <p:nvPr/>
        </p:nvSpPr>
        <p:spPr>
          <a:xfrm>
            <a:off x="419100" y="323850"/>
            <a:ext cx="95250" cy="190500"/>
          </a:xfrm>
          <a:prstGeom prst="rect">
            <a:avLst/>
          </a:prstGeom>
          <a:solidFill>
            <a:srgbClr val="22A6C7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F5B03DAD-CD5C-4885-B680-DB473BC87983}"/>
              </a:ext>
            </a:extLst>
          </p:cNvPr>
          <p:cNvSpPr>
            <a:spLocks noGrp="1"/>
          </p:cNvSpPr>
          <p:nvPr/>
        </p:nvSpPr>
        <p:spPr>
          <a:xfrm>
            <a:off x="590550" y="266700"/>
            <a:ext cx="4095750" cy="3238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ctr"/>
          <a:lstStyle/>
          <a:p>
            <a:pPr algn="l">
              <a:defRPr sz="1125" b="1">
                <a:solidFill>
                  <a:srgbClr val="687A8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1">
                <a:solidFill>
                  <a:srgbClr val="687A84"/>
                </a:solidFill>
                <a:latin typeface="Microsoft YaHei"/>
                <a:ea typeface="Microsoft YaHei"/>
                <a:cs typeface="Microsoft YaHei"/>
              </a:rPr>
              <a:t>BLE MENTAL MODEL</a:t>
            </a:r>
          </a:p>
        </p:txBody>
      </p:sp>
      <p:sp>
        <p:nvSpPr>
          <p:cNvPr id="4" name="矩形 3">
            <a:extLst>
              <a:ext uri="{FF2B5EF4-FFF2-40B4-BE49-F238E27FC236}">
                <a16:creationId xmlns:a16="http://schemas.microsoft.com/office/drawing/2014/main" id="{C402FB93-E52E-4933-A925-0458F68314CD}"/>
              </a:ext>
            </a:extLst>
          </p:cNvPr>
          <p:cNvSpPr>
            <a:spLocks noGrp="1"/>
          </p:cNvSpPr>
          <p:nvPr/>
        </p:nvSpPr>
        <p:spPr>
          <a:xfrm>
            <a:off x="419100" y="685800"/>
            <a:ext cx="10763250" cy="7810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2400" b="1">
                <a:solidFill>
                  <a:srgbClr val="17313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400" b="1">
                <a:solidFill>
                  <a:srgbClr val="17313B"/>
                </a:solidFill>
                <a:latin typeface="Microsoft YaHei"/>
                <a:ea typeface="Microsoft YaHei"/>
                <a:cs typeface="Microsoft YaHei"/>
              </a:rPr>
              <a:t>BLE 更像“设备把数据字段公布出来，手机按需订阅”。</a:t>
            </a:r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3AAFBE19-F265-4223-A2AA-F03FABC15FA4}"/>
              </a:ext>
            </a:extLst>
          </p:cNvPr>
          <p:cNvSpPr>
            <a:spLocks noGrp="1"/>
          </p:cNvSpPr>
          <p:nvPr/>
        </p:nvSpPr>
        <p:spPr>
          <a:xfrm>
            <a:off x="419100" y="1504950"/>
            <a:ext cx="8858250" cy="3238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200" b="0">
                <a:solidFill>
                  <a:srgbClr val="687A8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687A84"/>
                </a:solidFill>
                <a:latin typeface="Microsoft YaHei"/>
                <a:ea typeface="Microsoft YaHei"/>
                <a:cs typeface="Microsoft YaHei"/>
              </a:rPr>
              <a:t>它不是默认给你一条连续串口流，而是鼓励低功耗、小数据包、明确字段。</a:t>
            </a:r>
          </a:p>
        </p:txBody>
      </p:sp>
      <p:sp>
        <p:nvSpPr>
          <p:cNvPr id="6" name="矩形 5">
            <a:extLst>
              <a:ext uri="{FF2B5EF4-FFF2-40B4-BE49-F238E27FC236}">
                <a16:creationId xmlns:a16="http://schemas.microsoft.com/office/drawing/2014/main" id="{732AC37C-13B4-4114-9C4A-F61BDC447738}"/>
              </a:ext>
            </a:extLst>
          </p:cNvPr>
          <p:cNvSpPr>
            <a:spLocks noGrp="1"/>
          </p:cNvSpPr>
          <p:nvPr/>
        </p:nvSpPr>
        <p:spPr>
          <a:xfrm>
            <a:off x="419100" y="6438900"/>
            <a:ext cx="8572500" cy="9525"/>
          </a:xfrm>
          <a:prstGeom prst="rect">
            <a:avLst/>
          </a:prstGeom>
          <a:solidFill>
            <a:srgbClr val="D6DEE1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7" name="矩形 6">
            <a:extLst>
              <a:ext uri="{FF2B5EF4-FFF2-40B4-BE49-F238E27FC236}">
                <a16:creationId xmlns:a16="http://schemas.microsoft.com/office/drawing/2014/main" id="{3D4D1F49-F253-4679-AC48-A80ED098642E}"/>
              </a:ext>
            </a:extLst>
          </p:cNvPr>
          <p:cNvSpPr>
            <a:spLocks noGrp="1"/>
          </p:cNvSpPr>
          <p:nvPr/>
        </p:nvSpPr>
        <p:spPr>
          <a:xfrm>
            <a:off x="419100" y="6515100"/>
            <a:ext cx="8572500" cy="1905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675" b="0">
                <a:solidFill>
                  <a:srgbClr val="7C8A9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675" b="0">
                <a:solidFill>
                  <a:srgbClr val="7C8A90"/>
                </a:solidFill>
                <a:latin typeface="Microsoft YaHei"/>
                <a:ea typeface="Microsoft YaHei"/>
                <a:cs typeface="Microsoft YaHei"/>
              </a:rPr>
              <a:t>Source: Arduino / WeChat Mini Program source code; WeChat Mini Program BLE API docs</a:t>
            </a:r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C8359742-E1B0-422C-84C2-1E52EC9DFD00}"/>
              </a:ext>
            </a:extLst>
          </p:cNvPr>
          <p:cNvSpPr>
            <a:spLocks noGrp="1"/>
          </p:cNvSpPr>
          <p:nvPr/>
        </p:nvSpPr>
        <p:spPr>
          <a:xfrm>
            <a:off x="11334750" y="6496050"/>
            <a:ext cx="419100" cy="2095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r">
              <a:defRPr sz="825" b="0">
                <a:solidFill>
                  <a:srgbClr val="7C8A9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825" b="0">
                <a:solidFill>
                  <a:srgbClr val="7C8A90"/>
                </a:solidFill>
                <a:latin typeface="Microsoft YaHei"/>
                <a:ea typeface="Microsoft YaHei"/>
                <a:cs typeface="Microsoft YaHei"/>
              </a:rPr>
              <a:t>04</a:t>
            </a:r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A7545CE4-2DB5-4CC5-87BF-FBC1D8160CB4}"/>
              </a:ext>
            </a:extLst>
          </p:cNvPr>
          <p:cNvSpPr>
            <a:spLocks noGrp="1"/>
          </p:cNvSpPr>
          <p:nvPr/>
        </p:nvSpPr>
        <p:spPr>
          <a:xfrm>
            <a:off x="723900" y="2324100"/>
            <a:ext cx="2857500" cy="2381250"/>
          </a:xfrm>
          <a:prstGeom prst="rect">
            <a:avLst/>
          </a:prstGeom>
          <a:solidFill>
            <a:srgbClr val="FFF4DD"/>
          </a:solidFill>
          <a:ln w="9525">
            <a:solidFill>
              <a:srgbClr val="DCE5E7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F412BA7A-F100-41DA-9874-98C53C09588A}"/>
              </a:ext>
            </a:extLst>
          </p:cNvPr>
          <p:cNvSpPr>
            <a:spLocks noGrp="1"/>
          </p:cNvSpPr>
          <p:nvPr/>
        </p:nvSpPr>
        <p:spPr>
          <a:xfrm>
            <a:off x="723900" y="2324100"/>
            <a:ext cx="57150" cy="2381250"/>
          </a:xfrm>
          <a:prstGeom prst="rect">
            <a:avLst/>
          </a:prstGeom>
          <a:solidFill>
            <a:srgbClr val="F2A23A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1" name="矩形 10">
            <a:extLst>
              <a:ext uri="{FF2B5EF4-FFF2-40B4-BE49-F238E27FC236}">
                <a16:creationId xmlns:a16="http://schemas.microsoft.com/office/drawing/2014/main" id="{4FB45A66-2AAF-48FA-9253-8505CD31F684}"/>
              </a:ext>
            </a:extLst>
          </p:cNvPr>
          <p:cNvSpPr>
            <a:spLocks noGrp="1"/>
          </p:cNvSpPr>
          <p:nvPr/>
        </p:nvSpPr>
        <p:spPr>
          <a:xfrm>
            <a:off x="895350" y="2457450"/>
            <a:ext cx="2514600" cy="2857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350" b="1">
                <a:solidFill>
                  <a:srgbClr val="17313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17313B"/>
                </a:solidFill>
                <a:latin typeface="Microsoft YaHei"/>
                <a:ea typeface="Microsoft YaHei"/>
                <a:cs typeface="Microsoft YaHei"/>
              </a:rPr>
              <a:t>BLE 外设</a:t>
            </a:r>
          </a:p>
        </p:txBody>
      </p:sp>
      <p:sp>
        <p:nvSpPr>
          <p:cNvPr id="12" name="矩形 11">
            <a:extLst>
              <a:ext uri="{FF2B5EF4-FFF2-40B4-BE49-F238E27FC236}">
                <a16:creationId xmlns:a16="http://schemas.microsoft.com/office/drawing/2014/main" id="{1FEDB50C-843D-4B07-9C24-84DDA818DB9B}"/>
              </a:ext>
            </a:extLst>
          </p:cNvPr>
          <p:cNvSpPr>
            <a:spLocks noGrp="1"/>
          </p:cNvSpPr>
          <p:nvPr/>
        </p:nvSpPr>
        <p:spPr>
          <a:xfrm>
            <a:off x="895350" y="2781300"/>
            <a:ext cx="2514600" cy="18288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275" b="0">
                <a:solidFill>
                  <a:srgbClr val="687A8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687A84"/>
                </a:solidFill>
                <a:latin typeface="Microsoft YaHei"/>
                <a:ea typeface="Microsoft YaHei"/>
                <a:cs typeface="Microsoft YaHei"/>
              </a:rPr>
              <a:t>我叫 ESP32-PulseOX</a:t>
            </a:r>
          </a:p>
          <a:p>
            <a:pPr algn="l">
              <a:defRPr sz="1275" b="0">
                <a:solidFill>
                  <a:srgbClr val="687A8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687A84"/>
                </a:solidFill>
                <a:latin typeface="Microsoft YaHei"/>
                <a:ea typeface="Microsoft YaHei"/>
                <a:cs typeface="Microsoft YaHei"/>
              </a:rPr>
              <a:t>我有一个 PulseOX 服务</a:t>
            </a:r>
          </a:p>
          <a:p>
            <a:pPr algn="l">
              <a:defRPr sz="1275" b="0">
                <a:solidFill>
                  <a:srgbClr val="687A8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687A84"/>
                </a:solidFill>
                <a:latin typeface="Microsoft YaHei"/>
                <a:ea typeface="Microsoft YaHei"/>
                <a:cs typeface="Microsoft YaHei"/>
              </a:rPr>
              <a:t>里面有 wave 和 metrics 两个字段</a:t>
            </a:r>
          </a:p>
        </p:txBody>
      </p:sp>
      <p:sp>
        <p:nvSpPr>
          <p:cNvPr id="13" name="矩形 12">
            <a:extLst>
              <a:ext uri="{FF2B5EF4-FFF2-40B4-BE49-F238E27FC236}">
                <a16:creationId xmlns:a16="http://schemas.microsoft.com/office/drawing/2014/main" id="{68976EC3-396A-4DB9-9CE3-73F83F5C92AD}"/>
              </a:ext>
            </a:extLst>
          </p:cNvPr>
          <p:cNvSpPr>
            <a:spLocks noGrp="1"/>
          </p:cNvSpPr>
          <p:nvPr/>
        </p:nvSpPr>
        <p:spPr>
          <a:xfrm>
            <a:off x="4667250" y="2076450"/>
            <a:ext cx="2857500" cy="1047750"/>
          </a:xfrm>
          <a:prstGeom prst="rect">
            <a:avLst/>
          </a:prstGeom>
          <a:solidFill>
            <a:srgbClr val="FFFFFF"/>
          </a:solidFill>
          <a:ln w="9525">
            <a:solidFill>
              <a:srgbClr val="DCE5E7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4" name="矩形 13">
            <a:extLst>
              <a:ext uri="{FF2B5EF4-FFF2-40B4-BE49-F238E27FC236}">
                <a16:creationId xmlns:a16="http://schemas.microsoft.com/office/drawing/2014/main" id="{0C56707F-8AA9-4A16-939A-201040F8BE40}"/>
              </a:ext>
            </a:extLst>
          </p:cNvPr>
          <p:cNvSpPr>
            <a:spLocks noGrp="1"/>
          </p:cNvSpPr>
          <p:nvPr/>
        </p:nvSpPr>
        <p:spPr>
          <a:xfrm>
            <a:off x="4667250" y="2076450"/>
            <a:ext cx="57150" cy="1047750"/>
          </a:xfrm>
          <a:prstGeom prst="rect">
            <a:avLst/>
          </a:prstGeom>
          <a:solidFill>
            <a:srgbClr val="22A6C7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5" name="矩形 14">
            <a:extLst>
              <a:ext uri="{FF2B5EF4-FFF2-40B4-BE49-F238E27FC236}">
                <a16:creationId xmlns:a16="http://schemas.microsoft.com/office/drawing/2014/main" id="{C5ACE618-7890-4FA2-89C1-49379329BB52}"/>
              </a:ext>
            </a:extLst>
          </p:cNvPr>
          <p:cNvSpPr>
            <a:spLocks noGrp="1"/>
          </p:cNvSpPr>
          <p:nvPr/>
        </p:nvSpPr>
        <p:spPr>
          <a:xfrm>
            <a:off x="4838700" y="2209800"/>
            <a:ext cx="2514600" cy="2857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350" b="1">
                <a:solidFill>
                  <a:srgbClr val="17313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17313B"/>
                </a:solidFill>
                <a:latin typeface="Microsoft YaHei"/>
                <a:ea typeface="Microsoft YaHei"/>
                <a:cs typeface="Microsoft YaHei"/>
              </a:rPr>
              <a:t>wave 字段</a:t>
            </a:r>
          </a:p>
        </p:txBody>
      </p:sp>
      <p:sp>
        <p:nvSpPr>
          <p:cNvPr id="16" name="矩形 15">
            <a:extLst>
              <a:ext uri="{FF2B5EF4-FFF2-40B4-BE49-F238E27FC236}">
                <a16:creationId xmlns:a16="http://schemas.microsoft.com/office/drawing/2014/main" id="{17ABB265-1B66-4531-A62F-97382FCE184B}"/>
              </a:ext>
            </a:extLst>
          </p:cNvPr>
          <p:cNvSpPr>
            <a:spLocks noGrp="1"/>
          </p:cNvSpPr>
          <p:nvPr/>
        </p:nvSpPr>
        <p:spPr>
          <a:xfrm>
            <a:off x="4838700" y="2533650"/>
            <a:ext cx="2514600" cy="4953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088" b="0">
                <a:solidFill>
                  <a:srgbClr val="687A8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88" b="0">
                <a:solidFill>
                  <a:srgbClr val="687A84"/>
                </a:solidFill>
                <a:latin typeface="Microsoft YaHei"/>
                <a:ea typeface="Microsoft YaHei"/>
                <a:cs typeface="Microsoft YaHei"/>
              </a:rPr>
              <a:t>当前波形点</a:t>
            </a:r>
          </a:p>
          <a:p>
            <a:pPr algn="l">
              <a:defRPr sz="1088" b="0">
                <a:solidFill>
                  <a:srgbClr val="687A8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88" b="0">
                <a:solidFill>
                  <a:srgbClr val="687A84"/>
                </a:solidFill>
                <a:latin typeface="Microsoft YaHei"/>
                <a:ea typeface="Microsoft YaHei"/>
                <a:cs typeface="Microsoft YaHei"/>
              </a:rPr>
              <a:t>支持 READ / NOTIFY</a:t>
            </a:r>
          </a:p>
        </p:txBody>
      </p:sp>
      <p:sp>
        <p:nvSpPr>
          <p:cNvPr id="17" name="矩形 16">
            <a:extLst>
              <a:ext uri="{FF2B5EF4-FFF2-40B4-BE49-F238E27FC236}">
                <a16:creationId xmlns:a16="http://schemas.microsoft.com/office/drawing/2014/main" id="{6E9251BC-0220-48C7-AD7F-C8B203132071}"/>
              </a:ext>
            </a:extLst>
          </p:cNvPr>
          <p:cNvSpPr>
            <a:spLocks noGrp="1"/>
          </p:cNvSpPr>
          <p:nvPr/>
        </p:nvSpPr>
        <p:spPr>
          <a:xfrm>
            <a:off x="4667250" y="3657600"/>
            <a:ext cx="2857500" cy="1047750"/>
          </a:xfrm>
          <a:prstGeom prst="rect">
            <a:avLst/>
          </a:prstGeom>
          <a:solidFill>
            <a:srgbClr val="FFFFFF"/>
          </a:solidFill>
          <a:ln w="9525">
            <a:solidFill>
              <a:srgbClr val="DCE5E7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8" name="矩形 17">
            <a:extLst>
              <a:ext uri="{FF2B5EF4-FFF2-40B4-BE49-F238E27FC236}">
                <a16:creationId xmlns:a16="http://schemas.microsoft.com/office/drawing/2014/main" id="{0EE6EDAC-3E81-4A1E-9750-D4372FFDCB59}"/>
              </a:ext>
            </a:extLst>
          </p:cNvPr>
          <p:cNvSpPr>
            <a:spLocks noGrp="1"/>
          </p:cNvSpPr>
          <p:nvPr/>
        </p:nvSpPr>
        <p:spPr>
          <a:xfrm>
            <a:off x="4667250" y="3657600"/>
            <a:ext cx="57150" cy="1047750"/>
          </a:xfrm>
          <a:prstGeom prst="rect">
            <a:avLst/>
          </a:prstGeom>
          <a:solidFill>
            <a:srgbClr val="18C7A3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9" name="矩形 18">
            <a:extLst>
              <a:ext uri="{FF2B5EF4-FFF2-40B4-BE49-F238E27FC236}">
                <a16:creationId xmlns:a16="http://schemas.microsoft.com/office/drawing/2014/main" id="{ED0BFB1E-DD19-4D78-9A9C-4DC10A8C257A}"/>
              </a:ext>
            </a:extLst>
          </p:cNvPr>
          <p:cNvSpPr>
            <a:spLocks noGrp="1"/>
          </p:cNvSpPr>
          <p:nvPr/>
        </p:nvSpPr>
        <p:spPr>
          <a:xfrm>
            <a:off x="4838700" y="3790950"/>
            <a:ext cx="2514600" cy="2857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350" b="1">
                <a:solidFill>
                  <a:srgbClr val="17313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17313B"/>
                </a:solidFill>
                <a:latin typeface="Microsoft YaHei"/>
                <a:ea typeface="Microsoft YaHei"/>
                <a:cs typeface="Microsoft YaHei"/>
              </a:rPr>
              <a:t>metrics 字段</a:t>
            </a:r>
          </a:p>
        </p:txBody>
      </p:sp>
      <p:sp>
        <p:nvSpPr>
          <p:cNvPr id="20" name="矩形 19">
            <a:extLst>
              <a:ext uri="{FF2B5EF4-FFF2-40B4-BE49-F238E27FC236}">
                <a16:creationId xmlns:a16="http://schemas.microsoft.com/office/drawing/2014/main" id="{BAA0616E-555F-4E46-906D-69098AAD0242}"/>
              </a:ext>
            </a:extLst>
          </p:cNvPr>
          <p:cNvSpPr>
            <a:spLocks noGrp="1"/>
          </p:cNvSpPr>
          <p:nvPr/>
        </p:nvSpPr>
        <p:spPr>
          <a:xfrm>
            <a:off x="4838700" y="4114800"/>
            <a:ext cx="2514600" cy="4953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088" b="0">
                <a:solidFill>
                  <a:srgbClr val="687A8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88" b="0">
                <a:solidFill>
                  <a:srgbClr val="687A84"/>
                </a:solidFill>
                <a:latin typeface="Microsoft YaHei"/>
                <a:ea typeface="Microsoft YaHei"/>
                <a:cs typeface="Microsoft YaHei"/>
              </a:rPr>
              <a:t>心率、血氧、状态</a:t>
            </a:r>
          </a:p>
          <a:p>
            <a:pPr algn="l">
              <a:defRPr sz="1088" b="0">
                <a:solidFill>
                  <a:srgbClr val="687A8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88" b="0">
                <a:solidFill>
                  <a:srgbClr val="687A84"/>
                </a:solidFill>
                <a:latin typeface="Microsoft YaHei"/>
                <a:ea typeface="Microsoft YaHei"/>
                <a:cs typeface="Microsoft YaHei"/>
              </a:rPr>
              <a:t>支持 READ / NOTIFY</a:t>
            </a:r>
          </a:p>
        </p:txBody>
      </p:sp>
      <p:sp>
        <p:nvSpPr>
          <p:cNvPr id="21" name="矩形 20">
            <a:extLst>
              <a:ext uri="{FF2B5EF4-FFF2-40B4-BE49-F238E27FC236}">
                <a16:creationId xmlns:a16="http://schemas.microsoft.com/office/drawing/2014/main" id="{E74ADDCA-C57A-48E2-BC53-4F3330B74040}"/>
              </a:ext>
            </a:extLst>
          </p:cNvPr>
          <p:cNvSpPr>
            <a:spLocks noGrp="1"/>
          </p:cNvSpPr>
          <p:nvPr/>
        </p:nvSpPr>
        <p:spPr>
          <a:xfrm>
            <a:off x="8610600" y="2857500"/>
            <a:ext cx="2571750" cy="1428750"/>
          </a:xfrm>
          <a:prstGeom prst="rect">
            <a:avLst/>
          </a:prstGeom>
          <a:solidFill>
            <a:srgbClr val="E8F8F3"/>
          </a:solidFill>
          <a:ln w="9525">
            <a:solidFill>
              <a:srgbClr val="DCE5E7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2" name="矩形 21">
            <a:extLst>
              <a:ext uri="{FF2B5EF4-FFF2-40B4-BE49-F238E27FC236}">
                <a16:creationId xmlns:a16="http://schemas.microsoft.com/office/drawing/2014/main" id="{AE9E6FEF-B623-4D62-B71C-B77DBB585CB0}"/>
              </a:ext>
            </a:extLst>
          </p:cNvPr>
          <p:cNvSpPr>
            <a:spLocks noGrp="1"/>
          </p:cNvSpPr>
          <p:nvPr/>
        </p:nvSpPr>
        <p:spPr>
          <a:xfrm>
            <a:off x="8610600" y="2857500"/>
            <a:ext cx="57150" cy="1428750"/>
          </a:xfrm>
          <a:prstGeom prst="rect">
            <a:avLst/>
          </a:prstGeom>
          <a:solidFill>
            <a:srgbClr val="18C7A3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3" name="矩形 22">
            <a:extLst>
              <a:ext uri="{FF2B5EF4-FFF2-40B4-BE49-F238E27FC236}">
                <a16:creationId xmlns:a16="http://schemas.microsoft.com/office/drawing/2014/main" id="{D1707686-E1CE-401D-944B-B20054A3CB84}"/>
              </a:ext>
            </a:extLst>
          </p:cNvPr>
          <p:cNvSpPr>
            <a:spLocks noGrp="1"/>
          </p:cNvSpPr>
          <p:nvPr/>
        </p:nvSpPr>
        <p:spPr>
          <a:xfrm>
            <a:off x="8782050" y="2990850"/>
            <a:ext cx="2228850" cy="2857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350" b="1">
                <a:solidFill>
                  <a:srgbClr val="17313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17313B"/>
                </a:solidFill>
                <a:latin typeface="Microsoft YaHei"/>
                <a:ea typeface="Microsoft YaHei"/>
                <a:cs typeface="Microsoft YaHei"/>
              </a:rPr>
              <a:t>手机小程序</a:t>
            </a:r>
          </a:p>
        </p:txBody>
      </p:sp>
      <p:sp>
        <p:nvSpPr>
          <p:cNvPr id="24" name="矩形 23">
            <a:extLst>
              <a:ext uri="{FF2B5EF4-FFF2-40B4-BE49-F238E27FC236}">
                <a16:creationId xmlns:a16="http://schemas.microsoft.com/office/drawing/2014/main" id="{E1442780-B187-41B1-99DD-D070B5C6B9E1}"/>
              </a:ext>
            </a:extLst>
          </p:cNvPr>
          <p:cNvSpPr>
            <a:spLocks noGrp="1"/>
          </p:cNvSpPr>
          <p:nvPr/>
        </p:nvSpPr>
        <p:spPr>
          <a:xfrm>
            <a:off x="8782050" y="3314700"/>
            <a:ext cx="2228850" cy="8763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088" b="0">
                <a:solidFill>
                  <a:srgbClr val="687A8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88" b="0">
                <a:solidFill>
                  <a:srgbClr val="687A84"/>
                </a:solidFill>
                <a:latin typeface="Microsoft YaHei"/>
                <a:ea typeface="Microsoft YaHei"/>
                <a:cs typeface="Microsoft YaHei"/>
              </a:rPr>
              <a:t>扫描设备</a:t>
            </a:r>
          </a:p>
          <a:p>
            <a:pPr algn="l">
              <a:defRPr sz="1088" b="0">
                <a:solidFill>
                  <a:srgbClr val="687A8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88" b="0">
                <a:solidFill>
                  <a:srgbClr val="687A84"/>
                </a:solidFill>
                <a:latin typeface="Microsoft YaHei"/>
                <a:ea typeface="Microsoft YaHei"/>
                <a:cs typeface="Microsoft YaHei"/>
              </a:rPr>
              <a:t>连接服务</a:t>
            </a:r>
          </a:p>
          <a:p>
            <a:pPr algn="l">
              <a:defRPr sz="1088" b="0">
                <a:solidFill>
                  <a:srgbClr val="687A8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88" b="0">
                <a:solidFill>
                  <a:srgbClr val="687A84"/>
                </a:solidFill>
                <a:latin typeface="Microsoft YaHei"/>
                <a:ea typeface="Microsoft YaHei"/>
                <a:cs typeface="Microsoft YaHei"/>
              </a:rPr>
              <a:t>订阅字段变化</a:t>
            </a:r>
          </a:p>
          <a:p>
            <a:pPr algn="l">
              <a:defRPr sz="1088" b="0">
                <a:solidFill>
                  <a:srgbClr val="687A8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88" b="0">
                <a:solidFill>
                  <a:srgbClr val="687A84"/>
                </a:solidFill>
                <a:latin typeface="Microsoft YaHei"/>
                <a:ea typeface="Microsoft YaHei"/>
                <a:cs typeface="Microsoft YaHei"/>
              </a:rPr>
              <a:t>收到 notify 后刷新 UI</a:t>
            </a:r>
          </a:p>
        </p:txBody>
      </p:sp>
      <p:sp>
        <p:nvSpPr>
          <p:cNvPr id="25" name="矩形 24">
            <a:extLst>
              <a:ext uri="{FF2B5EF4-FFF2-40B4-BE49-F238E27FC236}">
                <a16:creationId xmlns:a16="http://schemas.microsoft.com/office/drawing/2014/main" id="{7ED4602F-AA7C-473D-B486-B4BE3512CA48}"/>
              </a:ext>
            </a:extLst>
          </p:cNvPr>
          <p:cNvSpPr>
            <a:spLocks noGrp="1"/>
          </p:cNvSpPr>
          <p:nvPr/>
        </p:nvSpPr>
        <p:spPr>
          <a:xfrm>
            <a:off x="3581400" y="2847975"/>
            <a:ext cx="1085850" cy="19050"/>
          </a:xfrm>
          <a:prstGeom prst="rect">
            <a:avLst/>
          </a:prstGeom>
          <a:solidFill>
            <a:srgbClr val="22A6C7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6" name="矩形 25">
            <a:extLst>
              <a:ext uri="{FF2B5EF4-FFF2-40B4-BE49-F238E27FC236}">
                <a16:creationId xmlns:a16="http://schemas.microsoft.com/office/drawing/2014/main" id="{56347020-BA14-4692-94BE-868B4066DC5C}"/>
              </a:ext>
            </a:extLst>
          </p:cNvPr>
          <p:cNvSpPr>
            <a:spLocks noGrp="1"/>
          </p:cNvSpPr>
          <p:nvPr/>
        </p:nvSpPr>
        <p:spPr>
          <a:xfrm>
            <a:off x="4533900" y="2733675"/>
            <a:ext cx="247650" cy="2476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ctr"/>
          <a:lstStyle/>
          <a:p>
            <a:pPr algn="ctr">
              <a:defRPr sz="1275" b="1">
                <a:solidFill>
                  <a:srgbClr val="22A6C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1">
                <a:solidFill>
                  <a:srgbClr val="22A6C7"/>
                </a:solidFill>
                <a:latin typeface="Microsoft YaHei"/>
                <a:ea typeface="Microsoft YaHei"/>
                <a:cs typeface="Microsoft YaHei"/>
              </a:rPr>
              <a:t>&gt;</a:t>
            </a:r>
          </a:p>
        </p:txBody>
      </p:sp>
      <p:sp>
        <p:nvSpPr>
          <p:cNvPr id="27" name="矩形 26">
            <a:extLst>
              <a:ext uri="{FF2B5EF4-FFF2-40B4-BE49-F238E27FC236}">
                <a16:creationId xmlns:a16="http://schemas.microsoft.com/office/drawing/2014/main" id="{837B4127-D246-457E-806B-F6140C4BFAC5}"/>
              </a:ext>
            </a:extLst>
          </p:cNvPr>
          <p:cNvSpPr>
            <a:spLocks noGrp="1"/>
          </p:cNvSpPr>
          <p:nvPr/>
        </p:nvSpPr>
        <p:spPr>
          <a:xfrm>
            <a:off x="3581400" y="3724275"/>
            <a:ext cx="1085850" cy="19050"/>
          </a:xfrm>
          <a:prstGeom prst="rect">
            <a:avLst/>
          </a:prstGeom>
          <a:solidFill>
            <a:srgbClr val="18C7A3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8" name="矩形 27">
            <a:extLst>
              <a:ext uri="{FF2B5EF4-FFF2-40B4-BE49-F238E27FC236}">
                <a16:creationId xmlns:a16="http://schemas.microsoft.com/office/drawing/2014/main" id="{6891505D-8EA3-4EDA-B808-AA6BB6E61508}"/>
              </a:ext>
            </a:extLst>
          </p:cNvPr>
          <p:cNvSpPr>
            <a:spLocks noGrp="1"/>
          </p:cNvSpPr>
          <p:nvPr/>
        </p:nvSpPr>
        <p:spPr>
          <a:xfrm>
            <a:off x="4533900" y="3609975"/>
            <a:ext cx="247650" cy="2476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ctr"/>
          <a:lstStyle/>
          <a:p>
            <a:pPr algn="ctr">
              <a:defRPr sz="1275" b="1">
                <a:solidFill>
                  <a:srgbClr val="18C7A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1">
                <a:solidFill>
                  <a:srgbClr val="18C7A3"/>
                </a:solidFill>
                <a:latin typeface="Microsoft YaHei"/>
                <a:ea typeface="Microsoft YaHei"/>
                <a:cs typeface="Microsoft YaHei"/>
              </a:rPr>
              <a:t>&gt;</a:t>
            </a:r>
          </a:p>
        </p:txBody>
      </p:sp>
      <p:sp>
        <p:nvSpPr>
          <p:cNvPr id="29" name="矩形 28">
            <a:extLst>
              <a:ext uri="{FF2B5EF4-FFF2-40B4-BE49-F238E27FC236}">
                <a16:creationId xmlns:a16="http://schemas.microsoft.com/office/drawing/2014/main" id="{62CCB358-46B8-452B-A0AD-F6D1F6ACDA46}"/>
              </a:ext>
            </a:extLst>
          </p:cNvPr>
          <p:cNvSpPr>
            <a:spLocks noGrp="1"/>
          </p:cNvSpPr>
          <p:nvPr/>
        </p:nvSpPr>
        <p:spPr>
          <a:xfrm>
            <a:off x="7515225" y="2600325"/>
            <a:ext cx="19050" cy="733425"/>
          </a:xfrm>
          <a:prstGeom prst="rect">
            <a:avLst/>
          </a:prstGeom>
          <a:solidFill>
            <a:srgbClr val="22A6C7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30" name="矩形 29">
            <a:extLst>
              <a:ext uri="{FF2B5EF4-FFF2-40B4-BE49-F238E27FC236}">
                <a16:creationId xmlns:a16="http://schemas.microsoft.com/office/drawing/2014/main" id="{D82484CB-C84A-4381-A07C-619F0F088E79}"/>
              </a:ext>
            </a:extLst>
          </p:cNvPr>
          <p:cNvSpPr>
            <a:spLocks noGrp="1"/>
          </p:cNvSpPr>
          <p:nvPr/>
        </p:nvSpPr>
        <p:spPr>
          <a:xfrm>
            <a:off x="7410450" y="3248025"/>
            <a:ext cx="22860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ctr"/>
          <a:lstStyle/>
          <a:p>
            <a:pPr algn="ctr">
              <a:defRPr sz="1200" b="1">
                <a:solidFill>
                  <a:srgbClr val="22A6C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>
                <a:solidFill>
                  <a:srgbClr val="22A6C7"/>
                </a:solidFill>
                <a:latin typeface="Microsoft YaHei"/>
                <a:ea typeface="Microsoft YaHei"/>
                <a:cs typeface="Microsoft YaHei"/>
              </a:rPr>
              <a:t>v</a:t>
            </a:r>
          </a:p>
        </p:txBody>
      </p:sp>
      <p:sp>
        <p:nvSpPr>
          <p:cNvPr id="31" name="矩形 30">
            <a:extLst>
              <a:ext uri="{FF2B5EF4-FFF2-40B4-BE49-F238E27FC236}">
                <a16:creationId xmlns:a16="http://schemas.microsoft.com/office/drawing/2014/main" id="{C143DFD6-7477-470A-9782-06D119E555BB}"/>
              </a:ext>
            </a:extLst>
          </p:cNvPr>
          <p:cNvSpPr>
            <a:spLocks noGrp="1"/>
          </p:cNvSpPr>
          <p:nvPr/>
        </p:nvSpPr>
        <p:spPr>
          <a:xfrm>
            <a:off x="7515225" y="3714750"/>
            <a:ext cx="19050" cy="457200"/>
          </a:xfrm>
          <a:prstGeom prst="rect">
            <a:avLst/>
          </a:prstGeom>
          <a:solidFill>
            <a:srgbClr val="18C7A3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32" name="矩形 31">
            <a:extLst>
              <a:ext uri="{FF2B5EF4-FFF2-40B4-BE49-F238E27FC236}">
                <a16:creationId xmlns:a16="http://schemas.microsoft.com/office/drawing/2014/main" id="{C2D0DCBF-91F9-446F-84A8-70E816DE7E6A}"/>
              </a:ext>
            </a:extLst>
          </p:cNvPr>
          <p:cNvSpPr>
            <a:spLocks noGrp="1"/>
          </p:cNvSpPr>
          <p:nvPr/>
        </p:nvSpPr>
        <p:spPr>
          <a:xfrm>
            <a:off x="7410450" y="3629025"/>
            <a:ext cx="22860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ctr"/>
          <a:lstStyle/>
          <a:p>
            <a:pPr algn="ctr">
              <a:defRPr sz="1200" b="1">
                <a:solidFill>
                  <a:srgbClr val="18C7A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>
                <a:solidFill>
                  <a:srgbClr val="18C7A3"/>
                </a:solidFill>
                <a:latin typeface="Microsoft YaHei"/>
                <a:ea typeface="Microsoft YaHei"/>
                <a:cs typeface="Microsoft YaHei"/>
              </a:rPr>
              <a:t>v</a:t>
            </a:r>
          </a:p>
        </p:txBody>
      </p:sp>
      <p:sp>
        <p:nvSpPr>
          <p:cNvPr id="33" name="矩形 32">
            <a:extLst>
              <a:ext uri="{FF2B5EF4-FFF2-40B4-BE49-F238E27FC236}">
                <a16:creationId xmlns:a16="http://schemas.microsoft.com/office/drawing/2014/main" id="{C9B0C029-A3DB-465C-B457-1F9BA79CDB95}"/>
              </a:ext>
            </a:extLst>
          </p:cNvPr>
          <p:cNvSpPr>
            <a:spLocks noGrp="1"/>
          </p:cNvSpPr>
          <p:nvPr/>
        </p:nvSpPr>
        <p:spPr>
          <a:xfrm>
            <a:off x="3924300" y="5334000"/>
            <a:ext cx="4476750" cy="323850"/>
          </a:xfrm>
          <a:prstGeom prst="rect">
            <a:avLst/>
          </a:prstGeom>
          <a:solidFill>
            <a:srgbClr val="E7F6FA"/>
          </a:solidFill>
          <a:ln w="13335">
            <a:solidFill>
              <a:srgbClr val="22A6C7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34" name="矩形 33">
            <a:extLst>
              <a:ext uri="{FF2B5EF4-FFF2-40B4-BE49-F238E27FC236}">
                <a16:creationId xmlns:a16="http://schemas.microsoft.com/office/drawing/2014/main" id="{5C3D9A8B-B76D-4514-BEE5-66798487F3B9}"/>
              </a:ext>
            </a:extLst>
          </p:cNvPr>
          <p:cNvSpPr>
            <a:spLocks noGrp="1"/>
          </p:cNvSpPr>
          <p:nvPr/>
        </p:nvSpPr>
        <p:spPr>
          <a:xfrm>
            <a:off x="4019550" y="5381625"/>
            <a:ext cx="428625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ctr"/>
          <a:lstStyle/>
          <a:p>
            <a:pPr algn="ctr">
              <a:defRPr sz="1013" b="1">
                <a:solidFill>
                  <a:srgbClr val="22A6C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13" b="1">
                <a:solidFill>
                  <a:srgbClr val="22A6C7"/>
                </a:solidFill>
                <a:latin typeface="Microsoft YaHei"/>
                <a:ea typeface="Microsoft YaHei"/>
                <a:cs typeface="Microsoft YaHei"/>
              </a:rPr>
              <a:t>BLE GATT 思维：字段有名字、有 UUID、有权限、有通知</a:t>
            </a:r>
          </a:p>
        </p:txBody>
      </p:sp>
    </p:spTree>
    <p:extLst>
      <p:ext uri="{BB962C8B-B14F-4D97-AF65-F5344CB8AC3E}">
        <p14:creationId xmlns:p14="http://schemas.microsoft.com/office/powerpoint/2010/main" val="69065666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矩形 27">
            <a:extLst>
              <a:ext uri="{FF2B5EF4-FFF2-40B4-BE49-F238E27FC236}">
                <a16:creationId xmlns:a16="http://schemas.microsoft.com/office/drawing/2014/main" id="{7A78430C-5D9B-4C24-8BB9-DA01A6BAE013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6F3EA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" name="矩形 1">
            <a:extLst>
              <a:ext uri="{FF2B5EF4-FFF2-40B4-BE49-F238E27FC236}">
                <a16:creationId xmlns:a16="http://schemas.microsoft.com/office/drawing/2014/main" id="{D51A854D-B094-44A1-A610-65BEBB029A79}"/>
              </a:ext>
            </a:extLst>
          </p:cNvPr>
          <p:cNvSpPr>
            <a:spLocks noGrp="1"/>
          </p:cNvSpPr>
          <p:nvPr/>
        </p:nvSpPr>
        <p:spPr>
          <a:xfrm>
            <a:off x="419100" y="323850"/>
            <a:ext cx="95250" cy="190500"/>
          </a:xfrm>
          <a:prstGeom prst="rect">
            <a:avLst/>
          </a:prstGeom>
          <a:solidFill>
            <a:srgbClr val="22A6C7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8D85F288-B2BF-4143-B756-6E29448B5BEF}"/>
              </a:ext>
            </a:extLst>
          </p:cNvPr>
          <p:cNvSpPr>
            <a:spLocks noGrp="1"/>
          </p:cNvSpPr>
          <p:nvPr/>
        </p:nvSpPr>
        <p:spPr>
          <a:xfrm>
            <a:off x="590550" y="266700"/>
            <a:ext cx="4095750" cy="3238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ctr"/>
          <a:lstStyle/>
          <a:p>
            <a:pPr algn="l">
              <a:defRPr sz="1125" b="1">
                <a:solidFill>
                  <a:srgbClr val="687A8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1">
                <a:solidFill>
                  <a:srgbClr val="687A84"/>
                </a:solidFill>
                <a:latin typeface="Microsoft YaHei"/>
                <a:ea typeface="Microsoft YaHei"/>
                <a:cs typeface="Microsoft YaHei"/>
              </a:rPr>
              <a:t>BLE ROLES</a:t>
            </a:r>
          </a:p>
        </p:txBody>
      </p:sp>
      <p:sp>
        <p:nvSpPr>
          <p:cNvPr id="4" name="矩形 3">
            <a:extLst>
              <a:ext uri="{FF2B5EF4-FFF2-40B4-BE49-F238E27FC236}">
                <a16:creationId xmlns:a16="http://schemas.microsoft.com/office/drawing/2014/main" id="{CE075226-8B95-4014-8289-2670DDE9CBF3}"/>
              </a:ext>
            </a:extLst>
          </p:cNvPr>
          <p:cNvSpPr>
            <a:spLocks noGrp="1"/>
          </p:cNvSpPr>
          <p:nvPr/>
        </p:nvSpPr>
        <p:spPr>
          <a:xfrm>
            <a:off x="419100" y="685800"/>
            <a:ext cx="10763250" cy="7810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2400" b="1">
                <a:solidFill>
                  <a:srgbClr val="17313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400" b="1">
                <a:solidFill>
                  <a:srgbClr val="17313B"/>
                </a:solidFill>
                <a:latin typeface="Microsoft YaHei"/>
                <a:ea typeface="Microsoft YaHei"/>
                <a:cs typeface="Microsoft YaHei"/>
              </a:rPr>
              <a:t>BLE 连接前先分角色：谁广播，谁扫描。</a:t>
            </a:r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61BBF58C-B24E-41BC-8D8B-2A9A47755596}"/>
              </a:ext>
            </a:extLst>
          </p:cNvPr>
          <p:cNvSpPr>
            <a:spLocks noGrp="1"/>
          </p:cNvSpPr>
          <p:nvPr/>
        </p:nvSpPr>
        <p:spPr>
          <a:xfrm>
            <a:off x="419100" y="1504950"/>
            <a:ext cx="8858250" cy="3238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200" b="0">
                <a:solidFill>
                  <a:srgbClr val="687A8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687A84"/>
                </a:solidFill>
                <a:latin typeface="Microsoft YaHei"/>
                <a:ea typeface="Microsoft YaHei"/>
                <a:cs typeface="Microsoft YaHei"/>
              </a:rPr>
              <a:t>本项目里 ESP32 是 Peripheral，小程序是 Central。</a:t>
            </a:r>
          </a:p>
        </p:txBody>
      </p:sp>
      <p:sp>
        <p:nvSpPr>
          <p:cNvPr id="6" name="矩形 5">
            <a:extLst>
              <a:ext uri="{FF2B5EF4-FFF2-40B4-BE49-F238E27FC236}">
                <a16:creationId xmlns:a16="http://schemas.microsoft.com/office/drawing/2014/main" id="{D5830287-FB7D-495A-9EF8-F07FB7095E03}"/>
              </a:ext>
            </a:extLst>
          </p:cNvPr>
          <p:cNvSpPr>
            <a:spLocks noGrp="1"/>
          </p:cNvSpPr>
          <p:nvPr/>
        </p:nvSpPr>
        <p:spPr>
          <a:xfrm>
            <a:off x="419100" y="6438900"/>
            <a:ext cx="8572500" cy="9525"/>
          </a:xfrm>
          <a:prstGeom prst="rect">
            <a:avLst/>
          </a:prstGeom>
          <a:solidFill>
            <a:srgbClr val="D6DEE1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7" name="矩形 6">
            <a:extLst>
              <a:ext uri="{FF2B5EF4-FFF2-40B4-BE49-F238E27FC236}">
                <a16:creationId xmlns:a16="http://schemas.microsoft.com/office/drawing/2014/main" id="{5A922D0E-A6CB-4733-AB17-858BCABE8856}"/>
              </a:ext>
            </a:extLst>
          </p:cNvPr>
          <p:cNvSpPr>
            <a:spLocks noGrp="1"/>
          </p:cNvSpPr>
          <p:nvPr/>
        </p:nvSpPr>
        <p:spPr>
          <a:xfrm>
            <a:off x="419100" y="6515100"/>
            <a:ext cx="8572500" cy="1905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675" b="0">
                <a:solidFill>
                  <a:srgbClr val="7C8A9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675" b="0">
                <a:solidFill>
                  <a:srgbClr val="7C8A90"/>
                </a:solidFill>
                <a:latin typeface="Microsoft YaHei"/>
                <a:ea typeface="Microsoft YaHei"/>
                <a:cs typeface="Microsoft YaHei"/>
              </a:rPr>
              <a:t>Source: Arduino / WeChat Mini Program source code; WeChat Mini Program BLE API docs</a:t>
            </a:r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16E95D17-B441-4755-82E4-982047E77D24}"/>
              </a:ext>
            </a:extLst>
          </p:cNvPr>
          <p:cNvSpPr>
            <a:spLocks noGrp="1"/>
          </p:cNvSpPr>
          <p:nvPr/>
        </p:nvSpPr>
        <p:spPr>
          <a:xfrm>
            <a:off x="11334750" y="6496050"/>
            <a:ext cx="419100" cy="2095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r">
              <a:defRPr sz="825" b="0">
                <a:solidFill>
                  <a:srgbClr val="7C8A9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825" b="0">
                <a:solidFill>
                  <a:srgbClr val="7C8A90"/>
                </a:solidFill>
                <a:latin typeface="Microsoft YaHei"/>
                <a:ea typeface="Microsoft YaHei"/>
                <a:cs typeface="Microsoft YaHei"/>
              </a:rPr>
              <a:t>05</a:t>
            </a:r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4B7F0518-BC20-4D71-AEDA-5F845FD575C6}"/>
              </a:ext>
            </a:extLst>
          </p:cNvPr>
          <p:cNvSpPr>
            <a:spLocks noGrp="1"/>
          </p:cNvSpPr>
          <p:nvPr/>
        </p:nvSpPr>
        <p:spPr>
          <a:xfrm>
            <a:off x="723900" y="2343150"/>
            <a:ext cx="3333750" cy="1619250"/>
          </a:xfrm>
          <a:prstGeom prst="rect">
            <a:avLst/>
          </a:prstGeom>
          <a:solidFill>
            <a:srgbClr val="FFF4DD"/>
          </a:solidFill>
          <a:ln w="9525">
            <a:solidFill>
              <a:srgbClr val="DCE5E7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94894072-5892-44D1-86C7-76316A4691AD}"/>
              </a:ext>
            </a:extLst>
          </p:cNvPr>
          <p:cNvSpPr>
            <a:spLocks noGrp="1"/>
          </p:cNvSpPr>
          <p:nvPr/>
        </p:nvSpPr>
        <p:spPr>
          <a:xfrm>
            <a:off x="723900" y="2343150"/>
            <a:ext cx="57150" cy="1619250"/>
          </a:xfrm>
          <a:prstGeom prst="rect">
            <a:avLst/>
          </a:prstGeom>
          <a:solidFill>
            <a:srgbClr val="F2A23A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1" name="矩形 10">
            <a:extLst>
              <a:ext uri="{FF2B5EF4-FFF2-40B4-BE49-F238E27FC236}">
                <a16:creationId xmlns:a16="http://schemas.microsoft.com/office/drawing/2014/main" id="{25F33E01-A901-4E00-8700-ABDF0C4D0DED}"/>
              </a:ext>
            </a:extLst>
          </p:cNvPr>
          <p:cNvSpPr>
            <a:spLocks noGrp="1"/>
          </p:cNvSpPr>
          <p:nvPr/>
        </p:nvSpPr>
        <p:spPr>
          <a:xfrm>
            <a:off x="895350" y="2476500"/>
            <a:ext cx="2990850" cy="2857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350" b="1">
                <a:solidFill>
                  <a:srgbClr val="17313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17313B"/>
                </a:solidFill>
                <a:latin typeface="Microsoft YaHei"/>
                <a:ea typeface="Microsoft YaHei"/>
                <a:cs typeface="Microsoft YaHei"/>
              </a:rPr>
              <a:t>Peripheral 外设</a:t>
            </a:r>
          </a:p>
        </p:txBody>
      </p:sp>
      <p:sp>
        <p:nvSpPr>
          <p:cNvPr id="12" name="矩形 11">
            <a:extLst>
              <a:ext uri="{FF2B5EF4-FFF2-40B4-BE49-F238E27FC236}">
                <a16:creationId xmlns:a16="http://schemas.microsoft.com/office/drawing/2014/main" id="{07D9EAC3-4FB7-4EE1-937C-FA56044A839E}"/>
              </a:ext>
            </a:extLst>
          </p:cNvPr>
          <p:cNvSpPr>
            <a:spLocks noGrp="1"/>
          </p:cNvSpPr>
          <p:nvPr/>
        </p:nvSpPr>
        <p:spPr>
          <a:xfrm>
            <a:off x="895350" y="2800350"/>
            <a:ext cx="2990850" cy="10668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200" b="0">
                <a:solidFill>
                  <a:srgbClr val="687A8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687A84"/>
                </a:solidFill>
                <a:latin typeface="Microsoft YaHei"/>
                <a:ea typeface="Microsoft YaHei"/>
                <a:cs typeface="Microsoft YaHei"/>
              </a:rPr>
              <a:t>通常是传感器、手环、血氧仪这类设备。</a:t>
            </a:r>
          </a:p>
          <a:p>
            <a:endParaRPr sz="1200" b="0">
              <a:solidFill>
                <a:srgbClr val="687A84"/>
              </a:solidFill>
              <a:latin typeface="Microsoft YaHei"/>
              <a:ea typeface="Microsoft YaHei"/>
              <a:cs typeface="Microsoft YaHei"/>
            </a:endParaRPr>
          </a:p>
          <a:p>
            <a:pPr algn="l">
              <a:defRPr sz="1200" b="0">
                <a:solidFill>
                  <a:srgbClr val="687A8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687A84"/>
                </a:solidFill>
                <a:latin typeface="Microsoft YaHei"/>
                <a:ea typeface="Microsoft YaHei"/>
                <a:cs typeface="Microsoft YaHei"/>
              </a:rPr>
              <a:t>它主动广播：我在这里，我叫什么，我有哪些服务。</a:t>
            </a:r>
          </a:p>
        </p:txBody>
      </p:sp>
      <p:sp>
        <p:nvSpPr>
          <p:cNvPr id="13" name="矩形 12">
            <a:extLst>
              <a:ext uri="{FF2B5EF4-FFF2-40B4-BE49-F238E27FC236}">
                <a16:creationId xmlns:a16="http://schemas.microsoft.com/office/drawing/2014/main" id="{5723282E-CBCC-404E-B7EA-9FD3D4BBFDFA}"/>
              </a:ext>
            </a:extLst>
          </p:cNvPr>
          <p:cNvSpPr>
            <a:spLocks noGrp="1"/>
          </p:cNvSpPr>
          <p:nvPr/>
        </p:nvSpPr>
        <p:spPr>
          <a:xfrm>
            <a:off x="8134350" y="2343150"/>
            <a:ext cx="3333750" cy="1619250"/>
          </a:xfrm>
          <a:prstGeom prst="rect">
            <a:avLst/>
          </a:prstGeom>
          <a:solidFill>
            <a:srgbClr val="E8F8F3"/>
          </a:solidFill>
          <a:ln w="9525">
            <a:solidFill>
              <a:srgbClr val="DCE5E7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4" name="矩形 13">
            <a:extLst>
              <a:ext uri="{FF2B5EF4-FFF2-40B4-BE49-F238E27FC236}">
                <a16:creationId xmlns:a16="http://schemas.microsoft.com/office/drawing/2014/main" id="{57258415-F05A-4CAD-BDC1-D8CEAA9C472A}"/>
              </a:ext>
            </a:extLst>
          </p:cNvPr>
          <p:cNvSpPr>
            <a:spLocks noGrp="1"/>
          </p:cNvSpPr>
          <p:nvPr/>
        </p:nvSpPr>
        <p:spPr>
          <a:xfrm>
            <a:off x="8134350" y="2343150"/>
            <a:ext cx="57150" cy="1619250"/>
          </a:xfrm>
          <a:prstGeom prst="rect">
            <a:avLst/>
          </a:prstGeom>
          <a:solidFill>
            <a:srgbClr val="18C7A3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5" name="矩形 14">
            <a:extLst>
              <a:ext uri="{FF2B5EF4-FFF2-40B4-BE49-F238E27FC236}">
                <a16:creationId xmlns:a16="http://schemas.microsoft.com/office/drawing/2014/main" id="{0AF8079B-D89D-4D6D-9A40-D1B42DB3AD42}"/>
              </a:ext>
            </a:extLst>
          </p:cNvPr>
          <p:cNvSpPr>
            <a:spLocks noGrp="1"/>
          </p:cNvSpPr>
          <p:nvPr/>
        </p:nvSpPr>
        <p:spPr>
          <a:xfrm>
            <a:off x="8305800" y="2476500"/>
            <a:ext cx="2990850" cy="2857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350" b="1">
                <a:solidFill>
                  <a:srgbClr val="17313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17313B"/>
                </a:solidFill>
                <a:latin typeface="Microsoft YaHei"/>
                <a:ea typeface="Microsoft YaHei"/>
                <a:cs typeface="Microsoft YaHei"/>
              </a:rPr>
              <a:t>Central 中心设备</a:t>
            </a:r>
          </a:p>
        </p:txBody>
      </p:sp>
      <p:sp>
        <p:nvSpPr>
          <p:cNvPr id="16" name="矩形 15">
            <a:extLst>
              <a:ext uri="{FF2B5EF4-FFF2-40B4-BE49-F238E27FC236}">
                <a16:creationId xmlns:a16="http://schemas.microsoft.com/office/drawing/2014/main" id="{AB6F6783-942D-4D06-9F83-B45B7C58E1A8}"/>
              </a:ext>
            </a:extLst>
          </p:cNvPr>
          <p:cNvSpPr>
            <a:spLocks noGrp="1"/>
          </p:cNvSpPr>
          <p:nvPr/>
        </p:nvSpPr>
        <p:spPr>
          <a:xfrm>
            <a:off x="8305800" y="2800350"/>
            <a:ext cx="2990850" cy="10668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200" b="0">
                <a:solidFill>
                  <a:srgbClr val="687A8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687A84"/>
                </a:solidFill>
                <a:latin typeface="Microsoft YaHei"/>
                <a:ea typeface="Microsoft YaHei"/>
                <a:cs typeface="Microsoft YaHei"/>
              </a:rPr>
              <a:t>通常是手机、电脑、网关。</a:t>
            </a:r>
          </a:p>
          <a:p>
            <a:endParaRPr sz="1200" b="0">
              <a:solidFill>
                <a:srgbClr val="687A84"/>
              </a:solidFill>
              <a:latin typeface="Microsoft YaHei"/>
              <a:ea typeface="Microsoft YaHei"/>
              <a:cs typeface="Microsoft YaHei"/>
            </a:endParaRPr>
          </a:p>
          <a:p>
            <a:pPr algn="l">
              <a:defRPr sz="1200" b="0">
                <a:solidFill>
                  <a:srgbClr val="687A8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687A84"/>
                </a:solidFill>
                <a:latin typeface="Microsoft YaHei"/>
                <a:ea typeface="Microsoft YaHei"/>
                <a:cs typeface="Microsoft YaHei"/>
              </a:rPr>
              <a:t>它负责扫描、筛选、连接、发现服务、订阅数据。</a:t>
            </a:r>
          </a:p>
        </p:txBody>
      </p:sp>
      <p:sp>
        <p:nvSpPr>
          <p:cNvPr id="17" name="矩形 16">
            <a:extLst>
              <a:ext uri="{FF2B5EF4-FFF2-40B4-BE49-F238E27FC236}">
                <a16:creationId xmlns:a16="http://schemas.microsoft.com/office/drawing/2014/main" id="{1C046394-0C90-4B9F-9199-909DDAA47F20}"/>
              </a:ext>
            </a:extLst>
          </p:cNvPr>
          <p:cNvSpPr>
            <a:spLocks noGrp="1"/>
          </p:cNvSpPr>
          <p:nvPr/>
        </p:nvSpPr>
        <p:spPr>
          <a:xfrm>
            <a:off x="4810125" y="2324100"/>
            <a:ext cx="2571750" cy="1619250"/>
          </a:xfrm>
          <a:prstGeom prst="rect">
            <a:avLst/>
          </a:prstGeom>
          <a:solidFill>
            <a:srgbClr val="FFFFFF"/>
          </a:solidFill>
          <a:ln w="9525">
            <a:solidFill>
              <a:srgbClr val="DCE5E7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8" name="矩形 17">
            <a:extLst>
              <a:ext uri="{FF2B5EF4-FFF2-40B4-BE49-F238E27FC236}">
                <a16:creationId xmlns:a16="http://schemas.microsoft.com/office/drawing/2014/main" id="{034D1FE8-009B-4399-8CF1-24446B0A277F}"/>
              </a:ext>
            </a:extLst>
          </p:cNvPr>
          <p:cNvSpPr>
            <a:spLocks noGrp="1"/>
          </p:cNvSpPr>
          <p:nvPr/>
        </p:nvSpPr>
        <p:spPr>
          <a:xfrm>
            <a:off x="5143500" y="2552700"/>
            <a:ext cx="1905000" cy="2476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ctr">
              <a:defRPr sz="1425" b="1">
                <a:solidFill>
                  <a:srgbClr val="17313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1">
                <a:solidFill>
                  <a:srgbClr val="17313B"/>
                </a:solidFill>
                <a:latin typeface="Microsoft YaHei"/>
                <a:ea typeface="Microsoft YaHei"/>
                <a:cs typeface="Microsoft YaHei"/>
              </a:rPr>
              <a:t>广播包 Advertising</a:t>
            </a:r>
          </a:p>
        </p:txBody>
      </p:sp>
      <p:sp>
        <p:nvSpPr>
          <p:cNvPr id="19" name="矩形 18">
            <a:extLst>
              <a:ext uri="{FF2B5EF4-FFF2-40B4-BE49-F238E27FC236}">
                <a16:creationId xmlns:a16="http://schemas.microsoft.com/office/drawing/2014/main" id="{AC19BED6-3394-4047-B200-301532352AF4}"/>
              </a:ext>
            </a:extLst>
          </p:cNvPr>
          <p:cNvSpPr>
            <a:spLocks noGrp="1"/>
          </p:cNvSpPr>
          <p:nvPr/>
        </p:nvSpPr>
        <p:spPr>
          <a:xfrm>
            <a:off x="5067300" y="2971800"/>
            <a:ext cx="2095500" cy="6667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ctr">
              <a:defRPr sz="1125" b="0">
                <a:solidFill>
                  <a:srgbClr val="687A84"/>
                </a:solidFill>
                <a:latin typeface="Consolas"/>
                <a:ea typeface="Consolas"/>
                <a:cs typeface="Consolas"/>
              </a:defRPr>
            </a:pPr>
            <a:r>
              <a:rPr sz="1125" b="0">
                <a:solidFill>
                  <a:srgbClr val="687A84"/>
                </a:solidFill>
                <a:latin typeface="Consolas"/>
                <a:ea typeface="Consolas"/>
                <a:cs typeface="Consolas"/>
              </a:rPr>
              <a:t>name = ESP32-PulseOX</a:t>
            </a:r>
          </a:p>
          <a:p>
            <a:pPr algn="ctr">
              <a:defRPr sz="1125" b="0">
                <a:solidFill>
                  <a:srgbClr val="687A84"/>
                </a:solidFill>
                <a:latin typeface="Consolas"/>
                <a:ea typeface="Consolas"/>
                <a:cs typeface="Consolas"/>
              </a:defRPr>
            </a:pPr>
            <a:r>
              <a:rPr sz="1125" b="0">
                <a:solidFill>
                  <a:srgbClr val="687A84"/>
                </a:solidFill>
                <a:latin typeface="Consolas"/>
                <a:ea typeface="Consolas"/>
                <a:cs typeface="Consolas"/>
              </a:rPr>
              <a:t>service = 7D6E0001...</a:t>
            </a:r>
          </a:p>
          <a:p>
            <a:pPr algn="ctr">
              <a:defRPr sz="1125" b="0">
                <a:solidFill>
                  <a:srgbClr val="687A84"/>
                </a:solidFill>
                <a:latin typeface="Consolas"/>
                <a:ea typeface="Consolas"/>
                <a:cs typeface="Consolas"/>
              </a:defRPr>
            </a:pPr>
            <a:r>
              <a:rPr sz="1125" b="0">
                <a:solidFill>
                  <a:srgbClr val="687A84"/>
                </a:solidFill>
                <a:latin typeface="Consolas"/>
                <a:ea typeface="Consolas"/>
                <a:cs typeface="Consolas"/>
              </a:rPr>
              <a:t>interval = 周期发送</a:t>
            </a:r>
          </a:p>
        </p:txBody>
      </p:sp>
      <p:sp>
        <p:nvSpPr>
          <p:cNvPr id="20" name="矩形 19">
            <a:extLst>
              <a:ext uri="{FF2B5EF4-FFF2-40B4-BE49-F238E27FC236}">
                <a16:creationId xmlns:a16="http://schemas.microsoft.com/office/drawing/2014/main" id="{4FFD2C5A-721B-45E8-A5A0-2188407F7140}"/>
              </a:ext>
            </a:extLst>
          </p:cNvPr>
          <p:cNvSpPr>
            <a:spLocks noGrp="1"/>
          </p:cNvSpPr>
          <p:nvPr/>
        </p:nvSpPr>
        <p:spPr>
          <a:xfrm>
            <a:off x="4057650" y="3133725"/>
            <a:ext cx="752475" cy="19050"/>
          </a:xfrm>
          <a:prstGeom prst="rect">
            <a:avLst/>
          </a:prstGeom>
          <a:solidFill>
            <a:srgbClr val="22A6C7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1" name="矩形 20">
            <a:extLst>
              <a:ext uri="{FF2B5EF4-FFF2-40B4-BE49-F238E27FC236}">
                <a16:creationId xmlns:a16="http://schemas.microsoft.com/office/drawing/2014/main" id="{9F3EEA63-1385-4513-A718-F45CD3771900}"/>
              </a:ext>
            </a:extLst>
          </p:cNvPr>
          <p:cNvSpPr>
            <a:spLocks noGrp="1"/>
          </p:cNvSpPr>
          <p:nvPr/>
        </p:nvSpPr>
        <p:spPr>
          <a:xfrm>
            <a:off x="4676775" y="3019425"/>
            <a:ext cx="247650" cy="2476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ctr"/>
          <a:lstStyle/>
          <a:p>
            <a:pPr algn="ctr">
              <a:defRPr sz="1275" b="1">
                <a:solidFill>
                  <a:srgbClr val="22A6C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1">
                <a:solidFill>
                  <a:srgbClr val="22A6C7"/>
                </a:solidFill>
                <a:latin typeface="Microsoft YaHei"/>
                <a:ea typeface="Microsoft YaHei"/>
                <a:cs typeface="Microsoft YaHei"/>
              </a:rPr>
              <a:t>&gt;</a:t>
            </a:r>
          </a:p>
        </p:txBody>
      </p:sp>
      <p:sp>
        <p:nvSpPr>
          <p:cNvPr id="22" name="矩形 21">
            <a:extLst>
              <a:ext uri="{FF2B5EF4-FFF2-40B4-BE49-F238E27FC236}">
                <a16:creationId xmlns:a16="http://schemas.microsoft.com/office/drawing/2014/main" id="{DA026CDF-F705-4923-BE6D-538F3819D4C9}"/>
              </a:ext>
            </a:extLst>
          </p:cNvPr>
          <p:cNvSpPr>
            <a:spLocks noGrp="1"/>
          </p:cNvSpPr>
          <p:nvPr/>
        </p:nvSpPr>
        <p:spPr>
          <a:xfrm>
            <a:off x="7381875" y="3133725"/>
            <a:ext cx="752475" cy="19050"/>
          </a:xfrm>
          <a:prstGeom prst="rect">
            <a:avLst/>
          </a:prstGeom>
          <a:solidFill>
            <a:srgbClr val="22A6C7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3" name="矩形 22">
            <a:extLst>
              <a:ext uri="{FF2B5EF4-FFF2-40B4-BE49-F238E27FC236}">
                <a16:creationId xmlns:a16="http://schemas.microsoft.com/office/drawing/2014/main" id="{02D488D3-C5D7-4CCC-A5AA-6E4404379118}"/>
              </a:ext>
            </a:extLst>
          </p:cNvPr>
          <p:cNvSpPr>
            <a:spLocks noGrp="1"/>
          </p:cNvSpPr>
          <p:nvPr/>
        </p:nvSpPr>
        <p:spPr>
          <a:xfrm>
            <a:off x="8001000" y="3019425"/>
            <a:ext cx="247650" cy="2476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ctr"/>
          <a:lstStyle/>
          <a:p>
            <a:pPr algn="ctr">
              <a:defRPr sz="1275" b="1">
                <a:solidFill>
                  <a:srgbClr val="22A6C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1">
                <a:solidFill>
                  <a:srgbClr val="22A6C7"/>
                </a:solidFill>
                <a:latin typeface="Microsoft YaHei"/>
                <a:ea typeface="Microsoft YaHei"/>
                <a:cs typeface="Microsoft YaHei"/>
              </a:rPr>
              <a:t>&gt;</a:t>
            </a:r>
          </a:p>
        </p:txBody>
      </p:sp>
      <p:sp>
        <p:nvSpPr>
          <p:cNvPr id="24" name="矩形 23">
            <a:extLst>
              <a:ext uri="{FF2B5EF4-FFF2-40B4-BE49-F238E27FC236}">
                <a16:creationId xmlns:a16="http://schemas.microsoft.com/office/drawing/2014/main" id="{A00949D5-D905-46DF-90DD-2F2E03FD17CE}"/>
              </a:ext>
            </a:extLst>
          </p:cNvPr>
          <p:cNvSpPr>
            <a:spLocks noGrp="1"/>
          </p:cNvSpPr>
          <p:nvPr/>
        </p:nvSpPr>
        <p:spPr>
          <a:xfrm>
            <a:off x="1409700" y="4876800"/>
            <a:ext cx="66675" cy="66675"/>
          </a:xfrm>
          <a:prstGeom prst="rect">
            <a:avLst/>
          </a:prstGeom>
          <a:solidFill>
            <a:srgbClr val="F2A23A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5" name="矩形 24">
            <a:extLst>
              <a:ext uri="{FF2B5EF4-FFF2-40B4-BE49-F238E27FC236}">
                <a16:creationId xmlns:a16="http://schemas.microsoft.com/office/drawing/2014/main" id="{6013784B-D035-448C-8570-A23BAAF4E05F}"/>
              </a:ext>
            </a:extLst>
          </p:cNvPr>
          <p:cNvSpPr>
            <a:spLocks noGrp="1"/>
          </p:cNvSpPr>
          <p:nvPr/>
        </p:nvSpPr>
        <p:spPr>
          <a:xfrm>
            <a:off x="1581150" y="4800600"/>
            <a:ext cx="4095750" cy="3619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200" b="0">
                <a:solidFill>
                  <a:srgbClr val="17313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17313B"/>
                </a:solidFill>
                <a:latin typeface="Microsoft YaHei"/>
                <a:ea typeface="Microsoft YaHei"/>
                <a:cs typeface="Microsoft YaHei"/>
              </a:rPr>
              <a:t>先广播，不代表已经连接。</a:t>
            </a:r>
          </a:p>
        </p:txBody>
      </p:sp>
      <p:sp>
        <p:nvSpPr>
          <p:cNvPr id="26" name="矩形 25">
            <a:extLst>
              <a:ext uri="{FF2B5EF4-FFF2-40B4-BE49-F238E27FC236}">
                <a16:creationId xmlns:a16="http://schemas.microsoft.com/office/drawing/2014/main" id="{EA2DAA6D-FEB8-48A0-8C4F-6BD829F67312}"/>
              </a:ext>
            </a:extLst>
          </p:cNvPr>
          <p:cNvSpPr>
            <a:spLocks noGrp="1"/>
          </p:cNvSpPr>
          <p:nvPr/>
        </p:nvSpPr>
        <p:spPr>
          <a:xfrm>
            <a:off x="1409700" y="5295900"/>
            <a:ext cx="66675" cy="66675"/>
          </a:xfrm>
          <a:prstGeom prst="rect">
            <a:avLst/>
          </a:prstGeom>
          <a:solidFill>
            <a:srgbClr val="18C7A3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7" name="矩形 26">
            <a:extLst>
              <a:ext uri="{FF2B5EF4-FFF2-40B4-BE49-F238E27FC236}">
                <a16:creationId xmlns:a16="http://schemas.microsoft.com/office/drawing/2014/main" id="{50305057-3236-4B31-BE05-EB01CC8EA0C8}"/>
              </a:ext>
            </a:extLst>
          </p:cNvPr>
          <p:cNvSpPr>
            <a:spLocks noGrp="1"/>
          </p:cNvSpPr>
          <p:nvPr/>
        </p:nvSpPr>
        <p:spPr>
          <a:xfrm>
            <a:off x="1581150" y="5219700"/>
            <a:ext cx="6667500" cy="3619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200" b="0">
                <a:solidFill>
                  <a:srgbClr val="17313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17313B"/>
                </a:solidFill>
                <a:latin typeface="Microsoft YaHei"/>
                <a:ea typeface="Microsoft YaHei"/>
                <a:cs typeface="Microsoft YaHei"/>
              </a:rPr>
              <a:t>小程序扫描到设备后，还要按 UUID 找到真正的数据服务。</a:t>
            </a:r>
          </a:p>
        </p:txBody>
      </p:sp>
    </p:spTree>
    <p:extLst>
      <p:ext uri="{BB962C8B-B14F-4D97-AF65-F5344CB8AC3E}">
        <p14:creationId xmlns:p14="http://schemas.microsoft.com/office/powerpoint/2010/main" val="2052475382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矩形 23">
            <a:extLst>
              <a:ext uri="{FF2B5EF4-FFF2-40B4-BE49-F238E27FC236}">
                <a16:creationId xmlns:a16="http://schemas.microsoft.com/office/drawing/2014/main" id="{0859F7CF-7B51-44BC-9E94-4FEA29082120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6F3EA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" name="矩形 1">
            <a:extLst>
              <a:ext uri="{FF2B5EF4-FFF2-40B4-BE49-F238E27FC236}">
                <a16:creationId xmlns:a16="http://schemas.microsoft.com/office/drawing/2014/main" id="{AD0DCE57-2A97-4EB6-AAA6-8EC0D73405F7}"/>
              </a:ext>
            </a:extLst>
          </p:cNvPr>
          <p:cNvSpPr>
            <a:spLocks noGrp="1"/>
          </p:cNvSpPr>
          <p:nvPr/>
        </p:nvSpPr>
        <p:spPr>
          <a:xfrm>
            <a:off x="419100" y="323850"/>
            <a:ext cx="95250" cy="190500"/>
          </a:xfrm>
          <a:prstGeom prst="rect">
            <a:avLst/>
          </a:prstGeom>
          <a:solidFill>
            <a:srgbClr val="22A6C7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B9499E63-0ED8-454B-9452-D1604945859C}"/>
              </a:ext>
            </a:extLst>
          </p:cNvPr>
          <p:cNvSpPr>
            <a:spLocks noGrp="1"/>
          </p:cNvSpPr>
          <p:nvPr/>
        </p:nvSpPr>
        <p:spPr>
          <a:xfrm>
            <a:off x="590550" y="266700"/>
            <a:ext cx="4095750" cy="3238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ctr"/>
          <a:lstStyle/>
          <a:p>
            <a:pPr algn="l">
              <a:defRPr sz="1125" b="1">
                <a:solidFill>
                  <a:srgbClr val="687A8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1">
                <a:solidFill>
                  <a:srgbClr val="687A84"/>
                </a:solidFill>
                <a:latin typeface="Microsoft YaHei"/>
                <a:ea typeface="Microsoft YaHei"/>
                <a:cs typeface="Microsoft YaHei"/>
              </a:rPr>
              <a:t>GATT VOCABULARY</a:t>
            </a:r>
          </a:p>
        </p:txBody>
      </p:sp>
      <p:sp>
        <p:nvSpPr>
          <p:cNvPr id="4" name="矩形 3">
            <a:extLst>
              <a:ext uri="{FF2B5EF4-FFF2-40B4-BE49-F238E27FC236}">
                <a16:creationId xmlns:a16="http://schemas.microsoft.com/office/drawing/2014/main" id="{D2B31623-0EA1-43BD-99F8-4FC4A243EA1F}"/>
              </a:ext>
            </a:extLst>
          </p:cNvPr>
          <p:cNvSpPr>
            <a:spLocks noGrp="1"/>
          </p:cNvSpPr>
          <p:nvPr/>
        </p:nvSpPr>
        <p:spPr>
          <a:xfrm>
            <a:off x="419100" y="685800"/>
            <a:ext cx="10763250" cy="7810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2400" b="1">
                <a:solidFill>
                  <a:srgbClr val="17313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400" b="1">
                <a:solidFill>
                  <a:srgbClr val="17313B"/>
                </a:solidFill>
                <a:latin typeface="Microsoft YaHei"/>
                <a:ea typeface="Microsoft YaHei"/>
                <a:cs typeface="Microsoft YaHei"/>
              </a:rPr>
              <a:t>GATT 可以理解成一本“蓝牙数据目录”。</a:t>
            </a:r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2CE9A49C-9BC2-4098-B712-2160E028016F}"/>
              </a:ext>
            </a:extLst>
          </p:cNvPr>
          <p:cNvSpPr>
            <a:spLocks noGrp="1"/>
          </p:cNvSpPr>
          <p:nvPr/>
        </p:nvSpPr>
        <p:spPr>
          <a:xfrm>
            <a:off x="419100" y="1504950"/>
            <a:ext cx="8858250" cy="3238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200" b="0">
                <a:solidFill>
                  <a:srgbClr val="687A8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687A84"/>
                </a:solidFill>
                <a:latin typeface="Microsoft YaHei"/>
                <a:ea typeface="Microsoft YaHei"/>
                <a:cs typeface="Microsoft YaHei"/>
              </a:rPr>
              <a:t>目录里不是随便放文本，而是用 UUID 标识服务和字段。</a:t>
            </a:r>
          </a:p>
        </p:txBody>
      </p:sp>
      <p:sp>
        <p:nvSpPr>
          <p:cNvPr id="6" name="矩形 5">
            <a:extLst>
              <a:ext uri="{FF2B5EF4-FFF2-40B4-BE49-F238E27FC236}">
                <a16:creationId xmlns:a16="http://schemas.microsoft.com/office/drawing/2014/main" id="{632DE0A6-1B19-4EEC-A42C-87AD53B3460C}"/>
              </a:ext>
            </a:extLst>
          </p:cNvPr>
          <p:cNvSpPr>
            <a:spLocks noGrp="1"/>
          </p:cNvSpPr>
          <p:nvPr/>
        </p:nvSpPr>
        <p:spPr>
          <a:xfrm>
            <a:off x="419100" y="6438900"/>
            <a:ext cx="8572500" cy="9525"/>
          </a:xfrm>
          <a:prstGeom prst="rect">
            <a:avLst/>
          </a:prstGeom>
          <a:solidFill>
            <a:srgbClr val="D6DEE1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7" name="矩形 6">
            <a:extLst>
              <a:ext uri="{FF2B5EF4-FFF2-40B4-BE49-F238E27FC236}">
                <a16:creationId xmlns:a16="http://schemas.microsoft.com/office/drawing/2014/main" id="{4FE729CF-CF0A-4F98-A01F-E57006170AB3}"/>
              </a:ext>
            </a:extLst>
          </p:cNvPr>
          <p:cNvSpPr>
            <a:spLocks noGrp="1"/>
          </p:cNvSpPr>
          <p:nvPr/>
        </p:nvSpPr>
        <p:spPr>
          <a:xfrm>
            <a:off x="419100" y="6515100"/>
            <a:ext cx="8572500" cy="1905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675" b="0">
                <a:solidFill>
                  <a:srgbClr val="7C8A9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675" b="0">
                <a:solidFill>
                  <a:srgbClr val="7C8A90"/>
                </a:solidFill>
                <a:latin typeface="Microsoft YaHei"/>
                <a:ea typeface="Microsoft YaHei"/>
                <a:cs typeface="Microsoft YaHei"/>
              </a:rPr>
              <a:t>Source: Arduino / WeChat Mini Program source code; WeChat Mini Program BLE API docs</a:t>
            </a:r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803BD5EE-35C5-49A2-8180-3D0CDFDA8C82}"/>
              </a:ext>
            </a:extLst>
          </p:cNvPr>
          <p:cNvSpPr>
            <a:spLocks noGrp="1"/>
          </p:cNvSpPr>
          <p:nvPr/>
        </p:nvSpPr>
        <p:spPr>
          <a:xfrm>
            <a:off x="11334750" y="6496050"/>
            <a:ext cx="419100" cy="2095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r">
              <a:defRPr sz="825" b="0">
                <a:solidFill>
                  <a:srgbClr val="7C8A9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825" b="0">
                <a:solidFill>
                  <a:srgbClr val="7C8A90"/>
                </a:solidFill>
                <a:latin typeface="Microsoft YaHei"/>
                <a:ea typeface="Microsoft YaHei"/>
                <a:cs typeface="Microsoft YaHei"/>
              </a:rPr>
              <a:t>06</a:t>
            </a:r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13893F3E-B9E9-42A2-8539-1B5EDC92EB74}"/>
              </a:ext>
            </a:extLst>
          </p:cNvPr>
          <p:cNvSpPr>
            <a:spLocks noGrp="1"/>
          </p:cNvSpPr>
          <p:nvPr/>
        </p:nvSpPr>
        <p:spPr>
          <a:xfrm>
            <a:off x="1181100" y="2114550"/>
            <a:ext cx="9810750" cy="3429000"/>
          </a:xfrm>
          <a:prstGeom prst="rect">
            <a:avLst/>
          </a:prstGeom>
          <a:solidFill>
            <a:srgbClr val="FFFFFF"/>
          </a:solidFill>
          <a:ln w="11430">
            <a:solidFill>
              <a:srgbClr val="DCE5E7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FDF022DF-B1C1-4DA7-9911-7DD4C73FE37B}"/>
              </a:ext>
            </a:extLst>
          </p:cNvPr>
          <p:cNvSpPr>
            <a:spLocks noGrp="1"/>
          </p:cNvSpPr>
          <p:nvPr/>
        </p:nvSpPr>
        <p:spPr>
          <a:xfrm>
            <a:off x="1562100" y="2400300"/>
            <a:ext cx="2476500" cy="3238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800" b="1">
                <a:solidFill>
                  <a:srgbClr val="17313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1">
                <a:solidFill>
                  <a:srgbClr val="17313B"/>
                </a:solidFill>
                <a:latin typeface="Microsoft YaHei"/>
                <a:ea typeface="Microsoft YaHei"/>
                <a:cs typeface="Microsoft YaHei"/>
              </a:rPr>
              <a:t>GATT Service</a:t>
            </a:r>
          </a:p>
        </p:txBody>
      </p:sp>
      <p:sp>
        <p:nvSpPr>
          <p:cNvPr id="11" name="矩形 10">
            <a:extLst>
              <a:ext uri="{FF2B5EF4-FFF2-40B4-BE49-F238E27FC236}">
                <a16:creationId xmlns:a16="http://schemas.microsoft.com/office/drawing/2014/main" id="{9FA0F863-5BB5-4D1C-A85F-9463802396C9}"/>
              </a:ext>
            </a:extLst>
          </p:cNvPr>
          <p:cNvSpPr>
            <a:spLocks noGrp="1"/>
          </p:cNvSpPr>
          <p:nvPr/>
        </p:nvSpPr>
        <p:spPr>
          <a:xfrm>
            <a:off x="6667500" y="2400300"/>
            <a:ext cx="3429000" cy="323850"/>
          </a:xfrm>
          <a:prstGeom prst="rect">
            <a:avLst/>
          </a:prstGeom>
          <a:solidFill>
            <a:srgbClr val="E7F6FA"/>
          </a:solidFill>
          <a:ln w="13335">
            <a:solidFill>
              <a:srgbClr val="22A6C7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2" name="矩形 11">
            <a:extLst>
              <a:ext uri="{FF2B5EF4-FFF2-40B4-BE49-F238E27FC236}">
                <a16:creationId xmlns:a16="http://schemas.microsoft.com/office/drawing/2014/main" id="{2308F82A-A145-4D41-A58E-D148544F09EB}"/>
              </a:ext>
            </a:extLst>
          </p:cNvPr>
          <p:cNvSpPr>
            <a:spLocks noGrp="1"/>
          </p:cNvSpPr>
          <p:nvPr/>
        </p:nvSpPr>
        <p:spPr>
          <a:xfrm>
            <a:off x="6762750" y="2447925"/>
            <a:ext cx="323850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ctr"/>
          <a:lstStyle/>
          <a:p>
            <a:pPr algn="ctr">
              <a:defRPr sz="1013" b="1">
                <a:solidFill>
                  <a:srgbClr val="22A6C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13" b="1">
                <a:solidFill>
                  <a:srgbClr val="22A6C7"/>
                </a:solidFill>
                <a:latin typeface="Microsoft YaHei"/>
                <a:ea typeface="Microsoft YaHei"/>
                <a:cs typeface="Microsoft YaHei"/>
              </a:rPr>
              <a:t>Service UUID: 7D6E0001-...</a:t>
            </a:r>
          </a:p>
        </p:txBody>
      </p:sp>
      <p:sp>
        <p:nvSpPr>
          <p:cNvPr id="13" name="矩形 12">
            <a:extLst>
              <a:ext uri="{FF2B5EF4-FFF2-40B4-BE49-F238E27FC236}">
                <a16:creationId xmlns:a16="http://schemas.microsoft.com/office/drawing/2014/main" id="{7977E6A9-662E-4B6A-A2D6-10D89A77D52F}"/>
              </a:ext>
            </a:extLst>
          </p:cNvPr>
          <p:cNvSpPr>
            <a:spLocks noGrp="1"/>
          </p:cNvSpPr>
          <p:nvPr/>
        </p:nvSpPr>
        <p:spPr>
          <a:xfrm>
            <a:off x="1619250" y="3219450"/>
            <a:ext cx="3714750" cy="1219200"/>
          </a:xfrm>
          <a:prstGeom prst="rect">
            <a:avLst/>
          </a:prstGeom>
          <a:solidFill>
            <a:srgbClr val="E7F6FA"/>
          </a:solidFill>
          <a:ln w="9525">
            <a:solidFill>
              <a:srgbClr val="DCE5E7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4" name="矩形 13">
            <a:extLst>
              <a:ext uri="{FF2B5EF4-FFF2-40B4-BE49-F238E27FC236}">
                <a16:creationId xmlns:a16="http://schemas.microsoft.com/office/drawing/2014/main" id="{22C1EF1C-C8AC-442A-930F-0C60A4DEA66A}"/>
              </a:ext>
            </a:extLst>
          </p:cNvPr>
          <p:cNvSpPr>
            <a:spLocks noGrp="1"/>
          </p:cNvSpPr>
          <p:nvPr/>
        </p:nvSpPr>
        <p:spPr>
          <a:xfrm>
            <a:off x="1619250" y="3219450"/>
            <a:ext cx="57150" cy="1219200"/>
          </a:xfrm>
          <a:prstGeom prst="rect">
            <a:avLst/>
          </a:prstGeom>
          <a:solidFill>
            <a:srgbClr val="22A6C7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5" name="矩形 14">
            <a:extLst>
              <a:ext uri="{FF2B5EF4-FFF2-40B4-BE49-F238E27FC236}">
                <a16:creationId xmlns:a16="http://schemas.microsoft.com/office/drawing/2014/main" id="{6FA352BD-65BD-44BA-97D7-96043F22DD63}"/>
              </a:ext>
            </a:extLst>
          </p:cNvPr>
          <p:cNvSpPr>
            <a:spLocks noGrp="1"/>
          </p:cNvSpPr>
          <p:nvPr/>
        </p:nvSpPr>
        <p:spPr>
          <a:xfrm>
            <a:off x="1790700" y="3352800"/>
            <a:ext cx="3371850" cy="2857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350" b="1">
                <a:solidFill>
                  <a:srgbClr val="17313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17313B"/>
                </a:solidFill>
                <a:latin typeface="Microsoft YaHei"/>
                <a:ea typeface="Microsoft YaHei"/>
                <a:cs typeface="Microsoft YaHei"/>
              </a:rPr>
              <a:t>Characteristic: Wave</a:t>
            </a:r>
          </a:p>
        </p:txBody>
      </p:sp>
      <p:sp>
        <p:nvSpPr>
          <p:cNvPr id="16" name="矩形 15">
            <a:extLst>
              <a:ext uri="{FF2B5EF4-FFF2-40B4-BE49-F238E27FC236}">
                <a16:creationId xmlns:a16="http://schemas.microsoft.com/office/drawing/2014/main" id="{69545FE4-A1FF-4FB8-9B06-22D99CF5576B}"/>
              </a:ext>
            </a:extLst>
          </p:cNvPr>
          <p:cNvSpPr>
            <a:spLocks noGrp="1"/>
          </p:cNvSpPr>
          <p:nvPr/>
        </p:nvSpPr>
        <p:spPr>
          <a:xfrm>
            <a:off x="1790700" y="3676650"/>
            <a:ext cx="3371850" cy="6667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050" b="0">
                <a:solidFill>
                  <a:srgbClr val="687A8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0">
                <a:solidFill>
                  <a:srgbClr val="687A84"/>
                </a:solidFill>
                <a:latin typeface="Microsoft YaHei"/>
                <a:ea typeface="Microsoft YaHei"/>
                <a:cs typeface="Microsoft YaHei"/>
              </a:rPr>
              <a:t>UUID: 7D6E0002-...</a:t>
            </a:r>
          </a:p>
          <a:p>
            <a:pPr algn="l">
              <a:defRPr sz="1050" b="0">
                <a:solidFill>
                  <a:srgbClr val="687A8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0">
                <a:solidFill>
                  <a:srgbClr val="687A84"/>
                </a:solidFill>
                <a:latin typeface="Microsoft YaHei"/>
                <a:ea typeface="Microsoft YaHei"/>
                <a:cs typeface="Microsoft YaHei"/>
              </a:rPr>
              <a:t>Properties: READ | NOTIFY</a:t>
            </a:r>
          </a:p>
          <a:p>
            <a:pPr algn="l">
              <a:defRPr sz="1050" b="0">
                <a:solidFill>
                  <a:srgbClr val="687A8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0">
                <a:solidFill>
                  <a:srgbClr val="687A84"/>
                </a:solidFill>
                <a:latin typeface="Microsoft YaHei"/>
                <a:ea typeface="Microsoft YaHei"/>
                <a:cs typeface="Microsoft YaHei"/>
              </a:rPr>
              <a:t>Value: 4-byte packet</a:t>
            </a:r>
          </a:p>
        </p:txBody>
      </p:sp>
      <p:sp>
        <p:nvSpPr>
          <p:cNvPr id="17" name="矩形 16">
            <a:extLst>
              <a:ext uri="{FF2B5EF4-FFF2-40B4-BE49-F238E27FC236}">
                <a16:creationId xmlns:a16="http://schemas.microsoft.com/office/drawing/2014/main" id="{08E5B1EA-7E5F-4DEA-B545-8FE356E1B64C}"/>
              </a:ext>
            </a:extLst>
          </p:cNvPr>
          <p:cNvSpPr>
            <a:spLocks noGrp="1"/>
          </p:cNvSpPr>
          <p:nvPr/>
        </p:nvSpPr>
        <p:spPr>
          <a:xfrm>
            <a:off x="6858000" y="3219450"/>
            <a:ext cx="3714750" cy="1219200"/>
          </a:xfrm>
          <a:prstGeom prst="rect">
            <a:avLst/>
          </a:prstGeom>
          <a:solidFill>
            <a:srgbClr val="E8F8F3"/>
          </a:solidFill>
          <a:ln w="9525">
            <a:solidFill>
              <a:srgbClr val="DCE5E7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8" name="矩形 17">
            <a:extLst>
              <a:ext uri="{FF2B5EF4-FFF2-40B4-BE49-F238E27FC236}">
                <a16:creationId xmlns:a16="http://schemas.microsoft.com/office/drawing/2014/main" id="{D8442AC3-4AB3-48D0-8C77-CD651280AA11}"/>
              </a:ext>
            </a:extLst>
          </p:cNvPr>
          <p:cNvSpPr>
            <a:spLocks noGrp="1"/>
          </p:cNvSpPr>
          <p:nvPr/>
        </p:nvSpPr>
        <p:spPr>
          <a:xfrm>
            <a:off x="6858000" y="3219450"/>
            <a:ext cx="57150" cy="1219200"/>
          </a:xfrm>
          <a:prstGeom prst="rect">
            <a:avLst/>
          </a:prstGeom>
          <a:solidFill>
            <a:srgbClr val="18C7A3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9" name="矩形 18">
            <a:extLst>
              <a:ext uri="{FF2B5EF4-FFF2-40B4-BE49-F238E27FC236}">
                <a16:creationId xmlns:a16="http://schemas.microsoft.com/office/drawing/2014/main" id="{AE18BDFD-9A2D-4C45-8F98-2418EE1BE8AA}"/>
              </a:ext>
            </a:extLst>
          </p:cNvPr>
          <p:cNvSpPr>
            <a:spLocks noGrp="1"/>
          </p:cNvSpPr>
          <p:nvPr/>
        </p:nvSpPr>
        <p:spPr>
          <a:xfrm>
            <a:off x="7029450" y="3352800"/>
            <a:ext cx="3371850" cy="2857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350" b="1">
                <a:solidFill>
                  <a:srgbClr val="17313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17313B"/>
                </a:solidFill>
                <a:latin typeface="Microsoft YaHei"/>
                <a:ea typeface="Microsoft YaHei"/>
                <a:cs typeface="Microsoft YaHei"/>
              </a:rPr>
              <a:t>Characteristic: Metrics</a:t>
            </a:r>
          </a:p>
        </p:txBody>
      </p:sp>
      <p:sp>
        <p:nvSpPr>
          <p:cNvPr id="20" name="矩形 19">
            <a:extLst>
              <a:ext uri="{FF2B5EF4-FFF2-40B4-BE49-F238E27FC236}">
                <a16:creationId xmlns:a16="http://schemas.microsoft.com/office/drawing/2014/main" id="{677895E7-AEF8-438D-98C2-6326EA136680}"/>
              </a:ext>
            </a:extLst>
          </p:cNvPr>
          <p:cNvSpPr>
            <a:spLocks noGrp="1"/>
          </p:cNvSpPr>
          <p:nvPr/>
        </p:nvSpPr>
        <p:spPr>
          <a:xfrm>
            <a:off x="7029450" y="3676650"/>
            <a:ext cx="3371850" cy="6667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050" b="0">
                <a:solidFill>
                  <a:srgbClr val="687A8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0">
                <a:solidFill>
                  <a:srgbClr val="687A84"/>
                </a:solidFill>
                <a:latin typeface="Microsoft YaHei"/>
                <a:ea typeface="Microsoft YaHei"/>
                <a:cs typeface="Microsoft YaHei"/>
              </a:rPr>
              <a:t>UUID: 7D6E0003-...</a:t>
            </a:r>
          </a:p>
          <a:p>
            <a:pPr algn="l">
              <a:defRPr sz="1050" b="0">
                <a:solidFill>
                  <a:srgbClr val="687A8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0">
                <a:solidFill>
                  <a:srgbClr val="687A84"/>
                </a:solidFill>
                <a:latin typeface="Microsoft YaHei"/>
                <a:ea typeface="Microsoft YaHei"/>
                <a:cs typeface="Microsoft YaHei"/>
              </a:rPr>
              <a:t>Properties: READ | NOTIFY</a:t>
            </a:r>
          </a:p>
          <a:p>
            <a:pPr algn="l">
              <a:defRPr sz="1050" b="0">
                <a:solidFill>
                  <a:srgbClr val="687A8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0">
                <a:solidFill>
                  <a:srgbClr val="687A84"/>
                </a:solidFill>
                <a:latin typeface="Microsoft YaHei"/>
                <a:ea typeface="Microsoft YaHei"/>
                <a:cs typeface="Microsoft YaHei"/>
              </a:rPr>
              <a:t>Value: 6-byte packet</a:t>
            </a:r>
          </a:p>
        </p:txBody>
      </p:sp>
      <p:sp>
        <p:nvSpPr>
          <p:cNvPr id="21" name="矩形 20">
            <a:extLst>
              <a:ext uri="{FF2B5EF4-FFF2-40B4-BE49-F238E27FC236}">
                <a16:creationId xmlns:a16="http://schemas.microsoft.com/office/drawing/2014/main" id="{426BB066-556A-4367-B29A-BF1A5C0D85DF}"/>
              </a:ext>
            </a:extLst>
          </p:cNvPr>
          <p:cNvSpPr>
            <a:spLocks noGrp="1"/>
          </p:cNvSpPr>
          <p:nvPr/>
        </p:nvSpPr>
        <p:spPr>
          <a:xfrm>
            <a:off x="3419475" y="2914650"/>
            <a:ext cx="19050" cy="304800"/>
          </a:xfrm>
          <a:prstGeom prst="rect">
            <a:avLst/>
          </a:prstGeom>
          <a:solidFill>
            <a:srgbClr val="22A6C7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2" name="矩形 21">
            <a:extLst>
              <a:ext uri="{FF2B5EF4-FFF2-40B4-BE49-F238E27FC236}">
                <a16:creationId xmlns:a16="http://schemas.microsoft.com/office/drawing/2014/main" id="{5436C33A-92DE-436D-B1E8-355CA6FF45BF}"/>
              </a:ext>
            </a:extLst>
          </p:cNvPr>
          <p:cNvSpPr>
            <a:spLocks noGrp="1"/>
          </p:cNvSpPr>
          <p:nvPr/>
        </p:nvSpPr>
        <p:spPr>
          <a:xfrm>
            <a:off x="8658225" y="2914650"/>
            <a:ext cx="19050" cy="304800"/>
          </a:xfrm>
          <a:prstGeom prst="rect">
            <a:avLst/>
          </a:prstGeom>
          <a:solidFill>
            <a:srgbClr val="18C7A3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3" name="矩形 22">
            <a:extLst>
              <a:ext uri="{FF2B5EF4-FFF2-40B4-BE49-F238E27FC236}">
                <a16:creationId xmlns:a16="http://schemas.microsoft.com/office/drawing/2014/main" id="{51127338-CA1C-4430-93EB-00831E8C602B}"/>
              </a:ext>
            </a:extLst>
          </p:cNvPr>
          <p:cNvSpPr>
            <a:spLocks noGrp="1"/>
          </p:cNvSpPr>
          <p:nvPr/>
        </p:nvSpPr>
        <p:spPr>
          <a:xfrm>
            <a:off x="1790700" y="4857750"/>
            <a:ext cx="8572500" cy="4000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ctr">
              <a:defRPr sz="1500" b="1">
                <a:solidFill>
                  <a:srgbClr val="17313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>
                <a:solidFill>
                  <a:srgbClr val="17313B"/>
                </a:solidFill>
                <a:latin typeface="Microsoft YaHei"/>
                <a:ea typeface="Microsoft YaHei"/>
                <a:cs typeface="Microsoft YaHei"/>
              </a:rPr>
              <a:t>一句话：Service 是一类功能，Characteristic 是可读/可通知的数据字段，UUID 是双方约定的编号。</a:t>
            </a:r>
          </a:p>
        </p:txBody>
      </p:sp>
    </p:spTree>
    <p:extLst>
      <p:ext uri="{BB962C8B-B14F-4D97-AF65-F5344CB8AC3E}">
        <p14:creationId xmlns:p14="http://schemas.microsoft.com/office/powerpoint/2010/main" val="1213926453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" name="矩形 39">
            <a:extLst>
              <a:ext uri="{FF2B5EF4-FFF2-40B4-BE49-F238E27FC236}">
                <a16:creationId xmlns:a16="http://schemas.microsoft.com/office/drawing/2014/main" id="{DB43F760-9C3B-4BEC-A63C-110F79EB16FE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6F3EA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" name="矩形 1">
            <a:extLst>
              <a:ext uri="{FF2B5EF4-FFF2-40B4-BE49-F238E27FC236}">
                <a16:creationId xmlns:a16="http://schemas.microsoft.com/office/drawing/2014/main" id="{181BE833-BFCD-44B9-98A9-0488776FB982}"/>
              </a:ext>
            </a:extLst>
          </p:cNvPr>
          <p:cNvSpPr>
            <a:spLocks noGrp="1"/>
          </p:cNvSpPr>
          <p:nvPr/>
        </p:nvSpPr>
        <p:spPr>
          <a:xfrm>
            <a:off x="419100" y="323850"/>
            <a:ext cx="95250" cy="190500"/>
          </a:xfrm>
          <a:prstGeom prst="rect">
            <a:avLst/>
          </a:prstGeom>
          <a:solidFill>
            <a:srgbClr val="22A6C7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B98B9525-BD89-452B-A9D2-5C52EF173C89}"/>
              </a:ext>
            </a:extLst>
          </p:cNvPr>
          <p:cNvSpPr>
            <a:spLocks noGrp="1"/>
          </p:cNvSpPr>
          <p:nvPr/>
        </p:nvSpPr>
        <p:spPr>
          <a:xfrm>
            <a:off x="590550" y="266700"/>
            <a:ext cx="4095750" cy="3238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ctr"/>
          <a:lstStyle/>
          <a:p>
            <a:pPr algn="l">
              <a:defRPr sz="1125" b="1">
                <a:solidFill>
                  <a:srgbClr val="687A8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1">
                <a:solidFill>
                  <a:srgbClr val="687A84"/>
                </a:solidFill>
                <a:latin typeface="Microsoft YaHei"/>
                <a:ea typeface="Microsoft YaHei"/>
                <a:cs typeface="Microsoft YaHei"/>
              </a:rPr>
              <a:t>STREAM VS GATT</a:t>
            </a:r>
          </a:p>
        </p:txBody>
      </p:sp>
      <p:sp>
        <p:nvSpPr>
          <p:cNvPr id="4" name="矩形 3">
            <a:extLst>
              <a:ext uri="{FF2B5EF4-FFF2-40B4-BE49-F238E27FC236}">
                <a16:creationId xmlns:a16="http://schemas.microsoft.com/office/drawing/2014/main" id="{7CF5644B-5F2F-41DE-8AAA-D935187494D3}"/>
              </a:ext>
            </a:extLst>
          </p:cNvPr>
          <p:cNvSpPr>
            <a:spLocks noGrp="1"/>
          </p:cNvSpPr>
          <p:nvPr/>
        </p:nvSpPr>
        <p:spPr>
          <a:xfrm>
            <a:off x="419100" y="685800"/>
            <a:ext cx="10763250" cy="7810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2400" b="1">
                <a:solidFill>
                  <a:srgbClr val="17313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400" b="1">
                <a:solidFill>
                  <a:srgbClr val="17313B"/>
                </a:solidFill>
                <a:latin typeface="Microsoft YaHei"/>
                <a:ea typeface="Microsoft YaHei"/>
                <a:cs typeface="Microsoft YaHei"/>
              </a:rPr>
              <a:t>SPP 和 GATT 的最大区别，不是速度，而是“数据组织方式”。</a:t>
            </a:r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B4BD90E4-1F0E-4B8C-A53B-75D64C96FB9F}"/>
              </a:ext>
            </a:extLst>
          </p:cNvPr>
          <p:cNvSpPr>
            <a:spLocks noGrp="1"/>
          </p:cNvSpPr>
          <p:nvPr/>
        </p:nvSpPr>
        <p:spPr>
          <a:xfrm>
            <a:off x="419100" y="6438900"/>
            <a:ext cx="8572500" cy="9525"/>
          </a:xfrm>
          <a:prstGeom prst="rect">
            <a:avLst/>
          </a:prstGeom>
          <a:solidFill>
            <a:srgbClr val="D6DEE1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6" name="矩形 5">
            <a:extLst>
              <a:ext uri="{FF2B5EF4-FFF2-40B4-BE49-F238E27FC236}">
                <a16:creationId xmlns:a16="http://schemas.microsoft.com/office/drawing/2014/main" id="{2B211171-479B-4562-A20B-CC3CCC7C0B8E}"/>
              </a:ext>
            </a:extLst>
          </p:cNvPr>
          <p:cNvSpPr>
            <a:spLocks noGrp="1"/>
          </p:cNvSpPr>
          <p:nvPr/>
        </p:nvSpPr>
        <p:spPr>
          <a:xfrm>
            <a:off x="419100" y="6515100"/>
            <a:ext cx="8572500" cy="1905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675" b="0">
                <a:solidFill>
                  <a:srgbClr val="7C8A9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675" b="0">
                <a:solidFill>
                  <a:srgbClr val="7C8A90"/>
                </a:solidFill>
                <a:latin typeface="Microsoft YaHei"/>
                <a:ea typeface="Microsoft YaHei"/>
                <a:cs typeface="Microsoft YaHei"/>
              </a:rPr>
              <a:t>Source: Arduino / WeChat Mini Program source code; WeChat Mini Program BLE API docs</a:t>
            </a:r>
          </a:p>
        </p:txBody>
      </p:sp>
      <p:sp>
        <p:nvSpPr>
          <p:cNvPr id="7" name="矩形 6">
            <a:extLst>
              <a:ext uri="{FF2B5EF4-FFF2-40B4-BE49-F238E27FC236}">
                <a16:creationId xmlns:a16="http://schemas.microsoft.com/office/drawing/2014/main" id="{76EF250E-5E22-4EBD-8E8A-6042619120D5}"/>
              </a:ext>
            </a:extLst>
          </p:cNvPr>
          <p:cNvSpPr>
            <a:spLocks noGrp="1"/>
          </p:cNvSpPr>
          <p:nvPr/>
        </p:nvSpPr>
        <p:spPr>
          <a:xfrm>
            <a:off x="11334750" y="6496050"/>
            <a:ext cx="419100" cy="2095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r">
              <a:defRPr sz="825" b="0">
                <a:solidFill>
                  <a:srgbClr val="7C8A9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825" b="0">
                <a:solidFill>
                  <a:srgbClr val="7C8A90"/>
                </a:solidFill>
                <a:latin typeface="Microsoft YaHei"/>
                <a:ea typeface="Microsoft YaHei"/>
                <a:cs typeface="Microsoft YaHei"/>
              </a:rPr>
              <a:t>07</a:t>
            </a:r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29E80416-768C-4CA6-999C-F41702D1E2A1}"/>
              </a:ext>
            </a:extLst>
          </p:cNvPr>
          <p:cNvSpPr>
            <a:spLocks noGrp="1"/>
          </p:cNvSpPr>
          <p:nvPr/>
        </p:nvSpPr>
        <p:spPr>
          <a:xfrm>
            <a:off x="990600" y="2114550"/>
            <a:ext cx="2000250" cy="400050"/>
          </a:xfrm>
          <a:prstGeom prst="rect">
            <a:avLst/>
          </a:prstGeom>
          <a:solidFill>
            <a:srgbClr val="10252E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779254CD-2D86-451E-BC4C-11480960D31D}"/>
              </a:ext>
            </a:extLst>
          </p:cNvPr>
          <p:cNvSpPr>
            <a:spLocks noGrp="1"/>
          </p:cNvSpPr>
          <p:nvPr/>
        </p:nvSpPr>
        <p:spPr>
          <a:xfrm>
            <a:off x="1085850" y="2209800"/>
            <a:ext cx="1809750" cy="2095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ctr">
              <a:defRPr sz="10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问题</a:t>
            </a:r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4B3886C6-B152-4B7F-83FD-C4211BC9D358}"/>
              </a:ext>
            </a:extLst>
          </p:cNvPr>
          <p:cNvSpPr>
            <a:spLocks noGrp="1"/>
          </p:cNvSpPr>
          <p:nvPr/>
        </p:nvSpPr>
        <p:spPr>
          <a:xfrm>
            <a:off x="2990850" y="2114550"/>
            <a:ext cx="4191000" cy="400050"/>
          </a:xfrm>
          <a:prstGeom prst="rect">
            <a:avLst/>
          </a:prstGeom>
          <a:solidFill>
            <a:srgbClr val="F2A23A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1" name="矩形 10">
            <a:extLst>
              <a:ext uri="{FF2B5EF4-FFF2-40B4-BE49-F238E27FC236}">
                <a16:creationId xmlns:a16="http://schemas.microsoft.com/office/drawing/2014/main" id="{D238D7E1-4835-494F-8C22-3202213D531D}"/>
              </a:ext>
            </a:extLst>
          </p:cNvPr>
          <p:cNvSpPr>
            <a:spLocks noGrp="1"/>
          </p:cNvSpPr>
          <p:nvPr/>
        </p:nvSpPr>
        <p:spPr>
          <a:xfrm>
            <a:off x="3086100" y="2209800"/>
            <a:ext cx="4000500" cy="2095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ctr">
              <a:defRPr sz="10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SPP：字节流</a:t>
            </a:r>
          </a:p>
        </p:txBody>
      </p:sp>
      <p:sp>
        <p:nvSpPr>
          <p:cNvPr id="12" name="矩形 11">
            <a:extLst>
              <a:ext uri="{FF2B5EF4-FFF2-40B4-BE49-F238E27FC236}">
                <a16:creationId xmlns:a16="http://schemas.microsoft.com/office/drawing/2014/main" id="{42F163D8-56C7-4AFD-803A-35CD82B5E7CF}"/>
              </a:ext>
            </a:extLst>
          </p:cNvPr>
          <p:cNvSpPr>
            <a:spLocks noGrp="1"/>
          </p:cNvSpPr>
          <p:nvPr/>
        </p:nvSpPr>
        <p:spPr>
          <a:xfrm>
            <a:off x="7181850" y="2114550"/>
            <a:ext cx="4191000" cy="400050"/>
          </a:xfrm>
          <a:prstGeom prst="rect">
            <a:avLst/>
          </a:prstGeom>
          <a:solidFill>
            <a:srgbClr val="22A6C7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3" name="矩形 12">
            <a:extLst>
              <a:ext uri="{FF2B5EF4-FFF2-40B4-BE49-F238E27FC236}">
                <a16:creationId xmlns:a16="http://schemas.microsoft.com/office/drawing/2014/main" id="{F086ED31-B232-4A1E-B21B-44DF9C3A803E}"/>
              </a:ext>
            </a:extLst>
          </p:cNvPr>
          <p:cNvSpPr>
            <a:spLocks noGrp="1"/>
          </p:cNvSpPr>
          <p:nvPr/>
        </p:nvSpPr>
        <p:spPr>
          <a:xfrm>
            <a:off x="7277100" y="2209800"/>
            <a:ext cx="4000500" cy="2095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ctr">
              <a:defRPr sz="10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BLE GATT：字段目录</a:t>
            </a:r>
          </a:p>
        </p:txBody>
      </p:sp>
      <p:sp>
        <p:nvSpPr>
          <p:cNvPr id="14" name="矩形 13">
            <a:extLst>
              <a:ext uri="{FF2B5EF4-FFF2-40B4-BE49-F238E27FC236}">
                <a16:creationId xmlns:a16="http://schemas.microsoft.com/office/drawing/2014/main" id="{9E782373-7F7A-4BA6-98F7-C7AFC707AA4A}"/>
              </a:ext>
            </a:extLst>
          </p:cNvPr>
          <p:cNvSpPr>
            <a:spLocks noGrp="1"/>
          </p:cNvSpPr>
          <p:nvPr/>
        </p:nvSpPr>
        <p:spPr>
          <a:xfrm>
            <a:off x="990600" y="2514600"/>
            <a:ext cx="2000250" cy="628650"/>
          </a:xfrm>
          <a:prstGeom prst="rect">
            <a:avLst/>
          </a:prstGeom>
          <a:solidFill>
            <a:srgbClr val="FFFFFF"/>
          </a:solidFill>
          <a:ln w="9525">
            <a:solidFill>
              <a:srgbClr val="DCE5E7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5" name="矩形 14">
            <a:extLst>
              <a:ext uri="{FF2B5EF4-FFF2-40B4-BE49-F238E27FC236}">
                <a16:creationId xmlns:a16="http://schemas.microsoft.com/office/drawing/2014/main" id="{A91605EB-9DC8-4B35-9772-43698BF5BAE5}"/>
              </a:ext>
            </a:extLst>
          </p:cNvPr>
          <p:cNvSpPr>
            <a:spLocks noGrp="1"/>
          </p:cNvSpPr>
          <p:nvPr/>
        </p:nvSpPr>
        <p:spPr>
          <a:xfrm>
            <a:off x="1123950" y="2667000"/>
            <a:ext cx="1733550" cy="3429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ctr"/>
          <a:lstStyle/>
          <a:p>
            <a:pPr algn="ctr">
              <a:defRPr sz="1013" b="1">
                <a:solidFill>
                  <a:srgbClr val="17313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13" b="1">
                <a:solidFill>
                  <a:srgbClr val="17313B"/>
                </a:solidFill>
                <a:latin typeface="Microsoft YaHei"/>
                <a:ea typeface="Microsoft YaHei"/>
                <a:cs typeface="Microsoft YaHei"/>
              </a:rPr>
              <a:t>像什么</a:t>
            </a:r>
          </a:p>
        </p:txBody>
      </p:sp>
      <p:sp>
        <p:nvSpPr>
          <p:cNvPr id="16" name="矩形 15">
            <a:extLst>
              <a:ext uri="{FF2B5EF4-FFF2-40B4-BE49-F238E27FC236}">
                <a16:creationId xmlns:a16="http://schemas.microsoft.com/office/drawing/2014/main" id="{F73F5706-E06D-4145-9277-37639A72CE55}"/>
              </a:ext>
            </a:extLst>
          </p:cNvPr>
          <p:cNvSpPr>
            <a:spLocks noGrp="1"/>
          </p:cNvSpPr>
          <p:nvPr/>
        </p:nvSpPr>
        <p:spPr>
          <a:xfrm>
            <a:off x="2990850" y="2514600"/>
            <a:ext cx="4191000" cy="628650"/>
          </a:xfrm>
          <a:prstGeom prst="rect">
            <a:avLst/>
          </a:prstGeom>
          <a:solidFill>
            <a:srgbClr val="FFFFFF"/>
          </a:solidFill>
          <a:ln w="9525">
            <a:solidFill>
              <a:srgbClr val="DCE5E7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7" name="矩形 16">
            <a:extLst>
              <a:ext uri="{FF2B5EF4-FFF2-40B4-BE49-F238E27FC236}">
                <a16:creationId xmlns:a16="http://schemas.microsoft.com/office/drawing/2014/main" id="{94CF9F6E-EF0E-44D9-944A-590FB546C614}"/>
              </a:ext>
            </a:extLst>
          </p:cNvPr>
          <p:cNvSpPr>
            <a:spLocks noGrp="1"/>
          </p:cNvSpPr>
          <p:nvPr/>
        </p:nvSpPr>
        <p:spPr>
          <a:xfrm>
            <a:off x="3124200" y="2667000"/>
            <a:ext cx="3924300" cy="3429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ctr"/>
          <a:lstStyle/>
          <a:p>
            <a:pPr algn="l">
              <a:defRPr sz="1125" b="0">
                <a:solidFill>
                  <a:srgbClr val="687A8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0">
                <a:solidFill>
                  <a:srgbClr val="687A84"/>
                </a:solidFill>
                <a:latin typeface="Microsoft YaHei"/>
                <a:ea typeface="Microsoft YaHei"/>
                <a:cs typeface="Microsoft YaHei"/>
              </a:rPr>
              <a:t>一根无线串口线</a:t>
            </a:r>
          </a:p>
        </p:txBody>
      </p:sp>
      <p:sp>
        <p:nvSpPr>
          <p:cNvPr id="18" name="矩形 17">
            <a:extLst>
              <a:ext uri="{FF2B5EF4-FFF2-40B4-BE49-F238E27FC236}">
                <a16:creationId xmlns:a16="http://schemas.microsoft.com/office/drawing/2014/main" id="{497E04FE-EC4B-4340-92ED-538A325A54CB}"/>
              </a:ext>
            </a:extLst>
          </p:cNvPr>
          <p:cNvSpPr>
            <a:spLocks noGrp="1"/>
          </p:cNvSpPr>
          <p:nvPr/>
        </p:nvSpPr>
        <p:spPr>
          <a:xfrm>
            <a:off x="7181850" y="2514600"/>
            <a:ext cx="4191000" cy="628650"/>
          </a:xfrm>
          <a:prstGeom prst="rect">
            <a:avLst/>
          </a:prstGeom>
          <a:solidFill>
            <a:srgbClr val="E7F6FA"/>
          </a:solidFill>
          <a:ln w="9525">
            <a:solidFill>
              <a:srgbClr val="DCE5E7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9" name="矩形 18">
            <a:extLst>
              <a:ext uri="{FF2B5EF4-FFF2-40B4-BE49-F238E27FC236}">
                <a16:creationId xmlns:a16="http://schemas.microsoft.com/office/drawing/2014/main" id="{C3A28FEF-E094-4718-A3F0-CFBE0CA2A562}"/>
              </a:ext>
            </a:extLst>
          </p:cNvPr>
          <p:cNvSpPr>
            <a:spLocks noGrp="1"/>
          </p:cNvSpPr>
          <p:nvPr/>
        </p:nvSpPr>
        <p:spPr>
          <a:xfrm>
            <a:off x="7315200" y="2667000"/>
            <a:ext cx="3924300" cy="3429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ctr"/>
          <a:lstStyle/>
          <a:p>
            <a:pPr algn="l">
              <a:defRPr sz="1125" b="0">
                <a:solidFill>
                  <a:srgbClr val="687A8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0">
                <a:solidFill>
                  <a:srgbClr val="687A84"/>
                </a:solidFill>
                <a:latin typeface="Microsoft YaHei"/>
                <a:ea typeface="Microsoft YaHei"/>
                <a:cs typeface="Microsoft YaHei"/>
              </a:rPr>
              <a:t>一本可订阅的数据目录</a:t>
            </a:r>
          </a:p>
        </p:txBody>
      </p:sp>
      <p:sp>
        <p:nvSpPr>
          <p:cNvPr id="20" name="矩形 19">
            <a:extLst>
              <a:ext uri="{FF2B5EF4-FFF2-40B4-BE49-F238E27FC236}">
                <a16:creationId xmlns:a16="http://schemas.microsoft.com/office/drawing/2014/main" id="{FCDF86A4-7BC5-4916-A60D-BECF3D246ACF}"/>
              </a:ext>
            </a:extLst>
          </p:cNvPr>
          <p:cNvSpPr>
            <a:spLocks noGrp="1"/>
          </p:cNvSpPr>
          <p:nvPr/>
        </p:nvSpPr>
        <p:spPr>
          <a:xfrm>
            <a:off x="990600" y="3143250"/>
            <a:ext cx="2000250" cy="628650"/>
          </a:xfrm>
          <a:prstGeom prst="rect">
            <a:avLst/>
          </a:prstGeom>
          <a:solidFill>
            <a:srgbClr val="FFFFFF"/>
          </a:solidFill>
          <a:ln w="9525">
            <a:solidFill>
              <a:srgbClr val="DCE5E7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1" name="矩形 20">
            <a:extLst>
              <a:ext uri="{FF2B5EF4-FFF2-40B4-BE49-F238E27FC236}">
                <a16:creationId xmlns:a16="http://schemas.microsoft.com/office/drawing/2014/main" id="{08C32DD6-33FC-43BC-BF10-B5690E0BD989}"/>
              </a:ext>
            </a:extLst>
          </p:cNvPr>
          <p:cNvSpPr>
            <a:spLocks noGrp="1"/>
          </p:cNvSpPr>
          <p:nvPr/>
        </p:nvSpPr>
        <p:spPr>
          <a:xfrm>
            <a:off x="1123950" y="3295650"/>
            <a:ext cx="1733550" cy="3429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ctr"/>
          <a:lstStyle/>
          <a:p>
            <a:pPr algn="ctr">
              <a:defRPr sz="1013" b="1">
                <a:solidFill>
                  <a:srgbClr val="17313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13" b="1">
                <a:solidFill>
                  <a:srgbClr val="17313B"/>
                </a:solidFill>
                <a:latin typeface="Microsoft YaHei"/>
                <a:ea typeface="Microsoft YaHei"/>
                <a:cs typeface="Microsoft YaHei"/>
              </a:rPr>
              <a:t>数据怎么来</a:t>
            </a:r>
          </a:p>
        </p:txBody>
      </p:sp>
      <p:sp>
        <p:nvSpPr>
          <p:cNvPr id="22" name="矩形 21">
            <a:extLst>
              <a:ext uri="{FF2B5EF4-FFF2-40B4-BE49-F238E27FC236}">
                <a16:creationId xmlns:a16="http://schemas.microsoft.com/office/drawing/2014/main" id="{8484FC45-C5D1-4744-A8DE-C55B6A33A1AB}"/>
              </a:ext>
            </a:extLst>
          </p:cNvPr>
          <p:cNvSpPr>
            <a:spLocks noGrp="1"/>
          </p:cNvSpPr>
          <p:nvPr/>
        </p:nvSpPr>
        <p:spPr>
          <a:xfrm>
            <a:off x="2990850" y="3143250"/>
            <a:ext cx="4191000" cy="628650"/>
          </a:xfrm>
          <a:prstGeom prst="rect">
            <a:avLst/>
          </a:prstGeom>
          <a:solidFill>
            <a:srgbClr val="FFFFFF"/>
          </a:solidFill>
          <a:ln w="9525">
            <a:solidFill>
              <a:srgbClr val="DCE5E7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3" name="矩形 22">
            <a:extLst>
              <a:ext uri="{FF2B5EF4-FFF2-40B4-BE49-F238E27FC236}">
                <a16:creationId xmlns:a16="http://schemas.microsoft.com/office/drawing/2014/main" id="{0C1577C2-F248-4140-B913-E2A8E53C3DF9}"/>
              </a:ext>
            </a:extLst>
          </p:cNvPr>
          <p:cNvSpPr>
            <a:spLocks noGrp="1"/>
          </p:cNvSpPr>
          <p:nvPr/>
        </p:nvSpPr>
        <p:spPr>
          <a:xfrm>
            <a:off x="3124200" y="3295650"/>
            <a:ext cx="3924300" cy="3429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ctr"/>
          <a:lstStyle/>
          <a:p>
            <a:pPr algn="l">
              <a:defRPr sz="1125" b="0">
                <a:solidFill>
                  <a:srgbClr val="687A8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0">
                <a:solidFill>
                  <a:srgbClr val="687A84"/>
                </a:solidFill>
                <a:latin typeface="Microsoft YaHei"/>
                <a:ea typeface="Microsoft YaHei"/>
                <a:cs typeface="Microsoft YaHei"/>
              </a:rPr>
              <a:t>连续字节流，接收方自己切包</a:t>
            </a:r>
          </a:p>
        </p:txBody>
      </p:sp>
      <p:sp>
        <p:nvSpPr>
          <p:cNvPr id="24" name="矩形 23">
            <a:extLst>
              <a:ext uri="{FF2B5EF4-FFF2-40B4-BE49-F238E27FC236}">
                <a16:creationId xmlns:a16="http://schemas.microsoft.com/office/drawing/2014/main" id="{15684F69-4B3A-4475-A66C-2859B968F9C4}"/>
              </a:ext>
            </a:extLst>
          </p:cNvPr>
          <p:cNvSpPr>
            <a:spLocks noGrp="1"/>
          </p:cNvSpPr>
          <p:nvPr/>
        </p:nvSpPr>
        <p:spPr>
          <a:xfrm>
            <a:off x="7181850" y="3143250"/>
            <a:ext cx="4191000" cy="628650"/>
          </a:xfrm>
          <a:prstGeom prst="rect">
            <a:avLst/>
          </a:prstGeom>
          <a:solidFill>
            <a:srgbClr val="E7F6FA"/>
          </a:solidFill>
          <a:ln w="9525">
            <a:solidFill>
              <a:srgbClr val="DCE5E7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5" name="矩形 24">
            <a:extLst>
              <a:ext uri="{FF2B5EF4-FFF2-40B4-BE49-F238E27FC236}">
                <a16:creationId xmlns:a16="http://schemas.microsoft.com/office/drawing/2014/main" id="{FF0548CA-BBD4-44AF-86D9-1A6AED099609}"/>
              </a:ext>
            </a:extLst>
          </p:cNvPr>
          <p:cNvSpPr>
            <a:spLocks noGrp="1"/>
          </p:cNvSpPr>
          <p:nvPr/>
        </p:nvSpPr>
        <p:spPr>
          <a:xfrm>
            <a:off x="7315200" y="3295650"/>
            <a:ext cx="3924300" cy="3429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ctr"/>
          <a:lstStyle/>
          <a:p>
            <a:pPr algn="l">
              <a:defRPr sz="1125" b="0">
                <a:solidFill>
                  <a:srgbClr val="687A8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0">
                <a:solidFill>
                  <a:srgbClr val="687A84"/>
                </a:solidFill>
                <a:latin typeface="Microsoft YaHei"/>
                <a:ea typeface="Microsoft YaHei"/>
                <a:cs typeface="Microsoft YaHei"/>
              </a:rPr>
              <a:t>读字段或等待 notify 推送</a:t>
            </a:r>
          </a:p>
        </p:txBody>
      </p:sp>
      <p:sp>
        <p:nvSpPr>
          <p:cNvPr id="26" name="矩形 25">
            <a:extLst>
              <a:ext uri="{FF2B5EF4-FFF2-40B4-BE49-F238E27FC236}">
                <a16:creationId xmlns:a16="http://schemas.microsoft.com/office/drawing/2014/main" id="{9692F39A-7F5D-47E6-AAC9-DBB4D9769CC7}"/>
              </a:ext>
            </a:extLst>
          </p:cNvPr>
          <p:cNvSpPr>
            <a:spLocks noGrp="1"/>
          </p:cNvSpPr>
          <p:nvPr/>
        </p:nvSpPr>
        <p:spPr>
          <a:xfrm>
            <a:off x="990600" y="3771900"/>
            <a:ext cx="2000250" cy="628650"/>
          </a:xfrm>
          <a:prstGeom prst="rect">
            <a:avLst/>
          </a:prstGeom>
          <a:solidFill>
            <a:srgbClr val="FFFFFF"/>
          </a:solidFill>
          <a:ln w="9525">
            <a:solidFill>
              <a:srgbClr val="DCE5E7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7" name="矩形 26">
            <a:extLst>
              <a:ext uri="{FF2B5EF4-FFF2-40B4-BE49-F238E27FC236}">
                <a16:creationId xmlns:a16="http://schemas.microsoft.com/office/drawing/2014/main" id="{E396594E-E75B-447E-990D-893049D9A754}"/>
              </a:ext>
            </a:extLst>
          </p:cNvPr>
          <p:cNvSpPr>
            <a:spLocks noGrp="1"/>
          </p:cNvSpPr>
          <p:nvPr/>
        </p:nvSpPr>
        <p:spPr>
          <a:xfrm>
            <a:off x="1123950" y="3924300"/>
            <a:ext cx="1733550" cy="3429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ctr"/>
          <a:lstStyle/>
          <a:p>
            <a:pPr algn="ctr">
              <a:defRPr sz="1013" b="1">
                <a:solidFill>
                  <a:srgbClr val="17313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13" b="1">
                <a:solidFill>
                  <a:srgbClr val="17313B"/>
                </a:solidFill>
                <a:latin typeface="Microsoft YaHei"/>
                <a:ea typeface="Microsoft YaHei"/>
                <a:cs typeface="Microsoft YaHei"/>
              </a:rPr>
              <a:t>双方如何识别数据</a:t>
            </a:r>
          </a:p>
        </p:txBody>
      </p:sp>
      <p:sp>
        <p:nvSpPr>
          <p:cNvPr id="28" name="矩形 27">
            <a:extLst>
              <a:ext uri="{FF2B5EF4-FFF2-40B4-BE49-F238E27FC236}">
                <a16:creationId xmlns:a16="http://schemas.microsoft.com/office/drawing/2014/main" id="{2510C733-A631-4BAA-A420-8C2F716DD0EF}"/>
              </a:ext>
            </a:extLst>
          </p:cNvPr>
          <p:cNvSpPr>
            <a:spLocks noGrp="1"/>
          </p:cNvSpPr>
          <p:nvPr/>
        </p:nvSpPr>
        <p:spPr>
          <a:xfrm>
            <a:off x="2990850" y="3771900"/>
            <a:ext cx="4191000" cy="628650"/>
          </a:xfrm>
          <a:prstGeom prst="rect">
            <a:avLst/>
          </a:prstGeom>
          <a:solidFill>
            <a:srgbClr val="FFFFFF"/>
          </a:solidFill>
          <a:ln w="9525">
            <a:solidFill>
              <a:srgbClr val="DCE5E7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9" name="矩形 28">
            <a:extLst>
              <a:ext uri="{FF2B5EF4-FFF2-40B4-BE49-F238E27FC236}">
                <a16:creationId xmlns:a16="http://schemas.microsoft.com/office/drawing/2014/main" id="{A8292A79-A865-4A0E-B0F0-82AEF2A7B5E3}"/>
              </a:ext>
            </a:extLst>
          </p:cNvPr>
          <p:cNvSpPr>
            <a:spLocks noGrp="1"/>
          </p:cNvSpPr>
          <p:nvPr/>
        </p:nvSpPr>
        <p:spPr>
          <a:xfrm>
            <a:off x="3124200" y="3924300"/>
            <a:ext cx="3924300" cy="3429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ctr"/>
          <a:lstStyle/>
          <a:p>
            <a:pPr algn="l">
              <a:defRPr sz="1125" b="0">
                <a:solidFill>
                  <a:srgbClr val="687A8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0">
                <a:solidFill>
                  <a:srgbClr val="687A84"/>
                </a:solidFill>
                <a:latin typeface="Microsoft YaHei"/>
                <a:ea typeface="Microsoft YaHei"/>
                <a:cs typeface="Microsoft YaHei"/>
              </a:rPr>
              <a:t>靠约定分隔符、帧头、长度</a:t>
            </a:r>
          </a:p>
        </p:txBody>
      </p:sp>
      <p:sp>
        <p:nvSpPr>
          <p:cNvPr id="30" name="矩形 29">
            <a:extLst>
              <a:ext uri="{FF2B5EF4-FFF2-40B4-BE49-F238E27FC236}">
                <a16:creationId xmlns:a16="http://schemas.microsoft.com/office/drawing/2014/main" id="{98201B4A-635F-4BC6-930B-5C24C550AFD7}"/>
              </a:ext>
            </a:extLst>
          </p:cNvPr>
          <p:cNvSpPr>
            <a:spLocks noGrp="1"/>
          </p:cNvSpPr>
          <p:nvPr/>
        </p:nvSpPr>
        <p:spPr>
          <a:xfrm>
            <a:off x="7181850" y="3771900"/>
            <a:ext cx="4191000" cy="628650"/>
          </a:xfrm>
          <a:prstGeom prst="rect">
            <a:avLst/>
          </a:prstGeom>
          <a:solidFill>
            <a:srgbClr val="E7F6FA"/>
          </a:solidFill>
          <a:ln w="9525">
            <a:solidFill>
              <a:srgbClr val="DCE5E7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31" name="矩形 30">
            <a:extLst>
              <a:ext uri="{FF2B5EF4-FFF2-40B4-BE49-F238E27FC236}">
                <a16:creationId xmlns:a16="http://schemas.microsoft.com/office/drawing/2014/main" id="{C368D6B3-4722-4EDF-87E7-A44E0F5276C5}"/>
              </a:ext>
            </a:extLst>
          </p:cNvPr>
          <p:cNvSpPr>
            <a:spLocks noGrp="1"/>
          </p:cNvSpPr>
          <p:nvPr/>
        </p:nvSpPr>
        <p:spPr>
          <a:xfrm>
            <a:off x="7315200" y="3924300"/>
            <a:ext cx="3924300" cy="3429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ctr"/>
          <a:lstStyle/>
          <a:p>
            <a:pPr algn="l">
              <a:defRPr sz="1125" b="0">
                <a:solidFill>
                  <a:srgbClr val="687A8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0">
                <a:solidFill>
                  <a:srgbClr val="687A84"/>
                </a:solidFill>
                <a:latin typeface="Microsoft YaHei"/>
                <a:ea typeface="Microsoft YaHei"/>
                <a:cs typeface="Microsoft YaHei"/>
              </a:rPr>
              <a:t>靠 Service UUID + Characteristic UUID</a:t>
            </a:r>
          </a:p>
        </p:txBody>
      </p:sp>
      <p:sp>
        <p:nvSpPr>
          <p:cNvPr id="32" name="矩形 31">
            <a:extLst>
              <a:ext uri="{FF2B5EF4-FFF2-40B4-BE49-F238E27FC236}">
                <a16:creationId xmlns:a16="http://schemas.microsoft.com/office/drawing/2014/main" id="{5BEBCF3D-309A-4820-85B0-96D018DEDC5F}"/>
              </a:ext>
            </a:extLst>
          </p:cNvPr>
          <p:cNvSpPr>
            <a:spLocks noGrp="1"/>
          </p:cNvSpPr>
          <p:nvPr/>
        </p:nvSpPr>
        <p:spPr>
          <a:xfrm>
            <a:off x="990600" y="4400550"/>
            <a:ext cx="2000250" cy="628650"/>
          </a:xfrm>
          <a:prstGeom prst="rect">
            <a:avLst/>
          </a:prstGeom>
          <a:solidFill>
            <a:srgbClr val="FFFFFF"/>
          </a:solidFill>
          <a:ln w="9525">
            <a:solidFill>
              <a:srgbClr val="DCE5E7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33" name="矩形 32">
            <a:extLst>
              <a:ext uri="{FF2B5EF4-FFF2-40B4-BE49-F238E27FC236}">
                <a16:creationId xmlns:a16="http://schemas.microsoft.com/office/drawing/2014/main" id="{B1CBB97A-DD1F-4B02-AFD4-F0083EEA79CE}"/>
              </a:ext>
            </a:extLst>
          </p:cNvPr>
          <p:cNvSpPr>
            <a:spLocks noGrp="1"/>
          </p:cNvSpPr>
          <p:nvPr/>
        </p:nvSpPr>
        <p:spPr>
          <a:xfrm>
            <a:off x="1123950" y="4552950"/>
            <a:ext cx="1733550" cy="3429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ctr"/>
          <a:lstStyle/>
          <a:p>
            <a:pPr algn="ctr">
              <a:defRPr sz="1013" b="1">
                <a:solidFill>
                  <a:srgbClr val="17313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13" b="1">
                <a:solidFill>
                  <a:srgbClr val="17313B"/>
                </a:solidFill>
                <a:latin typeface="Microsoft YaHei"/>
                <a:ea typeface="Microsoft YaHei"/>
                <a:cs typeface="Microsoft YaHei"/>
              </a:rPr>
              <a:t>本项目结论</a:t>
            </a:r>
          </a:p>
        </p:txBody>
      </p:sp>
      <p:sp>
        <p:nvSpPr>
          <p:cNvPr id="34" name="矩形 33">
            <a:extLst>
              <a:ext uri="{FF2B5EF4-FFF2-40B4-BE49-F238E27FC236}">
                <a16:creationId xmlns:a16="http://schemas.microsoft.com/office/drawing/2014/main" id="{B12EAF69-6164-4BB6-B91C-874048F811C7}"/>
              </a:ext>
            </a:extLst>
          </p:cNvPr>
          <p:cNvSpPr>
            <a:spLocks noGrp="1"/>
          </p:cNvSpPr>
          <p:nvPr/>
        </p:nvSpPr>
        <p:spPr>
          <a:xfrm>
            <a:off x="2990850" y="4400550"/>
            <a:ext cx="4191000" cy="628650"/>
          </a:xfrm>
          <a:prstGeom prst="rect">
            <a:avLst/>
          </a:prstGeom>
          <a:solidFill>
            <a:srgbClr val="FFFFFF"/>
          </a:solidFill>
          <a:ln w="9525">
            <a:solidFill>
              <a:srgbClr val="DCE5E7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35" name="矩形 34">
            <a:extLst>
              <a:ext uri="{FF2B5EF4-FFF2-40B4-BE49-F238E27FC236}">
                <a16:creationId xmlns:a16="http://schemas.microsoft.com/office/drawing/2014/main" id="{5B2446A8-0D84-4590-8A2B-C462452046B4}"/>
              </a:ext>
            </a:extLst>
          </p:cNvPr>
          <p:cNvSpPr>
            <a:spLocks noGrp="1"/>
          </p:cNvSpPr>
          <p:nvPr/>
        </p:nvSpPr>
        <p:spPr>
          <a:xfrm>
            <a:off x="3124200" y="4552950"/>
            <a:ext cx="3924300" cy="3429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ctr"/>
          <a:lstStyle/>
          <a:p>
            <a:pPr algn="l">
              <a:defRPr sz="1125" b="0">
                <a:solidFill>
                  <a:srgbClr val="687A8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0">
                <a:solidFill>
                  <a:srgbClr val="687A84"/>
                </a:solidFill>
                <a:latin typeface="Microsoft YaHei"/>
                <a:ea typeface="Microsoft YaHei"/>
                <a:cs typeface="Microsoft YaHei"/>
              </a:rPr>
              <a:t>思维直观，但小程序不走这条路</a:t>
            </a:r>
          </a:p>
        </p:txBody>
      </p:sp>
      <p:sp>
        <p:nvSpPr>
          <p:cNvPr id="36" name="矩形 35">
            <a:extLst>
              <a:ext uri="{FF2B5EF4-FFF2-40B4-BE49-F238E27FC236}">
                <a16:creationId xmlns:a16="http://schemas.microsoft.com/office/drawing/2014/main" id="{03A245DC-0B89-4716-AEDB-522BF74BCEFE}"/>
              </a:ext>
            </a:extLst>
          </p:cNvPr>
          <p:cNvSpPr>
            <a:spLocks noGrp="1"/>
          </p:cNvSpPr>
          <p:nvPr/>
        </p:nvSpPr>
        <p:spPr>
          <a:xfrm>
            <a:off x="7181850" y="4400550"/>
            <a:ext cx="4191000" cy="628650"/>
          </a:xfrm>
          <a:prstGeom prst="rect">
            <a:avLst/>
          </a:prstGeom>
          <a:solidFill>
            <a:srgbClr val="E7F6FA"/>
          </a:solidFill>
          <a:ln w="9525">
            <a:solidFill>
              <a:srgbClr val="DCE5E7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37" name="矩形 36">
            <a:extLst>
              <a:ext uri="{FF2B5EF4-FFF2-40B4-BE49-F238E27FC236}">
                <a16:creationId xmlns:a16="http://schemas.microsoft.com/office/drawing/2014/main" id="{D3612396-BA30-4726-94E0-379AE89DFDEC}"/>
              </a:ext>
            </a:extLst>
          </p:cNvPr>
          <p:cNvSpPr>
            <a:spLocks noGrp="1"/>
          </p:cNvSpPr>
          <p:nvPr/>
        </p:nvSpPr>
        <p:spPr>
          <a:xfrm>
            <a:off x="7315200" y="4552950"/>
            <a:ext cx="3924300" cy="3429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ctr"/>
          <a:lstStyle/>
          <a:p>
            <a:pPr algn="l">
              <a:defRPr sz="1125" b="0">
                <a:solidFill>
                  <a:srgbClr val="687A8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0">
                <a:solidFill>
                  <a:srgbClr val="687A84"/>
                </a:solidFill>
                <a:latin typeface="Microsoft YaHei"/>
                <a:ea typeface="Microsoft YaHei"/>
                <a:cs typeface="Microsoft YaHei"/>
              </a:rPr>
              <a:t>和微信小程序 BLE API 对齐</a:t>
            </a:r>
          </a:p>
        </p:txBody>
      </p:sp>
      <p:sp>
        <p:nvSpPr>
          <p:cNvPr id="38" name="矩形 37">
            <a:extLst>
              <a:ext uri="{FF2B5EF4-FFF2-40B4-BE49-F238E27FC236}">
                <a16:creationId xmlns:a16="http://schemas.microsoft.com/office/drawing/2014/main" id="{9917FD31-D9F1-41D9-8196-6C8F6C6CEAE9}"/>
              </a:ext>
            </a:extLst>
          </p:cNvPr>
          <p:cNvSpPr>
            <a:spLocks noGrp="1"/>
          </p:cNvSpPr>
          <p:nvPr/>
        </p:nvSpPr>
        <p:spPr>
          <a:xfrm>
            <a:off x="3448050" y="5219700"/>
            <a:ext cx="5334000" cy="323850"/>
          </a:xfrm>
          <a:prstGeom prst="rect">
            <a:avLst/>
          </a:prstGeom>
          <a:solidFill>
            <a:srgbClr val="FFF1EF"/>
          </a:solidFill>
          <a:ln w="13335">
            <a:solidFill>
              <a:srgbClr val="D9514E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39" name="矩形 38">
            <a:extLst>
              <a:ext uri="{FF2B5EF4-FFF2-40B4-BE49-F238E27FC236}">
                <a16:creationId xmlns:a16="http://schemas.microsoft.com/office/drawing/2014/main" id="{0BAA0EE1-E210-4FA2-8B28-3CC09F420CF5}"/>
              </a:ext>
            </a:extLst>
          </p:cNvPr>
          <p:cNvSpPr>
            <a:spLocks noGrp="1"/>
          </p:cNvSpPr>
          <p:nvPr/>
        </p:nvSpPr>
        <p:spPr>
          <a:xfrm>
            <a:off x="3543300" y="5267325"/>
            <a:ext cx="514350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ctr"/>
          <a:lstStyle/>
          <a:p>
            <a:pPr algn="ctr">
              <a:defRPr sz="1013" b="1">
                <a:solidFill>
                  <a:srgbClr val="D9514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13" b="1">
                <a:solidFill>
                  <a:srgbClr val="D9514E"/>
                </a:solidFill>
                <a:latin typeface="Microsoft YaHei"/>
                <a:ea typeface="Microsoft YaHei"/>
                <a:cs typeface="Microsoft YaHei"/>
              </a:rPr>
              <a:t>讲课转折点：不要再问“串口在哪里”，而要问“字段在哪里”。</a:t>
            </a:r>
          </a:p>
        </p:txBody>
      </p:sp>
    </p:spTree>
    <p:extLst>
      <p:ext uri="{BB962C8B-B14F-4D97-AF65-F5344CB8AC3E}">
        <p14:creationId xmlns:p14="http://schemas.microsoft.com/office/powerpoint/2010/main" val="512606808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矩形 32">
            <a:extLst>
              <a:ext uri="{FF2B5EF4-FFF2-40B4-BE49-F238E27FC236}">
                <a16:creationId xmlns:a16="http://schemas.microsoft.com/office/drawing/2014/main" id="{0CD0F998-F92E-4EF5-AFB5-5EB7813B39B0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6F3EA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" name="矩形 1">
            <a:extLst>
              <a:ext uri="{FF2B5EF4-FFF2-40B4-BE49-F238E27FC236}">
                <a16:creationId xmlns:a16="http://schemas.microsoft.com/office/drawing/2014/main" id="{A4458584-EDA7-4DA4-90AC-296630F21CAA}"/>
              </a:ext>
            </a:extLst>
          </p:cNvPr>
          <p:cNvSpPr>
            <a:spLocks noGrp="1"/>
          </p:cNvSpPr>
          <p:nvPr/>
        </p:nvSpPr>
        <p:spPr>
          <a:xfrm>
            <a:off x="419100" y="323850"/>
            <a:ext cx="95250" cy="190500"/>
          </a:xfrm>
          <a:prstGeom prst="rect">
            <a:avLst/>
          </a:prstGeom>
          <a:solidFill>
            <a:srgbClr val="22A6C7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FFBEDEB2-CA8D-49C8-9F6B-0FB47340C83D}"/>
              </a:ext>
            </a:extLst>
          </p:cNvPr>
          <p:cNvSpPr>
            <a:spLocks noGrp="1"/>
          </p:cNvSpPr>
          <p:nvPr/>
        </p:nvSpPr>
        <p:spPr>
          <a:xfrm>
            <a:off x="590550" y="266700"/>
            <a:ext cx="4095750" cy="3238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ctr"/>
          <a:lstStyle/>
          <a:p>
            <a:pPr algn="l">
              <a:defRPr sz="1125" b="1">
                <a:solidFill>
                  <a:srgbClr val="687A8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1">
                <a:solidFill>
                  <a:srgbClr val="687A84"/>
                </a:solidFill>
                <a:latin typeface="Microsoft YaHei"/>
                <a:ea typeface="Microsoft YaHei"/>
                <a:cs typeface="Microsoft YaHei"/>
              </a:rPr>
              <a:t>APP STRATEGY</a:t>
            </a:r>
          </a:p>
        </p:txBody>
      </p:sp>
      <p:sp>
        <p:nvSpPr>
          <p:cNvPr id="4" name="矩形 3">
            <a:extLst>
              <a:ext uri="{FF2B5EF4-FFF2-40B4-BE49-F238E27FC236}">
                <a16:creationId xmlns:a16="http://schemas.microsoft.com/office/drawing/2014/main" id="{E9599CCB-CE87-425C-A0FC-605166442F5B}"/>
              </a:ext>
            </a:extLst>
          </p:cNvPr>
          <p:cNvSpPr>
            <a:spLocks noGrp="1"/>
          </p:cNvSpPr>
          <p:nvPr/>
        </p:nvSpPr>
        <p:spPr>
          <a:xfrm>
            <a:off x="419100" y="685800"/>
            <a:ext cx="10763250" cy="7810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2400" b="1">
                <a:solidFill>
                  <a:srgbClr val="17313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400" b="1">
                <a:solidFill>
                  <a:srgbClr val="17313B"/>
                </a:solidFill>
                <a:latin typeface="Microsoft YaHei"/>
                <a:ea typeface="Microsoft YaHei"/>
                <a:cs typeface="Microsoft YaHei"/>
              </a:rPr>
              <a:t>选择微信小程序，是为了把手机端差异收敛到一个轻量框架。</a:t>
            </a:r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4327BF0B-C343-4124-9FBF-1E193FEDA10C}"/>
              </a:ext>
            </a:extLst>
          </p:cNvPr>
          <p:cNvSpPr>
            <a:spLocks noGrp="1"/>
          </p:cNvSpPr>
          <p:nvPr/>
        </p:nvSpPr>
        <p:spPr>
          <a:xfrm>
            <a:off x="419100" y="6438900"/>
            <a:ext cx="8572500" cy="9525"/>
          </a:xfrm>
          <a:prstGeom prst="rect">
            <a:avLst/>
          </a:prstGeom>
          <a:solidFill>
            <a:srgbClr val="D6DEE1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6" name="矩形 5">
            <a:extLst>
              <a:ext uri="{FF2B5EF4-FFF2-40B4-BE49-F238E27FC236}">
                <a16:creationId xmlns:a16="http://schemas.microsoft.com/office/drawing/2014/main" id="{938073A1-300F-4A3C-9E42-084879CD6549}"/>
              </a:ext>
            </a:extLst>
          </p:cNvPr>
          <p:cNvSpPr>
            <a:spLocks noGrp="1"/>
          </p:cNvSpPr>
          <p:nvPr/>
        </p:nvSpPr>
        <p:spPr>
          <a:xfrm>
            <a:off x="419100" y="6515100"/>
            <a:ext cx="8572500" cy="1905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675" b="0">
                <a:solidFill>
                  <a:srgbClr val="7C8A9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675" b="0">
                <a:solidFill>
                  <a:srgbClr val="7C8A90"/>
                </a:solidFill>
                <a:latin typeface="Microsoft YaHei"/>
                <a:ea typeface="Microsoft YaHei"/>
                <a:cs typeface="Microsoft YaHei"/>
              </a:rPr>
              <a:t>Source: Arduino / WeChat Mini Program source code; WeChat Mini Program BLE API docs</a:t>
            </a:r>
          </a:p>
        </p:txBody>
      </p:sp>
      <p:sp>
        <p:nvSpPr>
          <p:cNvPr id="7" name="矩形 6">
            <a:extLst>
              <a:ext uri="{FF2B5EF4-FFF2-40B4-BE49-F238E27FC236}">
                <a16:creationId xmlns:a16="http://schemas.microsoft.com/office/drawing/2014/main" id="{4138A911-0C31-40ED-BCB3-B6EB3F0DB933}"/>
              </a:ext>
            </a:extLst>
          </p:cNvPr>
          <p:cNvSpPr>
            <a:spLocks noGrp="1"/>
          </p:cNvSpPr>
          <p:nvPr/>
        </p:nvSpPr>
        <p:spPr>
          <a:xfrm>
            <a:off x="11334750" y="6496050"/>
            <a:ext cx="419100" cy="2095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r">
              <a:defRPr sz="825" b="0">
                <a:solidFill>
                  <a:srgbClr val="7C8A9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825" b="0">
                <a:solidFill>
                  <a:srgbClr val="7C8A90"/>
                </a:solidFill>
                <a:latin typeface="Microsoft YaHei"/>
                <a:ea typeface="Microsoft YaHei"/>
                <a:cs typeface="Microsoft YaHei"/>
              </a:rPr>
              <a:t>08</a:t>
            </a:r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77A90D33-DCC7-4A81-97BA-A7267E58E78B}"/>
              </a:ext>
            </a:extLst>
          </p:cNvPr>
          <p:cNvSpPr>
            <a:spLocks noGrp="1"/>
          </p:cNvSpPr>
          <p:nvPr/>
        </p:nvSpPr>
        <p:spPr>
          <a:xfrm>
            <a:off x="857250" y="2362200"/>
            <a:ext cx="2152650" cy="1257300"/>
          </a:xfrm>
          <a:prstGeom prst="rect">
            <a:avLst/>
          </a:prstGeom>
          <a:solidFill>
            <a:srgbClr val="FFFFFF"/>
          </a:solidFill>
          <a:ln w="9525">
            <a:solidFill>
              <a:srgbClr val="DCE5E7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3DBD322F-E0E8-4278-9301-40867D041657}"/>
              </a:ext>
            </a:extLst>
          </p:cNvPr>
          <p:cNvSpPr>
            <a:spLocks noGrp="1"/>
          </p:cNvSpPr>
          <p:nvPr/>
        </p:nvSpPr>
        <p:spPr>
          <a:xfrm>
            <a:off x="857250" y="2362200"/>
            <a:ext cx="57150" cy="1257300"/>
          </a:xfrm>
          <a:prstGeom prst="rect">
            <a:avLst/>
          </a:prstGeom>
          <a:solidFill>
            <a:srgbClr val="10252E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B370877E-4552-4EC1-99DA-0B914E5ED38C}"/>
              </a:ext>
            </a:extLst>
          </p:cNvPr>
          <p:cNvSpPr>
            <a:spLocks noGrp="1"/>
          </p:cNvSpPr>
          <p:nvPr/>
        </p:nvSpPr>
        <p:spPr>
          <a:xfrm>
            <a:off x="1028700" y="2495550"/>
            <a:ext cx="1809750" cy="2857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350" b="1">
                <a:solidFill>
                  <a:srgbClr val="17313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17313B"/>
                </a:solidFill>
                <a:latin typeface="Microsoft YaHei"/>
                <a:ea typeface="Microsoft YaHei"/>
                <a:cs typeface="Microsoft YaHei"/>
              </a:rPr>
              <a:t>原生 iOS App</a:t>
            </a:r>
          </a:p>
        </p:txBody>
      </p:sp>
      <p:sp>
        <p:nvSpPr>
          <p:cNvPr id="11" name="矩形 10">
            <a:extLst>
              <a:ext uri="{FF2B5EF4-FFF2-40B4-BE49-F238E27FC236}">
                <a16:creationId xmlns:a16="http://schemas.microsoft.com/office/drawing/2014/main" id="{5628D246-2253-453F-8789-058EF8FF646A}"/>
              </a:ext>
            </a:extLst>
          </p:cNvPr>
          <p:cNvSpPr>
            <a:spLocks noGrp="1"/>
          </p:cNvSpPr>
          <p:nvPr/>
        </p:nvSpPr>
        <p:spPr>
          <a:xfrm>
            <a:off x="1028700" y="2819400"/>
            <a:ext cx="1809750" cy="7048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013" b="0">
                <a:solidFill>
                  <a:srgbClr val="687A8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13" b="0">
                <a:solidFill>
                  <a:srgbClr val="687A84"/>
                </a:solidFill>
                <a:latin typeface="Microsoft YaHei"/>
                <a:ea typeface="Microsoft YaHei"/>
                <a:cs typeface="Microsoft YaHei"/>
              </a:rPr>
              <a:t>Swift / 证书 / TestFlight / CoreBluetooth</a:t>
            </a:r>
          </a:p>
        </p:txBody>
      </p:sp>
      <p:sp>
        <p:nvSpPr>
          <p:cNvPr id="12" name="矩形 11">
            <a:extLst>
              <a:ext uri="{FF2B5EF4-FFF2-40B4-BE49-F238E27FC236}">
                <a16:creationId xmlns:a16="http://schemas.microsoft.com/office/drawing/2014/main" id="{6E5F4FA0-678B-4F1C-B5DB-31E4833602D6}"/>
              </a:ext>
            </a:extLst>
          </p:cNvPr>
          <p:cNvSpPr>
            <a:spLocks noGrp="1"/>
          </p:cNvSpPr>
          <p:nvPr/>
        </p:nvSpPr>
        <p:spPr>
          <a:xfrm>
            <a:off x="3009900" y="2981325"/>
            <a:ext cx="514350" cy="19050"/>
          </a:xfrm>
          <a:prstGeom prst="rect">
            <a:avLst/>
          </a:prstGeom>
          <a:solidFill>
            <a:srgbClr val="22A6C7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3" name="矩形 12">
            <a:extLst>
              <a:ext uri="{FF2B5EF4-FFF2-40B4-BE49-F238E27FC236}">
                <a16:creationId xmlns:a16="http://schemas.microsoft.com/office/drawing/2014/main" id="{E025A771-7948-4BAA-B34E-97D625D35380}"/>
              </a:ext>
            </a:extLst>
          </p:cNvPr>
          <p:cNvSpPr>
            <a:spLocks noGrp="1"/>
          </p:cNvSpPr>
          <p:nvPr/>
        </p:nvSpPr>
        <p:spPr>
          <a:xfrm>
            <a:off x="3390900" y="2867025"/>
            <a:ext cx="247650" cy="2476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ctr"/>
          <a:lstStyle/>
          <a:p>
            <a:pPr algn="ctr">
              <a:defRPr sz="1275" b="1">
                <a:solidFill>
                  <a:srgbClr val="22A6C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1">
                <a:solidFill>
                  <a:srgbClr val="22A6C7"/>
                </a:solidFill>
                <a:latin typeface="Microsoft YaHei"/>
                <a:ea typeface="Microsoft YaHei"/>
                <a:cs typeface="Microsoft YaHei"/>
              </a:rPr>
              <a:t>&gt;</a:t>
            </a:r>
          </a:p>
        </p:txBody>
      </p:sp>
      <p:sp>
        <p:nvSpPr>
          <p:cNvPr id="14" name="矩形 13">
            <a:extLst>
              <a:ext uri="{FF2B5EF4-FFF2-40B4-BE49-F238E27FC236}">
                <a16:creationId xmlns:a16="http://schemas.microsoft.com/office/drawing/2014/main" id="{BAD1577E-1005-4A7E-81EF-206F28308ABE}"/>
              </a:ext>
            </a:extLst>
          </p:cNvPr>
          <p:cNvSpPr>
            <a:spLocks noGrp="1"/>
          </p:cNvSpPr>
          <p:nvPr/>
        </p:nvSpPr>
        <p:spPr>
          <a:xfrm>
            <a:off x="3543300" y="2362200"/>
            <a:ext cx="2152650" cy="1257300"/>
          </a:xfrm>
          <a:prstGeom prst="rect">
            <a:avLst/>
          </a:prstGeom>
          <a:solidFill>
            <a:srgbClr val="FFFFFF"/>
          </a:solidFill>
          <a:ln w="9525">
            <a:solidFill>
              <a:srgbClr val="DCE5E7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5" name="矩形 14">
            <a:extLst>
              <a:ext uri="{FF2B5EF4-FFF2-40B4-BE49-F238E27FC236}">
                <a16:creationId xmlns:a16="http://schemas.microsoft.com/office/drawing/2014/main" id="{27921661-9E40-48AB-B640-BF51D7A42FE3}"/>
              </a:ext>
            </a:extLst>
          </p:cNvPr>
          <p:cNvSpPr>
            <a:spLocks noGrp="1"/>
          </p:cNvSpPr>
          <p:nvPr/>
        </p:nvSpPr>
        <p:spPr>
          <a:xfrm>
            <a:off x="3543300" y="2362200"/>
            <a:ext cx="57150" cy="1257300"/>
          </a:xfrm>
          <a:prstGeom prst="rect">
            <a:avLst/>
          </a:prstGeom>
          <a:solidFill>
            <a:srgbClr val="10252E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6" name="矩形 15">
            <a:extLst>
              <a:ext uri="{FF2B5EF4-FFF2-40B4-BE49-F238E27FC236}">
                <a16:creationId xmlns:a16="http://schemas.microsoft.com/office/drawing/2014/main" id="{E0CE2236-3E16-4EA8-ABB1-079D3CE63656}"/>
              </a:ext>
            </a:extLst>
          </p:cNvPr>
          <p:cNvSpPr>
            <a:spLocks noGrp="1"/>
          </p:cNvSpPr>
          <p:nvPr/>
        </p:nvSpPr>
        <p:spPr>
          <a:xfrm>
            <a:off x="3714750" y="2495550"/>
            <a:ext cx="1809750" cy="2857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350" b="1">
                <a:solidFill>
                  <a:srgbClr val="17313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17313B"/>
                </a:solidFill>
                <a:latin typeface="Microsoft YaHei"/>
                <a:ea typeface="Microsoft YaHei"/>
                <a:cs typeface="Microsoft YaHei"/>
              </a:rPr>
              <a:t>原生 Android App</a:t>
            </a:r>
          </a:p>
        </p:txBody>
      </p:sp>
      <p:sp>
        <p:nvSpPr>
          <p:cNvPr id="17" name="矩形 16">
            <a:extLst>
              <a:ext uri="{FF2B5EF4-FFF2-40B4-BE49-F238E27FC236}">
                <a16:creationId xmlns:a16="http://schemas.microsoft.com/office/drawing/2014/main" id="{CFE825F2-565C-4417-9C3B-CBA068C9532B}"/>
              </a:ext>
            </a:extLst>
          </p:cNvPr>
          <p:cNvSpPr>
            <a:spLocks noGrp="1"/>
          </p:cNvSpPr>
          <p:nvPr/>
        </p:nvSpPr>
        <p:spPr>
          <a:xfrm>
            <a:off x="3714750" y="2819400"/>
            <a:ext cx="1809750" cy="7048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013" b="0">
                <a:solidFill>
                  <a:srgbClr val="687A8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13" b="0">
                <a:solidFill>
                  <a:srgbClr val="687A84"/>
                </a:solidFill>
                <a:latin typeface="Microsoft YaHei"/>
                <a:ea typeface="Microsoft YaHei"/>
                <a:cs typeface="Microsoft YaHei"/>
              </a:rPr>
              <a:t>Kotlin/Java / 权限模型 / 机型差异</a:t>
            </a:r>
          </a:p>
        </p:txBody>
      </p:sp>
      <p:sp>
        <p:nvSpPr>
          <p:cNvPr id="18" name="矩形 17">
            <a:extLst>
              <a:ext uri="{FF2B5EF4-FFF2-40B4-BE49-F238E27FC236}">
                <a16:creationId xmlns:a16="http://schemas.microsoft.com/office/drawing/2014/main" id="{D0CA3672-3AF1-4367-A3AF-F7E61A6E1506}"/>
              </a:ext>
            </a:extLst>
          </p:cNvPr>
          <p:cNvSpPr>
            <a:spLocks noGrp="1"/>
          </p:cNvSpPr>
          <p:nvPr/>
        </p:nvSpPr>
        <p:spPr>
          <a:xfrm>
            <a:off x="5695950" y="2981325"/>
            <a:ext cx="514350" cy="19050"/>
          </a:xfrm>
          <a:prstGeom prst="rect">
            <a:avLst/>
          </a:prstGeom>
          <a:solidFill>
            <a:srgbClr val="22A6C7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9" name="矩形 18">
            <a:extLst>
              <a:ext uri="{FF2B5EF4-FFF2-40B4-BE49-F238E27FC236}">
                <a16:creationId xmlns:a16="http://schemas.microsoft.com/office/drawing/2014/main" id="{0E6F0BBC-587B-4EA2-9759-97E8FD9F1F07}"/>
              </a:ext>
            </a:extLst>
          </p:cNvPr>
          <p:cNvSpPr>
            <a:spLocks noGrp="1"/>
          </p:cNvSpPr>
          <p:nvPr/>
        </p:nvSpPr>
        <p:spPr>
          <a:xfrm>
            <a:off x="6076950" y="2867025"/>
            <a:ext cx="247650" cy="2476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ctr"/>
          <a:lstStyle/>
          <a:p>
            <a:pPr algn="ctr">
              <a:defRPr sz="1275" b="1">
                <a:solidFill>
                  <a:srgbClr val="22A6C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1">
                <a:solidFill>
                  <a:srgbClr val="22A6C7"/>
                </a:solidFill>
                <a:latin typeface="Microsoft YaHei"/>
                <a:ea typeface="Microsoft YaHei"/>
                <a:cs typeface="Microsoft YaHei"/>
              </a:rPr>
              <a:t>&gt;</a:t>
            </a:r>
          </a:p>
        </p:txBody>
      </p:sp>
      <p:sp>
        <p:nvSpPr>
          <p:cNvPr id="20" name="矩形 19">
            <a:extLst>
              <a:ext uri="{FF2B5EF4-FFF2-40B4-BE49-F238E27FC236}">
                <a16:creationId xmlns:a16="http://schemas.microsoft.com/office/drawing/2014/main" id="{8ACCBC8F-CC12-42B7-A0D5-352FD4E77A6B}"/>
              </a:ext>
            </a:extLst>
          </p:cNvPr>
          <p:cNvSpPr>
            <a:spLocks noGrp="1"/>
          </p:cNvSpPr>
          <p:nvPr/>
        </p:nvSpPr>
        <p:spPr>
          <a:xfrm>
            <a:off x="6229350" y="2362200"/>
            <a:ext cx="2152650" cy="1257300"/>
          </a:xfrm>
          <a:prstGeom prst="rect">
            <a:avLst/>
          </a:prstGeom>
          <a:solidFill>
            <a:srgbClr val="FFFFFF"/>
          </a:solidFill>
          <a:ln w="9525">
            <a:solidFill>
              <a:srgbClr val="DCE5E7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1" name="矩形 20">
            <a:extLst>
              <a:ext uri="{FF2B5EF4-FFF2-40B4-BE49-F238E27FC236}">
                <a16:creationId xmlns:a16="http://schemas.microsoft.com/office/drawing/2014/main" id="{443BC5F7-0319-4AD2-97A5-5059D1005458}"/>
              </a:ext>
            </a:extLst>
          </p:cNvPr>
          <p:cNvSpPr>
            <a:spLocks noGrp="1"/>
          </p:cNvSpPr>
          <p:nvPr/>
        </p:nvSpPr>
        <p:spPr>
          <a:xfrm>
            <a:off x="6229350" y="2362200"/>
            <a:ext cx="57150" cy="1257300"/>
          </a:xfrm>
          <a:prstGeom prst="rect">
            <a:avLst/>
          </a:prstGeom>
          <a:solidFill>
            <a:srgbClr val="D9514E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2" name="矩形 21">
            <a:extLst>
              <a:ext uri="{FF2B5EF4-FFF2-40B4-BE49-F238E27FC236}">
                <a16:creationId xmlns:a16="http://schemas.microsoft.com/office/drawing/2014/main" id="{6E561523-6694-4E76-B785-05F4044EDB2E}"/>
              </a:ext>
            </a:extLst>
          </p:cNvPr>
          <p:cNvSpPr>
            <a:spLocks noGrp="1"/>
          </p:cNvSpPr>
          <p:nvPr/>
        </p:nvSpPr>
        <p:spPr>
          <a:xfrm>
            <a:off x="6400800" y="2495550"/>
            <a:ext cx="1809750" cy="2857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350" b="1">
                <a:solidFill>
                  <a:srgbClr val="17313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17313B"/>
                </a:solidFill>
                <a:latin typeface="Microsoft YaHei"/>
                <a:ea typeface="Microsoft YaHei"/>
                <a:cs typeface="Microsoft YaHei"/>
              </a:rPr>
              <a:t>Web 页面</a:t>
            </a:r>
          </a:p>
        </p:txBody>
      </p:sp>
      <p:sp>
        <p:nvSpPr>
          <p:cNvPr id="23" name="矩形 22">
            <a:extLst>
              <a:ext uri="{FF2B5EF4-FFF2-40B4-BE49-F238E27FC236}">
                <a16:creationId xmlns:a16="http://schemas.microsoft.com/office/drawing/2014/main" id="{D3745585-FE5E-478B-BE73-5E70CD3A7564}"/>
              </a:ext>
            </a:extLst>
          </p:cNvPr>
          <p:cNvSpPr>
            <a:spLocks noGrp="1"/>
          </p:cNvSpPr>
          <p:nvPr/>
        </p:nvSpPr>
        <p:spPr>
          <a:xfrm>
            <a:off x="6400800" y="2819400"/>
            <a:ext cx="1809750" cy="7048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013" b="0">
                <a:solidFill>
                  <a:srgbClr val="687A8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13" b="0">
                <a:solidFill>
                  <a:srgbClr val="687A84"/>
                </a:solidFill>
                <a:latin typeface="Microsoft YaHei"/>
                <a:ea typeface="Microsoft YaHei"/>
                <a:cs typeface="Microsoft YaHei"/>
              </a:rPr>
              <a:t>浏览器蓝牙能力和微信环境限制</a:t>
            </a:r>
          </a:p>
        </p:txBody>
      </p:sp>
      <p:sp>
        <p:nvSpPr>
          <p:cNvPr id="24" name="矩形 23">
            <a:extLst>
              <a:ext uri="{FF2B5EF4-FFF2-40B4-BE49-F238E27FC236}">
                <a16:creationId xmlns:a16="http://schemas.microsoft.com/office/drawing/2014/main" id="{F32C78B9-0B03-4B8A-90C8-3510732F8248}"/>
              </a:ext>
            </a:extLst>
          </p:cNvPr>
          <p:cNvSpPr>
            <a:spLocks noGrp="1"/>
          </p:cNvSpPr>
          <p:nvPr/>
        </p:nvSpPr>
        <p:spPr>
          <a:xfrm>
            <a:off x="8382000" y="2981325"/>
            <a:ext cx="514350" cy="19050"/>
          </a:xfrm>
          <a:prstGeom prst="rect">
            <a:avLst/>
          </a:prstGeom>
          <a:solidFill>
            <a:srgbClr val="22A6C7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5" name="矩形 24">
            <a:extLst>
              <a:ext uri="{FF2B5EF4-FFF2-40B4-BE49-F238E27FC236}">
                <a16:creationId xmlns:a16="http://schemas.microsoft.com/office/drawing/2014/main" id="{5FCA7A02-FC8B-40CD-A097-86F4971EE091}"/>
              </a:ext>
            </a:extLst>
          </p:cNvPr>
          <p:cNvSpPr>
            <a:spLocks noGrp="1"/>
          </p:cNvSpPr>
          <p:nvPr/>
        </p:nvSpPr>
        <p:spPr>
          <a:xfrm>
            <a:off x="8763000" y="2867025"/>
            <a:ext cx="247650" cy="2476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ctr"/>
          <a:lstStyle/>
          <a:p>
            <a:pPr algn="ctr">
              <a:defRPr sz="1275" b="1">
                <a:solidFill>
                  <a:srgbClr val="22A6C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1">
                <a:solidFill>
                  <a:srgbClr val="22A6C7"/>
                </a:solidFill>
                <a:latin typeface="Microsoft YaHei"/>
                <a:ea typeface="Microsoft YaHei"/>
                <a:cs typeface="Microsoft YaHei"/>
              </a:rPr>
              <a:t>&gt;</a:t>
            </a:r>
          </a:p>
        </p:txBody>
      </p:sp>
      <p:sp>
        <p:nvSpPr>
          <p:cNvPr id="26" name="矩形 25">
            <a:extLst>
              <a:ext uri="{FF2B5EF4-FFF2-40B4-BE49-F238E27FC236}">
                <a16:creationId xmlns:a16="http://schemas.microsoft.com/office/drawing/2014/main" id="{1BA40F50-72F2-4560-B5F1-5755CE7860A0}"/>
              </a:ext>
            </a:extLst>
          </p:cNvPr>
          <p:cNvSpPr>
            <a:spLocks noGrp="1"/>
          </p:cNvSpPr>
          <p:nvPr/>
        </p:nvSpPr>
        <p:spPr>
          <a:xfrm>
            <a:off x="8915400" y="2362200"/>
            <a:ext cx="2152650" cy="1257300"/>
          </a:xfrm>
          <a:prstGeom prst="rect">
            <a:avLst/>
          </a:prstGeom>
          <a:solidFill>
            <a:srgbClr val="FFFFFF"/>
          </a:solidFill>
          <a:ln w="9525">
            <a:solidFill>
              <a:srgbClr val="DCE5E7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7" name="矩形 26">
            <a:extLst>
              <a:ext uri="{FF2B5EF4-FFF2-40B4-BE49-F238E27FC236}">
                <a16:creationId xmlns:a16="http://schemas.microsoft.com/office/drawing/2014/main" id="{767214EE-75B7-44AC-9E0B-918F86D73B7F}"/>
              </a:ext>
            </a:extLst>
          </p:cNvPr>
          <p:cNvSpPr>
            <a:spLocks noGrp="1"/>
          </p:cNvSpPr>
          <p:nvPr/>
        </p:nvSpPr>
        <p:spPr>
          <a:xfrm>
            <a:off x="8915400" y="2362200"/>
            <a:ext cx="57150" cy="1257300"/>
          </a:xfrm>
          <a:prstGeom prst="rect">
            <a:avLst/>
          </a:prstGeom>
          <a:solidFill>
            <a:srgbClr val="18C7A3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8" name="矩形 27">
            <a:extLst>
              <a:ext uri="{FF2B5EF4-FFF2-40B4-BE49-F238E27FC236}">
                <a16:creationId xmlns:a16="http://schemas.microsoft.com/office/drawing/2014/main" id="{E3DC8954-D92B-44DF-AF6C-F7646CE4795C}"/>
              </a:ext>
            </a:extLst>
          </p:cNvPr>
          <p:cNvSpPr>
            <a:spLocks noGrp="1"/>
          </p:cNvSpPr>
          <p:nvPr/>
        </p:nvSpPr>
        <p:spPr>
          <a:xfrm>
            <a:off x="9086850" y="2495550"/>
            <a:ext cx="1809750" cy="2857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350" b="1">
                <a:solidFill>
                  <a:srgbClr val="17313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17313B"/>
                </a:solidFill>
                <a:latin typeface="Microsoft YaHei"/>
                <a:ea typeface="Microsoft YaHei"/>
                <a:cs typeface="Microsoft YaHei"/>
              </a:rPr>
              <a:t>微信小程序</a:t>
            </a:r>
          </a:p>
        </p:txBody>
      </p:sp>
      <p:sp>
        <p:nvSpPr>
          <p:cNvPr id="29" name="矩形 28">
            <a:extLst>
              <a:ext uri="{FF2B5EF4-FFF2-40B4-BE49-F238E27FC236}">
                <a16:creationId xmlns:a16="http://schemas.microsoft.com/office/drawing/2014/main" id="{0BA3CA8A-046E-4754-892C-6CB7C0A5E290}"/>
              </a:ext>
            </a:extLst>
          </p:cNvPr>
          <p:cNvSpPr>
            <a:spLocks noGrp="1"/>
          </p:cNvSpPr>
          <p:nvPr/>
        </p:nvSpPr>
        <p:spPr>
          <a:xfrm>
            <a:off x="9086850" y="2819400"/>
            <a:ext cx="1809750" cy="7048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013" b="0">
                <a:solidFill>
                  <a:srgbClr val="687A8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13" b="0">
                <a:solidFill>
                  <a:srgbClr val="687A84"/>
                </a:solidFill>
                <a:latin typeface="Microsoft YaHei"/>
                <a:ea typeface="Microsoft YaHei"/>
                <a:cs typeface="Microsoft YaHei"/>
              </a:rPr>
              <a:t>统一入口；真机调试 BLE；学生易分发</a:t>
            </a:r>
          </a:p>
        </p:txBody>
      </p:sp>
      <p:sp>
        <p:nvSpPr>
          <p:cNvPr id="30" name="矩形 29">
            <a:extLst>
              <a:ext uri="{FF2B5EF4-FFF2-40B4-BE49-F238E27FC236}">
                <a16:creationId xmlns:a16="http://schemas.microsoft.com/office/drawing/2014/main" id="{45CEFA53-4A48-403A-A2D1-ADF6FB1D8090}"/>
              </a:ext>
            </a:extLst>
          </p:cNvPr>
          <p:cNvSpPr>
            <a:spLocks noGrp="1"/>
          </p:cNvSpPr>
          <p:nvPr/>
        </p:nvSpPr>
        <p:spPr>
          <a:xfrm>
            <a:off x="819150" y="4171950"/>
            <a:ext cx="10382250" cy="838200"/>
          </a:xfrm>
          <a:prstGeom prst="rect">
            <a:avLst/>
          </a:prstGeom>
          <a:solidFill>
            <a:srgbClr val="E8F8F3"/>
          </a:solidFill>
          <a:ln w="9525">
            <a:solidFill>
              <a:srgbClr val="BFECE1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31" name="矩形 30">
            <a:extLst>
              <a:ext uri="{FF2B5EF4-FFF2-40B4-BE49-F238E27FC236}">
                <a16:creationId xmlns:a16="http://schemas.microsoft.com/office/drawing/2014/main" id="{3907B313-C3D3-40DD-9150-71200678C7BD}"/>
              </a:ext>
            </a:extLst>
          </p:cNvPr>
          <p:cNvSpPr>
            <a:spLocks noGrp="1"/>
          </p:cNvSpPr>
          <p:nvPr/>
        </p:nvSpPr>
        <p:spPr>
          <a:xfrm>
            <a:off x="1066800" y="4343400"/>
            <a:ext cx="4914900" cy="4381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575" b="1">
                <a:solidFill>
                  <a:srgbClr val="17313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1">
                <a:solidFill>
                  <a:srgbClr val="17313B"/>
                </a:solidFill>
                <a:latin typeface="Microsoft YaHei"/>
                <a:ea typeface="Microsoft YaHei"/>
                <a:cs typeface="Microsoft YaHei"/>
              </a:rPr>
              <a:t>代价：小程序端蓝牙能力是 BLE API，不是传统蓝牙串口。</a:t>
            </a:r>
          </a:p>
        </p:txBody>
      </p:sp>
      <p:sp>
        <p:nvSpPr>
          <p:cNvPr id="32" name="矩形 31">
            <a:extLst>
              <a:ext uri="{FF2B5EF4-FFF2-40B4-BE49-F238E27FC236}">
                <a16:creationId xmlns:a16="http://schemas.microsoft.com/office/drawing/2014/main" id="{A6798462-41AA-4EC2-B6A1-49577487CE31}"/>
              </a:ext>
            </a:extLst>
          </p:cNvPr>
          <p:cNvSpPr>
            <a:spLocks noGrp="1"/>
          </p:cNvSpPr>
          <p:nvPr/>
        </p:nvSpPr>
        <p:spPr>
          <a:xfrm>
            <a:off x="6229350" y="4343400"/>
            <a:ext cx="4343400" cy="4381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238" b="0">
                <a:solidFill>
                  <a:srgbClr val="687A8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38" b="0">
                <a:solidFill>
                  <a:srgbClr val="687A84"/>
                </a:solidFill>
                <a:latin typeface="Microsoft YaHei"/>
                <a:ea typeface="Microsoft YaHei"/>
                <a:cs typeface="Microsoft YaHei"/>
              </a:rPr>
              <a:t>因此 ESP32 必须做 BLE Peripheral/GATT Server；小程序作为 Central 扫描和订阅 notify。</a:t>
            </a:r>
          </a:p>
        </p:txBody>
      </p:sp>
    </p:spTree>
    <p:extLst>
      <p:ext uri="{BB962C8B-B14F-4D97-AF65-F5344CB8AC3E}">
        <p14:creationId xmlns:p14="http://schemas.microsoft.com/office/powerpoint/2010/main" val="986979031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" name="矩形 58">
            <a:extLst>
              <a:ext uri="{FF2B5EF4-FFF2-40B4-BE49-F238E27FC236}">
                <a16:creationId xmlns:a16="http://schemas.microsoft.com/office/drawing/2014/main" id="{4E37205D-A152-4F3B-961E-203B9C8F8E8D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6F3EA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" name="矩形 1">
            <a:extLst>
              <a:ext uri="{FF2B5EF4-FFF2-40B4-BE49-F238E27FC236}">
                <a16:creationId xmlns:a16="http://schemas.microsoft.com/office/drawing/2014/main" id="{2524FC0A-BCB1-4F99-A473-FFC87C648F5B}"/>
              </a:ext>
            </a:extLst>
          </p:cNvPr>
          <p:cNvSpPr>
            <a:spLocks noGrp="1"/>
          </p:cNvSpPr>
          <p:nvPr/>
        </p:nvSpPr>
        <p:spPr>
          <a:xfrm>
            <a:off x="419100" y="323850"/>
            <a:ext cx="95250" cy="190500"/>
          </a:xfrm>
          <a:prstGeom prst="rect">
            <a:avLst/>
          </a:prstGeom>
          <a:solidFill>
            <a:srgbClr val="22A6C7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84FA2E35-F59F-4C44-98C7-B0F61E5732C2}"/>
              </a:ext>
            </a:extLst>
          </p:cNvPr>
          <p:cNvSpPr>
            <a:spLocks noGrp="1"/>
          </p:cNvSpPr>
          <p:nvPr/>
        </p:nvSpPr>
        <p:spPr>
          <a:xfrm>
            <a:off x="590550" y="266700"/>
            <a:ext cx="4095750" cy="3238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ctr"/>
          <a:lstStyle/>
          <a:p>
            <a:pPr algn="l">
              <a:defRPr sz="1125" b="1">
                <a:solidFill>
                  <a:srgbClr val="687A8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1">
                <a:solidFill>
                  <a:srgbClr val="687A84"/>
                </a:solidFill>
                <a:latin typeface="Microsoft YaHei"/>
                <a:ea typeface="Microsoft YaHei"/>
                <a:cs typeface="Microsoft YaHei"/>
              </a:rPr>
              <a:t>BLUETOOTH CHOICE</a:t>
            </a:r>
          </a:p>
        </p:txBody>
      </p:sp>
      <p:sp>
        <p:nvSpPr>
          <p:cNvPr id="4" name="矩形 3">
            <a:extLst>
              <a:ext uri="{FF2B5EF4-FFF2-40B4-BE49-F238E27FC236}">
                <a16:creationId xmlns:a16="http://schemas.microsoft.com/office/drawing/2014/main" id="{306AFE2B-72E2-46CE-8C70-70BEF595E5B2}"/>
              </a:ext>
            </a:extLst>
          </p:cNvPr>
          <p:cNvSpPr>
            <a:spLocks noGrp="1"/>
          </p:cNvSpPr>
          <p:nvPr/>
        </p:nvSpPr>
        <p:spPr>
          <a:xfrm>
            <a:off x="419100" y="685800"/>
            <a:ext cx="10763250" cy="7810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2400" b="1">
                <a:solidFill>
                  <a:srgbClr val="17313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400" b="1">
                <a:solidFill>
                  <a:srgbClr val="17313B"/>
                </a:solidFill>
                <a:latin typeface="Microsoft YaHei"/>
                <a:ea typeface="Microsoft YaHei"/>
                <a:cs typeface="Microsoft YaHei"/>
              </a:rPr>
              <a:t>ESP32 两种蓝牙路线都能用，但本项目被手机端框架推向 BLE。</a:t>
            </a:r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EACA39B5-F1A2-4A9A-9CB4-C1FCCE9D0B17}"/>
              </a:ext>
            </a:extLst>
          </p:cNvPr>
          <p:cNvSpPr>
            <a:spLocks noGrp="1"/>
          </p:cNvSpPr>
          <p:nvPr/>
        </p:nvSpPr>
        <p:spPr>
          <a:xfrm>
            <a:off x="419100" y="1504950"/>
            <a:ext cx="8858250" cy="3238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200" b="0">
                <a:solidFill>
                  <a:srgbClr val="687A8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687A84"/>
                </a:solidFill>
                <a:latin typeface="Microsoft YaHei"/>
                <a:ea typeface="Microsoft YaHei"/>
                <a:cs typeface="Microsoft YaHei"/>
              </a:rPr>
              <a:t>这里的选择不是“BLE 更像串口”，而是“BLE 更适合小程序可访问的模型”。</a:t>
            </a:r>
          </a:p>
        </p:txBody>
      </p:sp>
      <p:sp>
        <p:nvSpPr>
          <p:cNvPr id="6" name="矩形 5">
            <a:extLst>
              <a:ext uri="{FF2B5EF4-FFF2-40B4-BE49-F238E27FC236}">
                <a16:creationId xmlns:a16="http://schemas.microsoft.com/office/drawing/2014/main" id="{B5BBB2CE-CACB-44BE-9826-49AFFF7C3177}"/>
              </a:ext>
            </a:extLst>
          </p:cNvPr>
          <p:cNvSpPr>
            <a:spLocks noGrp="1"/>
          </p:cNvSpPr>
          <p:nvPr/>
        </p:nvSpPr>
        <p:spPr>
          <a:xfrm>
            <a:off x="419100" y="6438900"/>
            <a:ext cx="8572500" cy="9525"/>
          </a:xfrm>
          <a:prstGeom prst="rect">
            <a:avLst/>
          </a:prstGeom>
          <a:solidFill>
            <a:srgbClr val="D6DEE1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7" name="矩形 6">
            <a:extLst>
              <a:ext uri="{FF2B5EF4-FFF2-40B4-BE49-F238E27FC236}">
                <a16:creationId xmlns:a16="http://schemas.microsoft.com/office/drawing/2014/main" id="{8579880B-9FD0-41B0-9B9A-57A78F2822CB}"/>
              </a:ext>
            </a:extLst>
          </p:cNvPr>
          <p:cNvSpPr>
            <a:spLocks noGrp="1"/>
          </p:cNvSpPr>
          <p:nvPr/>
        </p:nvSpPr>
        <p:spPr>
          <a:xfrm>
            <a:off x="419100" y="6515100"/>
            <a:ext cx="8572500" cy="1905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675" b="0">
                <a:solidFill>
                  <a:srgbClr val="7C8A9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675" b="0">
                <a:solidFill>
                  <a:srgbClr val="7C8A90"/>
                </a:solidFill>
                <a:latin typeface="Microsoft YaHei"/>
                <a:ea typeface="Microsoft YaHei"/>
                <a:cs typeface="Microsoft YaHei"/>
              </a:rPr>
              <a:t>Source: Arduino / WeChat Mini Program source code; WeChat Mini Program BLE API docs</a:t>
            </a:r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926E3F83-825B-4DCB-AAF9-B232F30587F3}"/>
              </a:ext>
            </a:extLst>
          </p:cNvPr>
          <p:cNvSpPr>
            <a:spLocks noGrp="1"/>
          </p:cNvSpPr>
          <p:nvPr/>
        </p:nvSpPr>
        <p:spPr>
          <a:xfrm>
            <a:off x="11334750" y="6496050"/>
            <a:ext cx="419100" cy="2095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r">
              <a:defRPr sz="825" b="0">
                <a:solidFill>
                  <a:srgbClr val="7C8A9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825" b="0">
                <a:solidFill>
                  <a:srgbClr val="7C8A90"/>
                </a:solidFill>
                <a:latin typeface="Microsoft YaHei"/>
                <a:ea typeface="Microsoft YaHei"/>
                <a:cs typeface="Microsoft YaHei"/>
              </a:rPr>
              <a:t>09</a:t>
            </a:r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1B85FC4B-E294-4318-AFF7-8CF9F59056B1}"/>
              </a:ext>
            </a:extLst>
          </p:cNvPr>
          <p:cNvSpPr>
            <a:spLocks noGrp="1"/>
          </p:cNvSpPr>
          <p:nvPr/>
        </p:nvSpPr>
        <p:spPr>
          <a:xfrm>
            <a:off x="723900" y="2095500"/>
            <a:ext cx="1619250" cy="361950"/>
          </a:xfrm>
          <a:prstGeom prst="rect">
            <a:avLst/>
          </a:prstGeom>
          <a:solidFill>
            <a:srgbClr val="10252E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D5AE1425-B1F2-4102-B8F9-53E56FE47C1B}"/>
              </a:ext>
            </a:extLst>
          </p:cNvPr>
          <p:cNvSpPr>
            <a:spLocks noGrp="1"/>
          </p:cNvSpPr>
          <p:nvPr/>
        </p:nvSpPr>
        <p:spPr>
          <a:xfrm>
            <a:off x="800100" y="2171700"/>
            <a:ext cx="1466850" cy="1905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ctr">
              <a:defRPr sz="938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38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维度</a:t>
            </a:r>
          </a:p>
        </p:txBody>
      </p:sp>
      <p:sp>
        <p:nvSpPr>
          <p:cNvPr id="11" name="矩形 10">
            <a:extLst>
              <a:ext uri="{FF2B5EF4-FFF2-40B4-BE49-F238E27FC236}">
                <a16:creationId xmlns:a16="http://schemas.microsoft.com/office/drawing/2014/main" id="{B2F42976-0316-435B-8470-E0D6CEA595F7}"/>
              </a:ext>
            </a:extLst>
          </p:cNvPr>
          <p:cNvSpPr>
            <a:spLocks noGrp="1"/>
          </p:cNvSpPr>
          <p:nvPr/>
        </p:nvSpPr>
        <p:spPr>
          <a:xfrm>
            <a:off x="2343150" y="2095500"/>
            <a:ext cx="2381250" cy="361950"/>
          </a:xfrm>
          <a:prstGeom prst="rect">
            <a:avLst/>
          </a:prstGeom>
          <a:solidFill>
            <a:srgbClr val="10252E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2" name="矩形 11">
            <a:extLst>
              <a:ext uri="{FF2B5EF4-FFF2-40B4-BE49-F238E27FC236}">
                <a16:creationId xmlns:a16="http://schemas.microsoft.com/office/drawing/2014/main" id="{A8E523CC-4C48-4B6D-B19E-BE44EBD7DE64}"/>
              </a:ext>
            </a:extLst>
          </p:cNvPr>
          <p:cNvSpPr>
            <a:spLocks noGrp="1"/>
          </p:cNvSpPr>
          <p:nvPr/>
        </p:nvSpPr>
        <p:spPr>
          <a:xfrm>
            <a:off x="2419350" y="2171700"/>
            <a:ext cx="2228850" cy="1905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ctr">
              <a:defRPr sz="938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38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经典蓝牙 SPP</a:t>
            </a:r>
          </a:p>
        </p:txBody>
      </p:sp>
      <p:sp>
        <p:nvSpPr>
          <p:cNvPr id="13" name="矩形 12">
            <a:extLst>
              <a:ext uri="{FF2B5EF4-FFF2-40B4-BE49-F238E27FC236}">
                <a16:creationId xmlns:a16="http://schemas.microsoft.com/office/drawing/2014/main" id="{158A647C-6F83-41A3-95E8-5DB2EFA9430A}"/>
              </a:ext>
            </a:extLst>
          </p:cNvPr>
          <p:cNvSpPr>
            <a:spLocks noGrp="1"/>
          </p:cNvSpPr>
          <p:nvPr/>
        </p:nvSpPr>
        <p:spPr>
          <a:xfrm>
            <a:off x="4724400" y="2095500"/>
            <a:ext cx="2381250" cy="361950"/>
          </a:xfrm>
          <a:prstGeom prst="rect">
            <a:avLst/>
          </a:prstGeom>
          <a:solidFill>
            <a:srgbClr val="22A6C7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4" name="矩形 13">
            <a:extLst>
              <a:ext uri="{FF2B5EF4-FFF2-40B4-BE49-F238E27FC236}">
                <a16:creationId xmlns:a16="http://schemas.microsoft.com/office/drawing/2014/main" id="{8315F7AD-DE50-4682-9B15-8E8A1D3B0D70}"/>
              </a:ext>
            </a:extLst>
          </p:cNvPr>
          <p:cNvSpPr>
            <a:spLocks noGrp="1"/>
          </p:cNvSpPr>
          <p:nvPr/>
        </p:nvSpPr>
        <p:spPr>
          <a:xfrm>
            <a:off x="4800600" y="2171700"/>
            <a:ext cx="2228850" cy="1905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ctr">
              <a:defRPr sz="938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38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蓝牙 BLE</a:t>
            </a:r>
          </a:p>
        </p:txBody>
      </p:sp>
      <p:sp>
        <p:nvSpPr>
          <p:cNvPr id="15" name="矩形 14">
            <a:extLst>
              <a:ext uri="{FF2B5EF4-FFF2-40B4-BE49-F238E27FC236}">
                <a16:creationId xmlns:a16="http://schemas.microsoft.com/office/drawing/2014/main" id="{9D73D72F-641C-4EA2-B8C5-E674938AB059}"/>
              </a:ext>
            </a:extLst>
          </p:cNvPr>
          <p:cNvSpPr>
            <a:spLocks noGrp="1"/>
          </p:cNvSpPr>
          <p:nvPr/>
        </p:nvSpPr>
        <p:spPr>
          <a:xfrm>
            <a:off x="7105650" y="2095500"/>
            <a:ext cx="2381250" cy="361950"/>
          </a:xfrm>
          <a:prstGeom prst="rect">
            <a:avLst/>
          </a:prstGeom>
          <a:solidFill>
            <a:srgbClr val="10252E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6" name="矩形 15">
            <a:extLst>
              <a:ext uri="{FF2B5EF4-FFF2-40B4-BE49-F238E27FC236}">
                <a16:creationId xmlns:a16="http://schemas.microsoft.com/office/drawing/2014/main" id="{9568963A-E161-4237-BF47-2E280BB8DE05}"/>
              </a:ext>
            </a:extLst>
          </p:cNvPr>
          <p:cNvSpPr>
            <a:spLocks noGrp="1"/>
          </p:cNvSpPr>
          <p:nvPr/>
        </p:nvSpPr>
        <p:spPr>
          <a:xfrm>
            <a:off x="7181850" y="2171700"/>
            <a:ext cx="2228850" cy="1905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ctr">
              <a:defRPr sz="938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38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本项目判断</a:t>
            </a:r>
          </a:p>
        </p:txBody>
      </p:sp>
      <p:sp>
        <p:nvSpPr>
          <p:cNvPr id="17" name="矩形 16">
            <a:extLst>
              <a:ext uri="{FF2B5EF4-FFF2-40B4-BE49-F238E27FC236}">
                <a16:creationId xmlns:a16="http://schemas.microsoft.com/office/drawing/2014/main" id="{256401FC-4CDB-4C85-8243-9C503C4567BD}"/>
              </a:ext>
            </a:extLst>
          </p:cNvPr>
          <p:cNvSpPr>
            <a:spLocks noGrp="1"/>
          </p:cNvSpPr>
          <p:nvPr/>
        </p:nvSpPr>
        <p:spPr>
          <a:xfrm>
            <a:off x="723900" y="2457450"/>
            <a:ext cx="1619250" cy="523875"/>
          </a:xfrm>
          <a:prstGeom prst="rect">
            <a:avLst/>
          </a:prstGeom>
          <a:solidFill>
            <a:srgbClr val="FFFFFF"/>
          </a:solidFill>
          <a:ln w="9525">
            <a:solidFill>
              <a:srgbClr val="DCE5E7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8" name="矩形 17">
            <a:extLst>
              <a:ext uri="{FF2B5EF4-FFF2-40B4-BE49-F238E27FC236}">
                <a16:creationId xmlns:a16="http://schemas.microsoft.com/office/drawing/2014/main" id="{3B0BE1C3-053E-4730-A1FB-505979A054BB}"/>
              </a:ext>
            </a:extLst>
          </p:cNvPr>
          <p:cNvSpPr>
            <a:spLocks noGrp="1"/>
          </p:cNvSpPr>
          <p:nvPr/>
        </p:nvSpPr>
        <p:spPr>
          <a:xfrm>
            <a:off x="819150" y="2552700"/>
            <a:ext cx="1428750" cy="3238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ctr">
              <a:defRPr sz="885" b="1">
                <a:solidFill>
                  <a:srgbClr val="17313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885" b="1">
                <a:solidFill>
                  <a:srgbClr val="17313B"/>
                </a:solidFill>
                <a:latin typeface="Microsoft YaHei"/>
                <a:ea typeface="Microsoft YaHei"/>
                <a:cs typeface="Microsoft YaHei"/>
              </a:rPr>
              <a:t>连接模型</a:t>
            </a:r>
          </a:p>
        </p:txBody>
      </p:sp>
      <p:sp>
        <p:nvSpPr>
          <p:cNvPr id="19" name="矩形 18">
            <a:extLst>
              <a:ext uri="{FF2B5EF4-FFF2-40B4-BE49-F238E27FC236}">
                <a16:creationId xmlns:a16="http://schemas.microsoft.com/office/drawing/2014/main" id="{64EEB7CC-F6D2-4D3C-AC0E-3C972ABB06DB}"/>
              </a:ext>
            </a:extLst>
          </p:cNvPr>
          <p:cNvSpPr>
            <a:spLocks noGrp="1"/>
          </p:cNvSpPr>
          <p:nvPr/>
        </p:nvSpPr>
        <p:spPr>
          <a:xfrm>
            <a:off x="2343150" y="2457450"/>
            <a:ext cx="2381250" cy="523875"/>
          </a:xfrm>
          <a:prstGeom prst="rect">
            <a:avLst/>
          </a:prstGeom>
          <a:solidFill>
            <a:srgbClr val="FFFFFF"/>
          </a:solidFill>
          <a:ln w="9525">
            <a:solidFill>
              <a:srgbClr val="DCE5E7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0" name="矩形 19">
            <a:extLst>
              <a:ext uri="{FF2B5EF4-FFF2-40B4-BE49-F238E27FC236}">
                <a16:creationId xmlns:a16="http://schemas.microsoft.com/office/drawing/2014/main" id="{C39651E1-ABB2-466D-8D00-8A958132E589}"/>
              </a:ext>
            </a:extLst>
          </p:cNvPr>
          <p:cNvSpPr>
            <a:spLocks noGrp="1"/>
          </p:cNvSpPr>
          <p:nvPr/>
        </p:nvSpPr>
        <p:spPr>
          <a:xfrm>
            <a:off x="2438400" y="2552700"/>
            <a:ext cx="2190750" cy="3238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885" b="0">
                <a:solidFill>
                  <a:srgbClr val="687A8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885" b="0">
                <a:solidFill>
                  <a:srgbClr val="687A84"/>
                </a:solidFill>
                <a:latin typeface="Microsoft YaHei"/>
                <a:ea typeface="Microsoft YaHei"/>
                <a:cs typeface="Microsoft YaHei"/>
              </a:rPr>
              <a:t>点对点串口链路</a:t>
            </a:r>
          </a:p>
        </p:txBody>
      </p:sp>
      <p:sp>
        <p:nvSpPr>
          <p:cNvPr id="21" name="矩形 20">
            <a:extLst>
              <a:ext uri="{FF2B5EF4-FFF2-40B4-BE49-F238E27FC236}">
                <a16:creationId xmlns:a16="http://schemas.microsoft.com/office/drawing/2014/main" id="{C01472A8-EF59-4993-89ED-006BB1314529}"/>
              </a:ext>
            </a:extLst>
          </p:cNvPr>
          <p:cNvSpPr>
            <a:spLocks noGrp="1"/>
          </p:cNvSpPr>
          <p:nvPr/>
        </p:nvSpPr>
        <p:spPr>
          <a:xfrm>
            <a:off x="4724400" y="2457450"/>
            <a:ext cx="2381250" cy="523875"/>
          </a:xfrm>
          <a:prstGeom prst="rect">
            <a:avLst/>
          </a:prstGeom>
          <a:solidFill>
            <a:srgbClr val="E7F6FA"/>
          </a:solidFill>
          <a:ln w="9525">
            <a:solidFill>
              <a:srgbClr val="DCE5E7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2" name="矩形 21">
            <a:extLst>
              <a:ext uri="{FF2B5EF4-FFF2-40B4-BE49-F238E27FC236}">
                <a16:creationId xmlns:a16="http://schemas.microsoft.com/office/drawing/2014/main" id="{4DE21497-75E9-4FCB-8B09-171FDA6C233B}"/>
              </a:ext>
            </a:extLst>
          </p:cNvPr>
          <p:cNvSpPr>
            <a:spLocks noGrp="1"/>
          </p:cNvSpPr>
          <p:nvPr/>
        </p:nvSpPr>
        <p:spPr>
          <a:xfrm>
            <a:off x="4819650" y="2552700"/>
            <a:ext cx="2190750" cy="3238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885" b="0">
                <a:solidFill>
                  <a:srgbClr val="687A8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885" b="0">
                <a:solidFill>
                  <a:srgbClr val="687A84"/>
                </a:solidFill>
                <a:latin typeface="Microsoft YaHei"/>
                <a:ea typeface="Microsoft YaHei"/>
                <a:cs typeface="Microsoft YaHei"/>
              </a:rPr>
              <a:t>Peripheral / Central + GATT</a:t>
            </a:r>
          </a:p>
        </p:txBody>
      </p:sp>
      <p:sp>
        <p:nvSpPr>
          <p:cNvPr id="23" name="矩形 22">
            <a:extLst>
              <a:ext uri="{FF2B5EF4-FFF2-40B4-BE49-F238E27FC236}">
                <a16:creationId xmlns:a16="http://schemas.microsoft.com/office/drawing/2014/main" id="{CEF0E9C7-EE12-480E-AA7C-2B5E5757C034}"/>
              </a:ext>
            </a:extLst>
          </p:cNvPr>
          <p:cNvSpPr>
            <a:spLocks noGrp="1"/>
          </p:cNvSpPr>
          <p:nvPr/>
        </p:nvSpPr>
        <p:spPr>
          <a:xfrm>
            <a:off x="7105650" y="2457450"/>
            <a:ext cx="2381250" cy="523875"/>
          </a:xfrm>
          <a:prstGeom prst="rect">
            <a:avLst/>
          </a:prstGeom>
          <a:solidFill>
            <a:srgbClr val="FFFFFF"/>
          </a:solidFill>
          <a:ln w="9525">
            <a:solidFill>
              <a:srgbClr val="DCE5E7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4" name="矩形 23">
            <a:extLst>
              <a:ext uri="{FF2B5EF4-FFF2-40B4-BE49-F238E27FC236}">
                <a16:creationId xmlns:a16="http://schemas.microsoft.com/office/drawing/2014/main" id="{56880509-9C0E-4EBB-98A4-057D7F1587A1}"/>
              </a:ext>
            </a:extLst>
          </p:cNvPr>
          <p:cNvSpPr>
            <a:spLocks noGrp="1"/>
          </p:cNvSpPr>
          <p:nvPr/>
        </p:nvSpPr>
        <p:spPr>
          <a:xfrm>
            <a:off x="7200900" y="2552700"/>
            <a:ext cx="2190750" cy="3238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885" b="0">
                <a:solidFill>
                  <a:srgbClr val="687A8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885" b="0">
                <a:solidFill>
                  <a:srgbClr val="687A84"/>
                </a:solidFill>
                <a:latin typeface="Microsoft YaHei"/>
                <a:ea typeface="Microsoft YaHei"/>
                <a:cs typeface="Microsoft YaHei"/>
              </a:rPr>
              <a:t>小程序按 GATT 连接</a:t>
            </a:r>
          </a:p>
        </p:txBody>
      </p:sp>
      <p:sp>
        <p:nvSpPr>
          <p:cNvPr id="25" name="矩形 24">
            <a:extLst>
              <a:ext uri="{FF2B5EF4-FFF2-40B4-BE49-F238E27FC236}">
                <a16:creationId xmlns:a16="http://schemas.microsoft.com/office/drawing/2014/main" id="{12C1BF7D-D754-43A2-9448-801C3F6FDC92}"/>
              </a:ext>
            </a:extLst>
          </p:cNvPr>
          <p:cNvSpPr>
            <a:spLocks noGrp="1"/>
          </p:cNvSpPr>
          <p:nvPr/>
        </p:nvSpPr>
        <p:spPr>
          <a:xfrm>
            <a:off x="723900" y="2981325"/>
            <a:ext cx="1619250" cy="523875"/>
          </a:xfrm>
          <a:prstGeom prst="rect">
            <a:avLst/>
          </a:prstGeom>
          <a:solidFill>
            <a:srgbClr val="FFFFFF"/>
          </a:solidFill>
          <a:ln w="9525">
            <a:solidFill>
              <a:srgbClr val="DCE5E7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6" name="矩形 25">
            <a:extLst>
              <a:ext uri="{FF2B5EF4-FFF2-40B4-BE49-F238E27FC236}">
                <a16:creationId xmlns:a16="http://schemas.microsoft.com/office/drawing/2014/main" id="{998755A3-CB65-4441-A97F-C69799D59D6F}"/>
              </a:ext>
            </a:extLst>
          </p:cNvPr>
          <p:cNvSpPr>
            <a:spLocks noGrp="1"/>
          </p:cNvSpPr>
          <p:nvPr/>
        </p:nvSpPr>
        <p:spPr>
          <a:xfrm>
            <a:off x="819150" y="3076575"/>
            <a:ext cx="1428750" cy="3238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ctr">
              <a:defRPr sz="885" b="1">
                <a:solidFill>
                  <a:srgbClr val="17313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885" b="1">
                <a:solidFill>
                  <a:srgbClr val="17313B"/>
                </a:solidFill>
                <a:latin typeface="Microsoft YaHei"/>
                <a:ea typeface="Microsoft YaHei"/>
                <a:cs typeface="Microsoft YaHei"/>
              </a:rPr>
              <a:t>数据方式</a:t>
            </a:r>
          </a:p>
        </p:txBody>
      </p:sp>
      <p:sp>
        <p:nvSpPr>
          <p:cNvPr id="27" name="矩形 26">
            <a:extLst>
              <a:ext uri="{FF2B5EF4-FFF2-40B4-BE49-F238E27FC236}">
                <a16:creationId xmlns:a16="http://schemas.microsoft.com/office/drawing/2014/main" id="{D7EA241D-52DE-4DD6-916D-B2ECC3A97A41}"/>
              </a:ext>
            </a:extLst>
          </p:cNvPr>
          <p:cNvSpPr>
            <a:spLocks noGrp="1"/>
          </p:cNvSpPr>
          <p:nvPr/>
        </p:nvSpPr>
        <p:spPr>
          <a:xfrm>
            <a:off x="2343150" y="2981325"/>
            <a:ext cx="2381250" cy="523875"/>
          </a:xfrm>
          <a:prstGeom prst="rect">
            <a:avLst/>
          </a:prstGeom>
          <a:solidFill>
            <a:srgbClr val="FFFFFF"/>
          </a:solidFill>
          <a:ln w="9525">
            <a:solidFill>
              <a:srgbClr val="DCE5E7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8" name="矩形 27">
            <a:extLst>
              <a:ext uri="{FF2B5EF4-FFF2-40B4-BE49-F238E27FC236}">
                <a16:creationId xmlns:a16="http://schemas.microsoft.com/office/drawing/2014/main" id="{EE7B1A07-9FE6-49DE-AF23-2B1BC9F478ED}"/>
              </a:ext>
            </a:extLst>
          </p:cNvPr>
          <p:cNvSpPr>
            <a:spLocks noGrp="1"/>
          </p:cNvSpPr>
          <p:nvPr/>
        </p:nvSpPr>
        <p:spPr>
          <a:xfrm>
            <a:off x="2438400" y="3076575"/>
            <a:ext cx="2190750" cy="3238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885" b="0">
                <a:solidFill>
                  <a:srgbClr val="687A8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885" b="0">
                <a:solidFill>
                  <a:srgbClr val="687A84"/>
                </a:solidFill>
                <a:latin typeface="Microsoft YaHei"/>
                <a:ea typeface="Microsoft YaHei"/>
                <a:cs typeface="Microsoft YaHei"/>
              </a:rPr>
              <a:t>连续字节流</a:t>
            </a:r>
          </a:p>
        </p:txBody>
      </p:sp>
      <p:sp>
        <p:nvSpPr>
          <p:cNvPr id="29" name="矩形 28">
            <a:extLst>
              <a:ext uri="{FF2B5EF4-FFF2-40B4-BE49-F238E27FC236}">
                <a16:creationId xmlns:a16="http://schemas.microsoft.com/office/drawing/2014/main" id="{DD5F8E17-3B49-4753-9FC7-8AE1F0B047F3}"/>
              </a:ext>
            </a:extLst>
          </p:cNvPr>
          <p:cNvSpPr>
            <a:spLocks noGrp="1"/>
          </p:cNvSpPr>
          <p:nvPr/>
        </p:nvSpPr>
        <p:spPr>
          <a:xfrm>
            <a:off x="4724400" y="2981325"/>
            <a:ext cx="2381250" cy="523875"/>
          </a:xfrm>
          <a:prstGeom prst="rect">
            <a:avLst/>
          </a:prstGeom>
          <a:solidFill>
            <a:srgbClr val="E7F6FA"/>
          </a:solidFill>
          <a:ln w="9525">
            <a:solidFill>
              <a:srgbClr val="DCE5E7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30" name="矩形 29">
            <a:extLst>
              <a:ext uri="{FF2B5EF4-FFF2-40B4-BE49-F238E27FC236}">
                <a16:creationId xmlns:a16="http://schemas.microsoft.com/office/drawing/2014/main" id="{C198B92C-691F-4555-B72A-7EAE0D4859E2}"/>
              </a:ext>
            </a:extLst>
          </p:cNvPr>
          <p:cNvSpPr>
            <a:spLocks noGrp="1"/>
          </p:cNvSpPr>
          <p:nvPr/>
        </p:nvSpPr>
        <p:spPr>
          <a:xfrm>
            <a:off x="4819650" y="3076575"/>
            <a:ext cx="2190750" cy="3238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885" b="0">
                <a:solidFill>
                  <a:srgbClr val="687A8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885" b="0">
                <a:solidFill>
                  <a:srgbClr val="687A84"/>
                </a:solidFill>
                <a:latin typeface="Microsoft YaHei"/>
                <a:ea typeface="Microsoft YaHei"/>
                <a:cs typeface="Microsoft YaHei"/>
              </a:rPr>
              <a:t>Service / Characteristic / notify</a:t>
            </a:r>
          </a:p>
        </p:txBody>
      </p:sp>
      <p:sp>
        <p:nvSpPr>
          <p:cNvPr id="31" name="矩形 30">
            <a:extLst>
              <a:ext uri="{FF2B5EF4-FFF2-40B4-BE49-F238E27FC236}">
                <a16:creationId xmlns:a16="http://schemas.microsoft.com/office/drawing/2014/main" id="{1EE2286D-1BD8-4286-810A-8C7E10981A37}"/>
              </a:ext>
            </a:extLst>
          </p:cNvPr>
          <p:cNvSpPr>
            <a:spLocks noGrp="1"/>
          </p:cNvSpPr>
          <p:nvPr/>
        </p:nvSpPr>
        <p:spPr>
          <a:xfrm>
            <a:off x="7105650" y="2981325"/>
            <a:ext cx="2381250" cy="523875"/>
          </a:xfrm>
          <a:prstGeom prst="rect">
            <a:avLst/>
          </a:prstGeom>
          <a:solidFill>
            <a:srgbClr val="FFFFFF"/>
          </a:solidFill>
          <a:ln w="9525">
            <a:solidFill>
              <a:srgbClr val="DCE5E7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32" name="矩形 31">
            <a:extLst>
              <a:ext uri="{FF2B5EF4-FFF2-40B4-BE49-F238E27FC236}">
                <a16:creationId xmlns:a16="http://schemas.microsoft.com/office/drawing/2014/main" id="{88108905-C649-4578-8919-664AEA883D50}"/>
              </a:ext>
            </a:extLst>
          </p:cNvPr>
          <p:cNvSpPr>
            <a:spLocks noGrp="1"/>
          </p:cNvSpPr>
          <p:nvPr/>
        </p:nvSpPr>
        <p:spPr>
          <a:xfrm>
            <a:off x="7200900" y="3076575"/>
            <a:ext cx="2190750" cy="3238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885" b="0">
                <a:solidFill>
                  <a:srgbClr val="687A8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885" b="0">
                <a:solidFill>
                  <a:srgbClr val="687A84"/>
                </a:solidFill>
                <a:latin typeface="Microsoft YaHei"/>
                <a:ea typeface="Microsoft YaHei"/>
                <a:cs typeface="Microsoft YaHei"/>
              </a:rPr>
              <a:t>波形和指标拆成字段</a:t>
            </a:r>
          </a:p>
        </p:txBody>
      </p:sp>
      <p:sp>
        <p:nvSpPr>
          <p:cNvPr id="33" name="矩形 32">
            <a:extLst>
              <a:ext uri="{FF2B5EF4-FFF2-40B4-BE49-F238E27FC236}">
                <a16:creationId xmlns:a16="http://schemas.microsoft.com/office/drawing/2014/main" id="{A3857968-E9E3-43CD-9DBB-7F1F1D9F15A4}"/>
              </a:ext>
            </a:extLst>
          </p:cNvPr>
          <p:cNvSpPr>
            <a:spLocks noGrp="1"/>
          </p:cNvSpPr>
          <p:nvPr/>
        </p:nvSpPr>
        <p:spPr>
          <a:xfrm>
            <a:off x="723900" y="3505200"/>
            <a:ext cx="1619250" cy="523875"/>
          </a:xfrm>
          <a:prstGeom prst="rect">
            <a:avLst/>
          </a:prstGeom>
          <a:solidFill>
            <a:srgbClr val="FFFFFF"/>
          </a:solidFill>
          <a:ln w="9525">
            <a:solidFill>
              <a:srgbClr val="DCE5E7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34" name="矩形 33">
            <a:extLst>
              <a:ext uri="{FF2B5EF4-FFF2-40B4-BE49-F238E27FC236}">
                <a16:creationId xmlns:a16="http://schemas.microsoft.com/office/drawing/2014/main" id="{A7CFCAB1-0FF1-411E-A12F-524AC85A25A6}"/>
              </a:ext>
            </a:extLst>
          </p:cNvPr>
          <p:cNvSpPr>
            <a:spLocks noGrp="1"/>
          </p:cNvSpPr>
          <p:nvPr/>
        </p:nvSpPr>
        <p:spPr>
          <a:xfrm>
            <a:off x="819150" y="3600450"/>
            <a:ext cx="1428750" cy="3238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ctr">
              <a:defRPr sz="885" b="1">
                <a:solidFill>
                  <a:srgbClr val="17313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885" b="1">
                <a:solidFill>
                  <a:srgbClr val="17313B"/>
                </a:solidFill>
                <a:latin typeface="Microsoft YaHei"/>
                <a:ea typeface="Microsoft YaHei"/>
                <a:cs typeface="Microsoft YaHei"/>
              </a:rPr>
              <a:t>跨平台</a:t>
            </a:r>
          </a:p>
        </p:txBody>
      </p:sp>
      <p:sp>
        <p:nvSpPr>
          <p:cNvPr id="35" name="矩形 34">
            <a:extLst>
              <a:ext uri="{FF2B5EF4-FFF2-40B4-BE49-F238E27FC236}">
                <a16:creationId xmlns:a16="http://schemas.microsoft.com/office/drawing/2014/main" id="{7E84E173-9543-4746-8366-9618C3A62A2A}"/>
              </a:ext>
            </a:extLst>
          </p:cNvPr>
          <p:cNvSpPr>
            <a:spLocks noGrp="1"/>
          </p:cNvSpPr>
          <p:nvPr/>
        </p:nvSpPr>
        <p:spPr>
          <a:xfrm>
            <a:off x="2343150" y="3505200"/>
            <a:ext cx="2381250" cy="523875"/>
          </a:xfrm>
          <a:prstGeom prst="rect">
            <a:avLst/>
          </a:prstGeom>
          <a:solidFill>
            <a:srgbClr val="FFFFFF"/>
          </a:solidFill>
          <a:ln w="9525">
            <a:solidFill>
              <a:srgbClr val="DCE5E7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36" name="矩形 35">
            <a:extLst>
              <a:ext uri="{FF2B5EF4-FFF2-40B4-BE49-F238E27FC236}">
                <a16:creationId xmlns:a16="http://schemas.microsoft.com/office/drawing/2014/main" id="{C3015A8C-0BFC-4F57-9C4C-7CDB0E3FD034}"/>
              </a:ext>
            </a:extLst>
          </p:cNvPr>
          <p:cNvSpPr>
            <a:spLocks noGrp="1"/>
          </p:cNvSpPr>
          <p:nvPr/>
        </p:nvSpPr>
        <p:spPr>
          <a:xfrm>
            <a:off x="2438400" y="3600450"/>
            <a:ext cx="2190750" cy="3238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885" b="0">
                <a:solidFill>
                  <a:srgbClr val="687A8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885" b="0">
                <a:solidFill>
                  <a:srgbClr val="687A84"/>
                </a:solidFill>
                <a:latin typeface="Microsoft YaHei"/>
                <a:ea typeface="Microsoft YaHei"/>
                <a:cs typeface="Microsoft YaHei"/>
              </a:rPr>
              <a:t>iOS 与小程序受限</a:t>
            </a:r>
          </a:p>
        </p:txBody>
      </p:sp>
      <p:sp>
        <p:nvSpPr>
          <p:cNvPr id="37" name="矩形 36">
            <a:extLst>
              <a:ext uri="{FF2B5EF4-FFF2-40B4-BE49-F238E27FC236}">
                <a16:creationId xmlns:a16="http://schemas.microsoft.com/office/drawing/2014/main" id="{6896EDE6-D484-4DC0-BD9D-1A20F18BA4C4}"/>
              </a:ext>
            </a:extLst>
          </p:cNvPr>
          <p:cNvSpPr>
            <a:spLocks noGrp="1"/>
          </p:cNvSpPr>
          <p:nvPr/>
        </p:nvSpPr>
        <p:spPr>
          <a:xfrm>
            <a:off x="4724400" y="3505200"/>
            <a:ext cx="2381250" cy="523875"/>
          </a:xfrm>
          <a:prstGeom prst="rect">
            <a:avLst/>
          </a:prstGeom>
          <a:solidFill>
            <a:srgbClr val="E7F6FA"/>
          </a:solidFill>
          <a:ln w="9525">
            <a:solidFill>
              <a:srgbClr val="DCE5E7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38" name="矩形 37">
            <a:extLst>
              <a:ext uri="{FF2B5EF4-FFF2-40B4-BE49-F238E27FC236}">
                <a16:creationId xmlns:a16="http://schemas.microsoft.com/office/drawing/2014/main" id="{6D93E4BB-B3CE-4E35-9095-8791EB6AA835}"/>
              </a:ext>
            </a:extLst>
          </p:cNvPr>
          <p:cNvSpPr>
            <a:spLocks noGrp="1"/>
          </p:cNvSpPr>
          <p:nvPr/>
        </p:nvSpPr>
        <p:spPr>
          <a:xfrm>
            <a:off x="4819650" y="3600450"/>
            <a:ext cx="2190750" cy="3238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885" b="0">
                <a:solidFill>
                  <a:srgbClr val="687A8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885" b="0">
                <a:solidFill>
                  <a:srgbClr val="687A84"/>
                </a:solidFill>
                <a:latin typeface="Microsoft YaHei"/>
                <a:ea typeface="Microsoft YaHei"/>
                <a:cs typeface="Microsoft YaHei"/>
              </a:rPr>
              <a:t>iOS / Android 都有 BLE API</a:t>
            </a:r>
          </a:p>
        </p:txBody>
      </p:sp>
      <p:sp>
        <p:nvSpPr>
          <p:cNvPr id="39" name="矩形 38">
            <a:extLst>
              <a:ext uri="{FF2B5EF4-FFF2-40B4-BE49-F238E27FC236}">
                <a16:creationId xmlns:a16="http://schemas.microsoft.com/office/drawing/2014/main" id="{94A5103B-2DE8-4148-821F-243FC50C8EF2}"/>
              </a:ext>
            </a:extLst>
          </p:cNvPr>
          <p:cNvSpPr>
            <a:spLocks noGrp="1"/>
          </p:cNvSpPr>
          <p:nvPr/>
        </p:nvSpPr>
        <p:spPr>
          <a:xfrm>
            <a:off x="7105650" y="3505200"/>
            <a:ext cx="2381250" cy="523875"/>
          </a:xfrm>
          <a:prstGeom prst="rect">
            <a:avLst/>
          </a:prstGeom>
          <a:solidFill>
            <a:srgbClr val="FFFFFF"/>
          </a:solidFill>
          <a:ln w="9525">
            <a:solidFill>
              <a:srgbClr val="DCE5E7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40" name="矩形 39">
            <a:extLst>
              <a:ext uri="{FF2B5EF4-FFF2-40B4-BE49-F238E27FC236}">
                <a16:creationId xmlns:a16="http://schemas.microsoft.com/office/drawing/2014/main" id="{9B6C3D0D-3E48-4A7A-85E3-631AB97B6B88}"/>
              </a:ext>
            </a:extLst>
          </p:cNvPr>
          <p:cNvSpPr>
            <a:spLocks noGrp="1"/>
          </p:cNvSpPr>
          <p:nvPr/>
        </p:nvSpPr>
        <p:spPr>
          <a:xfrm>
            <a:off x="7200900" y="3600450"/>
            <a:ext cx="2190750" cy="3238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885" b="0">
                <a:solidFill>
                  <a:srgbClr val="687A8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885" b="0">
                <a:solidFill>
                  <a:srgbClr val="687A84"/>
                </a:solidFill>
                <a:latin typeface="Microsoft YaHei"/>
                <a:ea typeface="Microsoft YaHei"/>
                <a:cs typeface="Microsoft YaHei"/>
              </a:rPr>
              <a:t>适合学生手机差异</a:t>
            </a:r>
          </a:p>
        </p:txBody>
      </p:sp>
      <p:sp>
        <p:nvSpPr>
          <p:cNvPr id="41" name="矩形 40">
            <a:extLst>
              <a:ext uri="{FF2B5EF4-FFF2-40B4-BE49-F238E27FC236}">
                <a16:creationId xmlns:a16="http://schemas.microsoft.com/office/drawing/2014/main" id="{48634EFA-A053-4642-894D-C27E0EB2C5E3}"/>
              </a:ext>
            </a:extLst>
          </p:cNvPr>
          <p:cNvSpPr>
            <a:spLocks noGrp="1"/>
          </p:cNvSpPr>
          <p:nvPr/>
        </p:nvSpPr>
        <p:spPr>
          <a:xfrm>
            <a:off x="723900" y="4029075"/>
            <a:ext cx="1619250" cy="523875"/>
          </a:xfrm>
          <a:prstGeom prst="rect">
            <a:avLst/>
          </a:prstGeom>
          <a:solidFill>
            <a:srgbClr val="FFFFFF"/>
          </a:solidFill>
          <a:ln w="9525">
            <a:solidFill>
              <a:srgbClr val="DCE5E7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42" name="矩形 41">
            <a:extLst>
              <a:ext uri="{FF2B5EF4-FFF2-40B4-BE49-F238E27FC236}">
                <a16:creationId xmlns:a16="http://schemas.microsoft.com/office/drawing/2014/main" id="{52148DEB-AF35-4F8F-B424-75B8D2A5E38C}"/>
              </a:ext>
            </a:extLst>
          </p:cNvPr>
          <p:cNvSpPr>
            <a:spLocks noGrp="1"/>
          </p:cNvSpPr>
          <p:nvPr/>
        </p:nvSpPr>
        <p:spPr>
          <a:xfrm>
            <a:off x="819150" y="4124325"/>
            <a:ext cx="1428750" cy="3238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ctr">
              <a:defRPr sz="885" b="1">
                <a:solidFill>
                  <a:srgbClr val="17313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885" b="1">
                <a:solidFill>
                  <a:srgbClr val="17313B"/>
                </a:solidFill>
                <a:latin typeface="Microsoft YaHei"/>
                <a:ea typeface="Microsoft YaHei"/>
                <a:cs typeface="Microsoft YaHei"/>
              </a:rPr>
              <a:t>数据量</a:t>
            </a:r>
          </a:p>
        </p:txBody>
      </p:sp>
      <p:sp>
        <p:nvSpPr>
          <p:cNvPr id="43" name="矩形 42">
            <a:extLst>
              <a:ext uri="{FF2B5EF4-FFF2-40B4-BE49-F238E27FC236}">
                <a16:creationId xmlns:a16="http://schemas.microsoft.com/office/drawing/2014/main" id="{5E244177-0E36-4956-8729-68F3B27307A3}"/>
              </a:ext>
            </a:extLst>
          </p:cNvPr>
          <p:cNvSpPr>
            <a:spLocks noGrp="1"/>
          </p:cNvSpPr>
          <p:nvPr/>
        </p:nvSpPr>
        <p:spPr>
          <a:xfrm>
            <a:off x="2343150" y="4029075"/>
            <a:ext cx="2381250" cy="523875"/>
          </a:xfrm>
          <a:prstGeom prst="rect">
            <a:avLst/>
          </a:prstGeom>
          <a:solidFill>
            <a:srgbClr val="FFFFFF"/>
          </a:solidFill>
          <a:ln w="9525">
            <a:solidFill>
              <a:srgbClr val="DCE5E7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44" name="矩形 43">
            <a:extLst>
              <a:ext uri="{FF2B5EF4-FFF2-40B4-BE49-F238E27FC236}">
                <a16:creationId xmlns:a16="http://schemas.microsoft.com/office/drawing/2014/main" id="{A100568F-9DE5-40D5-A141-6EB97BA3FF62}"/>
              </a:ext>
            </a:extLst>
          </p:cNvPr>
          <p:cNvSpPr>
            <a:spLocks noGrp="1"/>
          </p:cNvSpPr>
          <p:nvPr/>
        </p:nvSpPr>
        <p:spPr>
          <a:xfrm>
            <a:off x="2438400" y="4124325"/>
            <a:ext cx="2190750" cy="3238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885" b="0">
                <a:solidFill>
                  <a:srgbClr val="687A8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885" b="0">
                <a:solidFill>
                  <a:srgbClr val="687A84"/>
                </a:solidFill>
                <a:latin typeface="Microsoft YaHei"/>
                <a:ea typeface="Microsoft YaHei"/>
                <a:cs typeface="Microsoft YaHei"/>
              </a:rPr>
              <a:t>吞吐较高</a:t>
            </a:r>
          </a:p>
        </p:txBody>
      </p:sp>
      <p:sp>
        <p:nvSpPr>
          <p:cNvPr id="45" name="矩形 44">
            <a:extLst>
              <a:ext uri="{FF2B5EF4-FFF2-40B4-BE49-F238E27FC236}">
                <a16:creationId xmlns:a16="http://schemas.microsoft.com/office/drawing/2014/main" id="{CEB3A562-F973-4C3B-80BA-56D06E74E062}"/>
              </a:ext>
            </a:extLst>
          </p:cNvPr>
          <p:cNvSpPr>
            <a:spLocks noGrp="1"/>
          </p:cNvSpPr>
          <p:nvPr/>
        </p:nvSpPr>
        <p:spPr>
          <a:xfrm>
            <a:off x="4724400" y="4029075"/>
            <a:ext cx="2381250" cy="523875"/>
          </a:xfrm>
          <a:prstGeom prst="rect">
            <a:avLst/>
          </a:prstGeom>
          <a:solidFill>
            <a:srgbClr val="E7F6FA"/>
          </a:solidFill>
          <a:ln w="9525">
            <a:solidFill>
              <a:srgbClr val="DCE5E7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46" name="矩形 45">
            <a:extLst>
              <a:ext uri="{FF2B5EF4-FFF2-40B4-BE49-F238E27FC236}">
                <a16:creationId xmlns:a16="http://schemas.microsoft.com/office/drawing/2014/main" id="{D5EB3740-F978-43EC-ACB3-1D5C159E4CB8}"/>
              </a:ext>
            </a:extLst>
          </p:cNvPr>
          <p:cNvSpPr>
            <a:spLocks noGrp="1"/>
          </p:cNvSpPr>
          <p:nvPr/>
        </p:nvSpPr>
        <p:spPr>
          <a:xfrm>
            <a:off x="4819650" y="4124325"/>
            <a:ext cx="2190750" cy="3238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885" b="0">
                <a:solidFill>
                  <a:srgbClr val="687A8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885" b="0">
                <a:solidFill>
                  <a:srgbClr val="687A84"/>
                </a:solidFill>
                <a:latin typeface="Microsoft YaHei"/>
                <a:ea typeface="Microsoft YaHei"/>
                <a:cs typeface="Microsoft YaHei"/>
              </a:rPr>
              <a:t>适合小包、低功耗、几十 Hz</a:t>
            </a:r>
          </a:p>
        </p:txBody>
      </p:sp>
      <p:sp>
        <p:nvSpPr>
          <p:cNvPr id="47" name="矩形 46">
            <a:extLst>
              <a:ext uri="{FF2B5EF4-FFF2-40B4-BE49-F238E27FC236}">
                <a16:creationId xmlns:a16="http://schemas.microsoft.com/office/drawing/2014/main" id="{82A29F65-2790-4349-9948-90691E95807F}"/>
              </a:ext>
            </a:extLst>
          </p:cNvPr>
          <p:cNvSpPr>
            <a:spLocks noGrp="1"/>
          </p:cNvSpPr>
          <p:nvPr/>
        </p:nvSpPr>
        <p:spPr>
          <a:xfrm>
            <a:off x="7105650" y="4029075"/>
            <a:ext cx="2381250" cy="523875"/>
          </a:xfrm>
          <a:prstGeom prst="rect">
            <a:avLst/>
          </a:prstGeom>
          <a:solidFill>
            <a:srgbClr val="FFFFFF"/>
          </a:solidFill>
          <a:ln w="9525">
            <a:solidFill>
              <a:srgbClr val="DCE5E7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48" name="矩形 47">
            <a:extLst>
              <a:ext uri="{FF2B5EF4-FFF2-40B4-BE49-F238E27FC236}">
                <a16:creationId xmlns:a16="http://schemas.microsoft.com/office/drawing/2014/main" id="{E0DCC1E6-EE32-4FED-ADFD-58BBD5853023}"/>
              </a:ext>
            </a:extLst>
          </p:cNvPr>
          <p:cNvSpPr>
            <a:spLocks noGrp="1"/>
          </p:cNvSpPr>
          <p:nvPr/>
        </p:nvSpPr>
        <p:spPr>
          <a:xfrm>
            <a:off x="7200900" y="4124325"/>
            <a:ext cx="2190750" cy="3238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885" b="0">
                <a:solidFill>
                  <a:srgbClr val="687A8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885" b="0">
                <a:solidFill>
                  <a:srgbClr val="687A84"/>
                </a:solidFill>
                <a:latin typeface="Microsoft YaHei"/>
                <a:ea typeface="Microsoft YaHei"/>
                <a:cs typeface="Microsoft YaHei"/>
              </a:rPr>
              <a:t>50 点/秒波形足够</a:t>
            </a:r>
          </a:p>
        </p:txBody>
      </p:sp>
      <p:sp>
        <p:nvSpPr>
          <p:cNvPr id="49" name="矩形 48">
            <a:extLst>
              <a:ext uri="{FF2B5EF4-FFF2-40B4-BE49-F238E27FC236}">
                <a16:creationId xmlns:a16="http://schemas.microsoft.com/office/drawing/2014/main" id="{D0B87437-4EB6-48FD-A2F7-52B6AF4DA0AE}"/>
              </a:ext>
            </a:extLst>
          </p:cNvPr>
          <p:cNvSpPr>
            <a:spLocks noGrp="1"/>
          </p:cNvSpPr>
          <p:nvPr/>
        </p:nvSpPr>
        <p:spPr>
          <a:xfrm>
            <a:off x="723900" y="4552950"/>
            <a:ext cx="1619250" cy="523875"/>
          </a:xfrm>
          <a:prstGeom prst="rect">
            <a:avLst/>
          </a:prstGeom>
          <a:solidFill>
            <a:srgbClr val="FFFFFF"/>
          </a:solidFill>
          <a:ln w="9525">
            <a:solidFill>
              <a:srgbClr val="DCE5E7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50" name="矩形 49">
            <a:extLst>
              <a:ext uri="{FF2B5EF4-FFF2-40B4-BE49-F238E27FC236}">
                <a16:creationId xmlns:a16="http://schemas.microsoft.com/office/drawing/2014/main" id="{F44DDC93-813B-45F4-8054-A746699AC26C}"/>
              </a:ext>
            </a:extLst>
          </p:cNvPr>
          <p:cNvSpPr>
            <a:spLocks noGrp="1"/>
          </p:cNvSpPr>
          <p:nvPr/>
        </p:nvSpPr>
        <p:spPr>
          <a:xfrm>
            <a:off x="819150" y="4648200"/>
            <a:ext cx="1428750" cy="3238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ctr">
              <a:defRPr sz="885" b="1">
                <a:solidFill>
                  <a:srgbClr val="17313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885" b="1">
                <a:solidFill>
                  <a:srgbClr val="17313B"/>
                </a:solidFill>
                <a:latin typeface="Microsoft YaHei"/>
                <a:ea typeface="Microsoft YaHei"/>
                <a:cs typeface="Microsoft YaHei"/>
              </a:rPr>
              <a:t>结论</a:t>
            </a:r>
          </a:p>
        </p:txBody>
      </p:sp>
      <p:sp>
        <p:nvSpPr>
          <p:cNvPr id="51" name="矩形 50">
            <a:extLst>
              <a:ext uri="{FF2B5EF4-FFF2-40B4-BE49-F238E27FC236}">
                <a16:creationId xmlns:a16="http://schemas.microsoft.com/office/drawing/2014/main" id="{0E3BD2B1-BF1A-4266-88D6-41E7A8007514}"/>
              </a:ext>
            </a:extLst>
          </p:cNvPr>
          <p:cNvSpPr>
            <a:spLocks noGrp="1"/>
          </p:cNvSpPr>
          <p:nvPr/>
        </p:nvSpPr>
        <p:spPr>
          <a:xfrm>
            <a:off x="2343150" y="4552950"/>
            <a:ext cx="2381250" cy="523875"/>
          </a:xfrm>
          <a:prstGeom prst="rect">
            <a:avLst/>
          </a:prstGeom>
          <a:solidFill>
            <a:srgbClr val="FFFFFF"/>
          </a:solidFill>
          <a:ln w="9525">
            <a:solidFill>
              <a:srgbClr val="DCE5E7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52" name="矩形 51">
            <a:extLst>
              <a:ext uri="{FF2B5EF4-FFF2-40B4-BE49-F238E27FC236}">
                <a16:creationId xmlns:a16="http://schemas.microsoft.com/office/drawing/2014/main" id="{C69E52FB-B961-458A-9CE5-53A6B5F029C1}"/>
              </a:ext>
            </a:extLst>
          </p:cNvPr>
          <p:cNvSpPr>
            <a:spLocks noGrp="1"/>
          </p:cNvSpPr>
          <p:nvPr/>
        </p:nvSpPr>
        <p:spPr>
          <a:xfrm>
            <a:off x="2438400" y="4648200"/>
            <a:ext cx="2190750" cy="3238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885" b="0">
                <a:solidFill>
                  <a:srgbClr val="687A8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885" b="0">
                <a:solidFill>
                  <a:srgbClr val="687A84"/>
                </a:solidFill>
                <a:latin typeface="Microsoft YaHei"/>
                <a:ea typeface="Microsoft YaHei"/>
                <a:cs typeface="Microsoft YaHei"/>
              </a:rPr>
              <a:t>不适合作为小程序入口</a:t>
            </a:r>
          </a:p>
        </p:txBody>
      </p:sp>
      <p:sp>
        <p:nvSpPr>
          <p:cNvPr id="53" name="矩形 52">
            <a:extLst>
              <a:ext uri="{FF2B5EF4-FFF2-40B4-BE49-F238E27FC236}">
                <a16:creationId xmlns:a16="http://schemas.microsoft.com/office/drawing/2014/main" id="{A93C2C9C-E13C-4042-A1D8-0557A21B4DCD}"/>
              </a:ext>
            </a:extLst>
          </p:cNvPr>
          <p:cNvSpPr>
            <a:spLocks noGrp="1"/>
          </p:cNvSpPr>
          <p:nvPr/>
        </p:nvSpPr>
        <p:spPr>
          <a:xfrm>
            <a:off x="4724400" y="4552950"/>
            <a:ext cx="2381250" cy="523875"/>
          </a:xfrm>
          <a:prstGeom prst="rect">
            <a:avLst/>
          </a:prstGeom>
          <a:solidFill>
            <a:srgbClr val="E7F6FA"/>
          </a:solidFill>
          <a:ln w="9525">
            <a:solidFill>
              <a:srgbClr val="DCE5E7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54" name="矩形 53">
            <a:extLst>
              <a:ext uri="{FF2B5EF4-FFF2-40B4-BE49-F238E27FC236}">
                <a16:creationId xmlns:a16="http://schemas.microsoft.com/office/drawing/2014/main" id="{F92AA77C-8B33-4234-8E8E-08BBBFE76D37}"/>
              </a:ext>
            </a:extLst>
          </p:cNvPr>
          <p:cNvSpPr>
            <a:spLocks noGrp="1"/>
          </p:cNvSpPr>
          <p:nvPr/>
        </p:nvSpPr>
        <p:spPr>
          <a:xfrm>
            <a:off x="4819650" y="4648200"/>
            <a:ext cx="2190750" cy="3238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885" b="0">
                <a:solidFill>
                  <a:srgbClr val="687A8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885" b="0">
                <a:solidFill>
                  <a:srgbClr val="687A84"/>
                </a:solidFill>
                <a:latin typeface="Microsoft YaHei"/>
                <a:ea typeface="Microsoft YaHei"/>
                <a:cs typeface="Microsoft YaHei"/>
              </a:rPr>
              <a:t>可访问、可订阅</a:t>
            </a:r>
          </a:p>
        </p:txBody>
      </p:sp>
      <p:sp>
        <p:nvSpPr>
          <p:cNvPr id="55" name="矩形 54">
            <a:extLst>
              <a:ext uri="{FF2B5EF4-FFF2-40B4-BE49-F238E27FC236}">
                <a16:creationId xmlns:a16="http://schemas.microsoft.com/office/drawing/2014/main" id="{4A49A3DB-15A8-4C6A-B226-EB96682B55B0}"/>
              </a:ext>
            </a:extLst>
          </p:cNvPr>
          <p:cNvSpPr>
            <a:spLocks noGrp="1"/>
          </p:cNvSpPr>
          <p:nvPr/>
        </p:nvSpPr>
        <p:spPr>
          <a:xfrm>
            <a:off x="7105650" y="4552950"/>
            <a:ext cx="2381250" cy="523875"/>
          </a:xfrm>
          <a:prstGeom prst="rect">
            <a:avLst/>
          </a:prstGeom>
          <a:solidFill>
            <a:srgbClr val="FFFFFF"/>
          </a:solidFill>
          <a:ln w="9525">
            <a:solidFill>
              <a:srgbClr val="DCE5E7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56" name="矩形 55">
            <a:extLst>
              <a:ext uri="{FF2B5EF4-FFF2-40B4-BE49-F238E27FC236}">
                <a16:creationId xmlns:a16="http://schemas.microsoft.com/office/drawing/2014/main" id="{58E6390F-F20C-4C6D-848C-2B0F942866FD}"/>
              </a:ext>
            </a:extLst>
          </p:cNvPr>
          <p:cNvSpPr>
            <a:spLocks noGrp="1"/>
          </p:cNvSpPr>
          <p:nvPr/>
        </p:nvSpPr>
        <p:spPr>
          <a:xfrm>
            <a:off x="7200900" y="4648200"/>
            <a:ext cx="2190750" cy="3238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885" b="0">
                <a:solidFill>
                  <a:srgbClr val="687A8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885" b="0">
                <a:solidFill>
                  <a:srgbClr val="687A84"/>
                </a:solidFill>
                <a:latin typeface="Microsoft YaHei"/>
                <a:ea typeface="Microsoft YaHei"/>
                <a:cs typeface="Microsoft YaHei"/>
              </a:rPr>
              <a:t>因此选择 BLE</a:t>
            </a:r>
          </a:p>
        </p:txBody>
      </p:sp>
      <p:sp>
        <p:nvSpPr>
          <p:cNvPr id="57" name="矩形 56">
            <a:extLst>
              <a:ext uri="{FF2B5EF4-FFF2-40B4-BE49-F238E27FC236}">
                <a16:creationId xmlns:a16="http://schemas.microsoft.com/office/drawing/2014/main" id="{FBB21ED2-9294-45C3-9003-40AAAE598F3E}"/>
              </a:ext>
            </a:extLst>
          </p:cNvPr>
          <p:cNvSpPr>
            <a:spLocks noGrp="1"/>
          </p:cNvSpPr>
          <p:nvPr/>
        </p:nvSpPr>
        <p:spPr>
          <a:xfrm>
            <a:off x="3143250" y="5381625"/>
            <a:ext cx="5905500" cy="323850"/>
          </a:xfrm>
          <a:prstGeom prst="rect">
            <a:avLst/>
          </a:prstGeom>
          <a:solidFill>
            <a:srgbClr val="FFF1EF"/>
          </a:solidFill>
          <a:ln w="13335">
            <a:solidFill>
              <a:srgbClr val="D9514E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58" name="矩形 57">
            <a:extLst>
              <a:ext uri="{FF2B5EF4-FFF2-40B4-BE49-F238E27FC236}">
                <a16:creationId xmlns:a16="http://schemas.microsoft.com/office/drawing/2014/main" id="{FDFEB1D2-FA8E-4CDB-BB8F-70B28E402B6A}"/>
              </a:ext>
            </a:extLst>
          </p:cNvPr>
          <p:cNvSpPr>
            <a:spLocks noGrp="1"/>
          </p:cNvSpPr>
          <p:nvPr/>
        </p:nvSpPr>
        <p:spPr>
          <a:xfrm>
            <a:off x="3238500" y="5429250"/>
            <a:ext cx="571500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ctr"/>
          <a:lstStyle/>
          <a:p>
            <a:pPr algn="ctr">
              <a:defRPr sz="975" b="1">
                <a:solidFill>
                  <a:srgbClr val="D9514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1">
                <a:solidFill>
                  <a:srgbClr val="D9514E"/>
                </a:solidFill>
                <a:latin typeface="Microsoft YaHei"/>
                <a:ea typeface="Microsoft YaHei"/>
                <a:cs typeface="Microsoft YaHei"/>
              </a:rPr>
              <a:t>设计结果：ESP32 做 GATT Server，小程序订阅两个 Characteristic</a:t>
            </a:r>
          </a:p>
        </p:txBody>
      </p:sp>
    </p:spTree>
    <p:extLst>
      <p:ext uri="{BB962C8B-B14F-4D97-AF65-F5344CB8AC3E}">
        <p14:creationId xmlns:p14="http://schemas.microsoft.com/office/powerpoint/2010/main" val="420872314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矩形 45">
            <a:extLst>
              <a:ext uri="{FF2B5EF4-FFF2-40B4-BE49-F238E27FC236}">
                <a16:creationId xmlns:a16="http://schemas.microsoft.com/office/drawing/2014/main" id="{6FBFE201-98FE-44D0-BE8E-C2E88F3B9008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6F3EA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" name="矩形 1">
            <a:extLst>
              <a:ext uri="{FF2B5EF4-FFF2-40B4-BE49-F238E27FC236}">
                <a16:creationId xmlns:a16="http://schemas.microsoft.com/office/drawing/2014/main" id="{C92A5D73-F886-4BEC-8A6C-C475BD7CA9B3}"/>
              </a:ext>
            </a:extLst>
          </p:cNvPr>
          <p:cNvSpPr>
            <a:spLocks noGrp="1"/>
          </p:cNvSpPr>
          <p:nvPr/>
        </p:nvSpPr>
        <p:spPr>
          <a:xfrm>
            <a:off x="419100" y="323850"/>
            <a:ext cx="95250" cy="190500"/>
          </a:xfrm>
          <a:prstGeom prst="rect">
            <a:avLst/>
          </a:prstGeom>
          <a:solidFill>
            <a:srgbClr val="22A6C7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F3A95301-B577-4A84-AF3A-623412363BEC}"/>
              </a:ext>
            </a:extLst>
          </p:cNvPr>
          <p:cNvSpPr>
            <a:spLocks noGrp="1"/>
          </p:cNvSpPr>
          <p:nvPr/>
        </p:nvSpPr>
        <p:spPr>
          <a:xfrm>
            <a:off x="590550" y="266700"/>
            <a:ext cx="4095750" cy="3238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ctr"/>
          <a:lstStyle/>
          <a:p>
            <a:pPr algn="l">
              <a:defRPr sz="1125" b="1">
                <a:solidFill>
                  <a:srgbClr val="687A8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1">
                <a:solidFill>
                  <a:srgbClr val="687A84"/>
                </a:solidFill>
                <a:latin typeface="Microsoft YaHei"/>
                <a:ea typeface="Microsoft YaHei"/>
                <a:cs typeface="Microsoft YaHei"/>
              </a:rPr>
              <a:t>SYSTEM ARCHITECTURE</a:t>
            </a:r>
          </a:p>
        </p:txBody>
      </p:sp>
      <p:sp>
        <p:nvSpPr>
          <p:cNvPr id="4" name="矩形 3">
            <a:extLst>
              <a:ext uri="{FF2B5EF4-FFF2-40B4-BE49-F238E27FC236}">
                <a16:creationId xmlns:a16="http://schemas.microsoft.com/office/drawing/2014/main" id="{B5032608-B069-4AE1-A72A-5422CC5E5AD1}"/>
              </a:ext>
            </a:extLst>
          </p:cNvPr>
          <p:cNvSpPr>
            <a:spLocks noGrp="1"/>
          </p:cNvSpPr>
          <p:nvPr/>
        </p:nvSpPr>
        <p:spPr>
          <a:xfrm>
            <a:off x="419100" y="685800"/>
            <a:ext cx="10763250" cy="7810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2400" b="1">
                <a:solidFill>
                  <a:srgbClr val="17313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400" b="1">
                <a:solidFill>
                  <a:srgbClr val="17313B"/>
                </a:solidFill>
                <a:latin typeface="Microsoft YaHei"/>
                <a:ea typeface="Microsoft YaHei"/>
                <a:cs typeface="Microsoft YaHei"/>
              </a:rPr>
              <a:t>测量仍在 ESP32 本地完成，BLE 只传显示层需要的数据。</a:t>
            </a:r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E3C58296-B70A-4050-A73E-AD0C66A4E9C4}"/>
              </a:ext>
            </a:extLst>
          </p:cNvPr>
          <p:cNvSpPr>
            <a:spLocks noGrp="1"/>
          </p:cNvSpPr>
          <p:nvPr/>
        </p:nvSpPr>
        <p:spPr>
          <a:xfrm>
            <a:off x="419100" y="6438900"/>
            <a:ext cx="8572500" cy="9525"/>
          </a:xfrm>
          <a:prstGeom prst="rect">
            <a:avLst/>
          </a:prstGeom>
          <a:solidFill>
            <a:srgbClr val="D6DEE1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6" name="矩形 5">
            <a:extLst>
              <a:ext uri="{FF2B5EF4-FFF2-40B4-BE49-F238E27FC236}">
                <a16:creationId xmlns:a16="http://schemas.microsoft.com/office/drawing/2014/main" id="{B7C39374-C226-4FE3-B7E6-3204201A16E9}"/>
              </a:ext>
            </a:extLst>
          </p:cNvPr>
          <p:cNvSpPr>
            <a:spLocks noGrp="1"/>
          </p:cNvSpPr>
          <p:nvPr/>
        </p:nvSpPr>
        <p:spPr>
          <a:xfrm>
            <a:off x="419100" y="6515100"/>
            <a:ext cx="8572500" cy="1905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675" b="0">
                <a:solidFill>
                  <a:srgbClr val="7C8A9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675" b="0">
                <a:solidFill>
                  <a:srgbClr val="7C8A90"/>
                </a:solidFill>
                <a:latin typeface="Microsoft YaHei"/>
                <a:ea typeface="Microsoft YaHei"/>
                <a:cs typeface="Microsoft YaHei"/>
              </a:rPr>
              <a:t>Source: Arduino / WeChat Mini Program source code; WeChat Mini Program BLE API docs</a:t>
            </a:r>
          </a:p>
        </p:txBody>
      </p:sp>
      <p:sp>
        <p:nvSpPr>
          <p:cNvPr id="7" name="矩形 6">
            <a:extLst>
              <a:ext uri="{FF2B5EF4-FFF2-40B4-BE49-F238E27FC236}">
                <a16:creationId xmlns:a16="http://schemas.microsoft.com/office/drawing/2014/main" id="{5D9719F0-B33B-42FE-A2C3-FFB90E65775F}"/>
              </a:ext>
            </a:extLst>
          </p:cNvPr>
          <p:cNvSpPr>
            <a:spLocks noGrp="1"/>
          </p:cNvSpPr>
          <p:nvPr/>
        </p:nvSpPr>
        <p:spPr>
          <a:xfrm>
            <a:off x="11334750" y="6496050"/>
            <a:ext cx="419100" cy="2095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r">
              <a:defRPr sz="825" b="0">
                <a:solidFill>
                  <a:srgbClr val="7C8A9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825" b="0">
                <a:solidFill>
                  <a:srgbClr val="7C8A90"/>
                </a:solidFill>
                <a:latin typeface="Microsoft YaHei"/>
                <a:ea typeface="Microsoft YaHei"/>
                <a:cs typeface="Microsoft YaHei"/>
              </a:rPr>
              <a:t>10</a:t>
            </a:r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6F1A8FF7-37BD-461F-9E95-5ED41EB5DA74}"/>
              </a:ext>
            </a:extLst>
          </p:cNvPr>
          <p:cNvSpPr>
            <a:spLocks noGrp="1"/>
          </p:cNvSpPr>
          <p:nvPr/>
        </p:nvSpPr>
        <p:spPr>
          <a:xfrm>
            <a:off x="514350" y="2628900"/>
            <a:ext cx="1466850" cy="1162050"/>
          </a:xfrm>
          <a:prstGeom prst="rect">
            <a:avLst/>
          </a:prstGeom>
          <a:solidFill>
            <a:srgbClr val="FFFFFF"/>
          </a:solidFill>
          <a:ln w="9525">
            <a:solidFill>
              <a:srgbClr val="DCE5E7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D28D0036-6602-4E4D-A799-EE752D6AEE20}"/>
              </a:ext>
            </a:extLst>
          </p:cNvPr>
          <p:cNvSpPr>
            <a:spLocks noGrp="1"/>
          </p:cNvSpPr>
          <p:nvPr/>
        </p:nvSpPr>
        <p:spPr>
          <a:xfrm>
            <a:off x="514350" y="2628900"/>
            <a:ext cx="57150" cy="1162050"/>
          </a:xfrm>
          <a:prstGeom prst="rect">
            <a:avLst/>
          </a:prstGeom>
          <a:solidFill>
            <a:srgbClr val="F2A23A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2403F431-A7A7-447C-B68E-F76BFB3959D8}"/>
              </a:ext>
            </a:extLst>
          </p:cNvPr>
          <p:cNvSpPr>
            <a:spLocks noGrp="1"/>
          </p:cNvSpPr>
          <p:nvPr/>
        </p:nvSpPr>
        <p:spPr>
          <a:xfrm>
            <a:off x="685800" y="2762250"/>
            <a:ext cx="1123950" cy="2857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163" b="1">
                <a:solidFill>
                  <a:srgbClr val="17313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63" b="1">
                <a:solidFill>
                  <a:srgbClr val="17313B"/>
                </a:solidFill>
                <a:latin typeface="Microsoft YaHei"/>
                <a:ea typeface="Microsoft YaHei"/>
                <a:cs typeface="Microsoft YaHei"/>
              </a:rPr>
              <a:t>MAX30102</a:t>
            </a:r>
          </a:p>
        </p:txBody>
      </p:sp>
      <p:sp>
        <p:nvSpPr>
          <p:cNvPr id="11" name="矩形 10">
            <a:extLst>
              <a:ext uri="{FF2B5EF4-FFF2-40B4-BE49-F238E27FC236}">
                <a16:creationId xmlns:a16="http://schemas.microsoft.com/office/drawing/2014/main" id="{C2025BE8-C9C4-4881-A4E1-372ACB88C17A}"/>
              </a:ext>
            </a:extLst>
          </p:cNvPr>
          <p:cNvSpPr>
            <a:spLocks noGrp="1"/>
          </p:cNvSpPr>
          <p:nvPr/>
        </p:nvSpPr>
        <p:spPr>
          <a:xfrm>
            <a:off x="685800" y="3086100"/>
            <a:ext cx="1123950" cy="609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938" b="0">
                <a:solidFill>
                  <a:srgbClr val="687A8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38" b="0">
                <a:solidFill>
                  <a:srgbClr val="687A84"/>
                </a:solidFill>
                <a:latin typeface="Microsoft YaHei"/>
                <a:ea typeface="Microsoft YaHei"/>
                <a:cs typeface="Microsoft YaHei"/>
              </a:rPr>
              <a:t>red / IR samples</a:t>
            </a:r>
          </a:p>
          <a:p>
            <a:pPr algn="l">
              <a:defRPr sz="938" b="0">
                <a:solidFill>
                  <a:srgbClr val="687A8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38" b="0">
                <a:solidFill>
                  <a:srgbClr val="687A84"/>
                </a:solidFill>
                <a:latin typeface="Microsoft YaHei"/>
                <a:ea typeface="Microsoft YaHei"/>
                <a:cs typeface="Microsoft YaHei"/>
              </a:rPr>
              <a:t>400 SPS</a:t>
            </a:r>
          </a:p>
        </p:txBody>
      </p:sp>
      <p:sp>
        <p:nvSpPr>
          <p:cNvPr id="12" name="矩形 11">
            <a:extLst>
              <a:ext uri="{FF2B5EF4-FFF2-40B4-BE49-F238E27FC236}">
                <a16:creationId xmlns:a16="http://schemas.microsoft.com/office/drawing/2014/main" id="{D9B5DB4A-1AD5-4330-AE6D-054A09EE85C2}"/>
              </a:ext>
            </a:extLst>
          </p:cNvPr>
          <p:cNvSpPr>
            <a:spLocks noGrp="1"/>
          </p:cNvSpPr>
          <p:nvPr/>
        </p:nvSpPr>
        <p:spPr>
          <a:xfrm>
            <a:off x="1981200" y="3200400"/>
            <a:ext cx="342900" cy="19050"/>
          </a:xfrm>
          <a:prstGeom prst="rect">
            <a:avLst/>
          </a:prstGeom>
          <a:solidFill>
            <a:srgbClr val="22A6C7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3" name="矩形 12">
            <a:extLst>
              <a:ext uri="{FF2B5EF4-FFF2-40B4-BE49-F238E27FC236}">
                <a16:creationId xmlns:a16="http://schemas.microsoft.com/office/drawing/2014/main" id="{CF6BEAC8-CA2C-4EAD-8512-D8F6E2F31133}"/>
              </a:ext>
            </a:extLst>
          </p:cNvPr>
          <p:cNvSpPr>
            <a:spLocks noGrp="1"/>
          </p:cNvSpPr>
          <p:nvPr/>
        </p:nvSpPr>
        <p:spPr>
          <a:xfrm>
            <a:off x="2190750" y="3086100"/>
            <a:ext cx="247650" cy="2476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ctr"/>
          <a:lstStyle/>
          <a:p>
            <a:pPr algn="ctr">
              <a:defRPr sz="1275" b="1">
                <a:solidFill>
                  <a:srgbClr val="22A6C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1">
                <a:solidFill>
                  <a:srgbClr val="22A6C7"/>
                </a:solidFill>
                <a:latin typeface="Microsoft YaHei"/>
                <a:ea typeface="Microsoft YaHei"/>
                <a:cs typeface="Microsoft YaHei"/>
              </a:rPr>
              <a:t>&gt;</a:t>
            </a:r>
          </a:p>
        </p:txBody>
      </p:sp>
      <p:sp>
        <p:nvSpPr>
          <p:cNvPr id="14" name="矩形 13">
            <a:extLst>
              <a:ext uri="{FF2B5EF4-FFF2-40B4-BE49-F238E27FC236}">
                <a16:creationId xmlns:a16="http://schemas.microsoft.com/office/drawing/2014/main" id="{BCC05AC1-DD51-4F28-8E21-118CDD91B043}"/>
              </a:ext>
            </a:extLst>
          </p:cNvPr>
          <p:cNvSpPr>
            <a:spLocks noGrp="1"/>
          </p:cNvSpPr>
          <p:nvPr/>
        </p:nvSpPr>
        <p:spPr>
          <a:xfrm>
            <a:off x="2400300" y="2628900"/>
            <a:ext cx="1466850" cy="1162050"/>
          </a:xfrm>
          <a:prstGeom prst="rect">
            <a:avLst/>
          </a:prstGeom>
          <a:solidFill>
            <a:srgbClr val="FFFFFF"/>
          </a:solidFill>
          <a:ln w="9525">
            <a:solidFill>
              <a:srgbClr val="DCE5E7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5" name="矩形 14">
            <a:extLst>
              <a:ext uri="{FF2B5EF4-FFF2-40B4-BE49-F238E27FC236}">
                <a16:creationId xmlns:a16="http://schemas.microsoft.com/office/drawing/2014/main" id="{46168E3A-F8EC-4C54-B622-4A1C292E9CB6}"/>
              </a:ext>
            </a:extLst>
          </p:cNvPr>
          <p:cNvSpPr>
            <a:spLocks noGrp="1"/>
          </p:cNvSpPr>
          <p:nvPr/>
        </p:nvSpPr>
        <p:spPr>
          <a:xfrm>
            <a:off x="2400300" y="2628900"/>
            <a:ext cx="57150" cy="1162050"/>
          </a:xfrm>
          <a:prstGeom prst="rect">
            <a:avLst/>
          </a:prstGeom>
          <a:solidFill>
            <a:srgbClr val="F2A23A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6" name="矩形 15">
            <a:extLst>
              <a:ext uri="{FF2B5EF4-FFF2-40B4-BE49-F238E27FC236}">
                <a16:creationId xmlns:a16="http://schemas.microsoft.com/office/drawing/2014/main" id="{423D914A-65D0-41FF-9B4C-BA1BC52B2365}"/>
              </a:ext>
            </a:extLst>
          </p:cNvPr>
          <p:cNvSpPr>
            <a:spLocks noGrp="1"/>
          </p:cNvSpPr>
          <p:nvPr/>
        </p:nvSpPr>
        <p:spPr>
          <a:xfrm>
            <a:off x="2571750" y="2762250"/>
            <a:ext cx="1123950" cy="2857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163" b="1">
                <a:solidFill>
                  <a:srgbClr val="17313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63" b="1">
                <a:solidFill>
                  <a:srgbClr val="17313B"/>
                </a:solidFill>
                <a:latin typeface="Microsoft YaHei"/>
                <a:ea typeface="Microsoft YaHei"/>
                <a:cs typeface="Microsoft YaHei"/>
              </a:rPr>
              <a:t>Filters</a:t>
            </a:r>
          </a:p>
        </p:txBody>
      </p:sp>
      <p:sp>
        <p:nvSpPr>
          <p:cNvPr id="17" name="矩形 16">
            <a:extLst>
              <a:ext uri="{FF2B5EF4-FFF2-40B4-BE49-F238E27FC236}">
                <a16:creationId xmlns:a16="http://schemas.microsoft.com/office/drawing/2014/main" id="{8B8B33A6-D313-4A20-A393-4AD840CE4FEE}"/>
              </a:ext>
            </a:extLst>
          </p:cNvPr>
          <p:cNvSpPr>
            <a:spLocks noGrp="1"/>
          </p:cNvSpPr>
          <p:nvPr/>
        </p:nvSpPr>
        <p:spPr>
          <a:xfrm>
            <a:off x="2571750" y="3086100"/>
            <a:ext cx="1123950" cy="609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938" b="0">
                <a:solidFill>
                  <a:srgbClr val="687A8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38" b="0">
                <a:solidFill>
                  <a:srgbClr val="687A84"/>
                </a:solidFill>
                <a:latin typeface="Microsoft YaHei"/>
                <a:ea typeface="Microsoft YaHei"/>
                <a:cs typeface="Microsoft YaHei"/>
              </a:rPr>
              <a:t>LPF / HPF</a:t>
            </a:r>
          </a:p>
          <a:p>
            <a:pPr algn="l">
              <a:defRPr sz="938" b="0">
                <a:solidFill>
                  <a:srgbClr val="687A8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38" b="0">
                <a:solidFill>
                  <a:srgbClr val="687A84"/>
                </a:solidFill>
                <a:latin typeface="Microsoft YaHei"/>
                <a:ea typeface="Microsoft YaHei"/>
                <a:cs typeface="Microsoft YaHei"/>
              </a:rPr>
              <a:t>Differentiator</a:t>
            </a:r>
          </a:p>
        </p:txBody>
      </p:sp>
      <p:sp>
        <p:nvSpPr>
          <p:cNvPr id="18" name="矩形 17">
            <a:extLst>
              <a:ext uri="{FF2B5EF4-FFF2-40B4-BE49-F238E27FC236}">
                <a16:creationId xmlns:a16="http://schemas.microsoft.com/office/drawing/2014/main" id="{C5709693-C8C3-4A7E-AEE9-AC6D4F1264AA}"/>
              </a:ext>
            </a:extLst>
          </p:cNvPr>
          <p:cNvSpPr>
            <a:spLocks noGrp="1"/>
          </p:cNvSpPr>
          <p:nvPr/>
        </p:nvSpPr>
        <p:spPr>
          <a:xfrm>
            <a:off x="3867150" y="3200400"/>
            <a:ext cx="342900" cy="19050"/>
          </a:xfrm>
          <a:prstGeom prst="rect">
            <a:avLst/>
          </a:prstGeom>
          <a:solidFill>
            <a:srgbClr val="22A6C7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9" name="矩形 18">
            <a:extLst>
              <a:ext uri="{FF2B5EF4-FFF2-40B4-BE49-F238E27FC236}">
                <a16:creationId xmlns:a16="http://schemas.microsoft.com/office/drawing/2014/main" id="{45F6AE88-07F8-4327-BEC3-B399A1FCC040}"/>
              </a:ext>
            </a:extLst>
          </p:cNvPr>
          <p:cNvSpPr>
            <a:spLocks noGrp="1"/>
          </p:cNvSpPr>
          <p:nvPr/>
        </p:nvSpPr>
        <p:spPr>
          <a:xfrm>
            <a:off x="4076700" y="3086100"/>
            <a:ext cx="247650" cy="2476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ctr"/>
          <a:lstStyle/>
          <a:p>
            <a:pPr algn="ctr">
              <a:defRPr sz="1275" b="1">
                <a:solidFill>
                  <a:srgbClr val="22A6C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1">
                <a:solidFill>
                  <a:srgbClr val="22A6C7"/>
                </a:solidFill>
                <a:latin typeface="Microsoft YaHei"/>
                <a:ea typeface="Microsoft YaHei"/>
                <a:cs typeface="Microsoft YaHei"/>
              </a:rPr>
              <a:t>&gt;</a:t>
            </a:r>
          </a:p>
        </p:txBody>
      </p:sp>
      <p:sp>
        <p:nvSpPr>
          <p:cNvPr id="20" name="矩形 19">
            <a:extLst>
              <a:ext uri="{FF2B5EF4-FFF2-40B4-BE49-F238E27FC236}">
                <a16:creationId xmlns:a16="http://schemas.microsoft.com/office/drawing/2014/main" id="{8A8B080A-E63E-4139-8CCF-3258573A2935}"/>
              </a:ext>
            </a:extLst>
          </p:cNvPr>
          <p:cNvSpPr>
            <a:spLocks noGrp="1"/>
          </p:cNvSpPr>
          <p:nvPr/>
        </p:nvSpPr>
        <p:spPr>
          <a:xfrm>
            <a:off x="4286250" y="2628900"/>
            <a:ext cx="1466850" cy="1162050"/>
          </a:xfrm>
          <a:prstGeom prst="rect">
            <a:avLst/>
          </a:prstGeom>
          <a:solidFill>
            <a:srgbClr val="FFFFFF"/>
          </a:solidFill>
          <a:ln w="9525">
            <a:solidFill>
              <a:srgbClr val="DCE5E7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1" name="矩形 20">
            <a:extLst>
              <a:ext uri="{FF2B5EF4-FFF2-40B4-BE49-F238E27FC236}">
                <a16:creationId xmlns:a16="http://schemas.microsoft.com/office/drawing/2014/main" id="{9D15510E-19EF-4F27-86B5-EC20DA73D243}"/>
              </a:ext>
            </a:extLst>
          </p:cNvPr>
          <p:cNvSpPr>
            <a:spLocks noGrp="1"/>
          </p:cNvSpPr>
          <p:nvPr/>
        </p:nvSpPr>
        <p:spPr>
          <a:xfrm>
            <a:off x="4286250" y="2628900"/>
            <a:ext cx="57150" cy="1162050"/>
          </a:xfrm>
          <a:prstGeom prst="rect">
            <a:avLst/>
          </a:prstGeom>
          <a:solidFill>
            <a:srgbClr val="F2A23A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2" name="矩形 21">
            <a:extLst>
              <a:ext uri="{FF2B5EF4-FFF2-40B4-BE49-F238E27FC236}">
                <a16:creationId xmlns:a16="http://schemas.microsoft.com/office/drawing/2014/main" id="{1F8E34EF-B3C2-4964-AC6E-FE7AC87B649E}"/>
              </a:ext>
            </a:extLst>
          </p:cNvPr>
          <p:cNvSpPr>
            <a:spLocks noGrp="1"/>
          </p:cNvSpPr>
          <p:nvPr/>
        </p:nvSpPr>
        <p:spPr>
          <a:xfrm>
            <a:off x="4457700" y="2762250"/>
            <a:ext cx="1123950" cy="2857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163" b="1">
                <a:solidFill>
                  <a:srgbClr val="17313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63" b="1">
                <a:solidFill>
                  <a:srgbClr val="17313B"/>
                </a:solidFill>
                <a:latin typeface="Microsoft YaHei"/>
                <a:ea typeface="Microsoft YaHei"/>
                <a:cs typeface="Microsoft YaHei"/>
              </a:rPr>
              <a:t>Algorithm</a:t>
            </a:r>
          </a:p>
        </p:txBody>
      </p:sp>
      <p:sp>
        <p:nvSpPr>
          <p:cNvPr id="23" name="矩形 22">
            <a:extLst>
              <a:ext uri="{FF2B5EF4-FFF2-40B4-BE49-F238E27FC236}">
                <a16:creationId xmlns:a16="http://schemas.microsoft.com/office/drawing/2014/main" id="{C92CADE6-EC1D-47B2-8A2C-20597445846F}"/>
              </a:ext>
            </a:extLst>
          </p:cNvPr>
          <p:cNvSpPr>
            <a:spLocks noGrp="1"/>
          </p:cNvSpPr>
          <p:nvPr/>
        </p:nvSpPr>
        <p:spPr>
          <a:xfrm>
            <a:off x="4457700" y="3086100"/>
            <a:ext cx="1123950" cy="609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938" b="0">
                <a:solidFill>
                  <a:srgbClr val="687A8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38" b="0">
                <a:solidFill>
                  <a:srgbClr val="687A84"/>
                </a:solidFill>
                <a:latin typeface="Microsoft YaHei"/>
                <a:ea typeface="Microsoft YaHei"/>
                <a:cs typeface="Microsoft YaHei"/>
              </a:rPr>
              <a:t>BPM + SpO2</a:t>
            </a:r>
          </a:p>
          <a:p>
            <a:pPr algn="l">
              <a:defRPr sz="938" b="0">
                <a:solidFill>
                  <a:srgbClr val="687A8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38" b="0">
                <a:solidFill>
                  <a:srgbClr val="687A84"/>
                </a:solidFill>
                <a:latin typeface="Microsoft YaHei"/>
                <a:ea typeface="Microsoft YaHei"/>
                <a:cs typeface="Microsoft YaHei"/>
              </a:rPr>
              <a:t>averaging</a:t>
            </a:r>
          </a:p>
        </p:txBody>
      </p:sp>
      <p:sp>
        <p:nvSpPr>
          <p:cNvPr id="24" name="矩形 23">
            <a:extLst>
              <a:ext uri="{FF2B5EF4-FFF2-40B4-BE49-F238E27FC236}">
                <a16:creationId xmlns:a16="http://schemas.microsoft.com/office/drawing/2014/main" id="{FD0A879A-E594-4525-8957-1ECDACD9BFE3}"/>
              </a:ext>
            </a:extLst>
          </p:cNvPr>
          <p:cNvSpPr>
            <a:spLocks noGrp="1"/>
          </p:cNvSpPr>
          <p:nvPr/>
        </p:nvSpPr>
        <p:spPr>
          <a:xfrm>
            <a:off x="5753100" y="3200400"/>
            <a:ext cx="342900" cy="19050"/>
          </a:xfrm>
          <a:prstGeom prst="rect">
            <a:avLst/>
          </a:prstGeom>
          <a:solidFill>
            <a:srgbClr val="22A6C7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5" name="矩形 24">
            <a:extLst>
              <a:ext uri="{FF2B5EF4-FFF2-40B4-BE49-F238E27FC236}">
                <a16:creationId xmlns:a16="http://schemas.microsoft.com/office/drawing/2014/main" id="{6D903DA2-FD22-4DD9-B3D6-861E034601BC}"/>
              </a:ext>
            </a:extLst>
          </p:cNvPr>
          <p:cNvSpPr>
            <a:spLocks noGrp="1"/>
          </p:cNvSpPr>
          <p:nvPr/>
        </p:nvSpPr>
        <p:spPr>
          <a:xfrm>
            <a:off x="5962650" y="3086100"/>
            <a:ext cx="247650" cy="2476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ctr"/>
          <a:lstStyle/>
          <a:p>
            <a:pPr algn="ctr">
              <a:defRPr sz="1275" b="1">
                <a:solidFill>
                  <a:srgbClr val="22A6C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1">
                <a:solidFill>
                  <a:srgbClr val="22A6C7"/>
                </a:solidFill>
                <a:latin typeface="Microsoft YaHei"/>
                <a:ea typeface="Microsoft YaHei"/>
                <a:cs typeface="Microsoft YaHei"/>
              </a:rPr>
              <a:t>&gt;</a:t>
            </a:r>
          </a:p>
        </p:txBody>
      </p:sp>
      <p:sp>
        <p:nvSpPr>
          <p:cNvPr id="26" name="矩形 25">
            <a:extLst>
              <a:ext uri="{FF2B5EF4-FFF2-40B4-BE49-F238E27FC236}">
                <a16:creationId xmlns:a16="http://schemas.microsoft.com/office/drawing/2014/main" id="{C8C1E483-0A80-4CC8-B978-2FC217BBEBC6}"/>
              </a:ext>
            </a:extLst>
          </p:cNvPr>
          <p:cNvSpPr>
            <a:spLocks noGrp="1"/>
          </p:cNvSpPr>
          <p:nvPr/>
        </p:nvSpPr>
        <p:spPr>
          <a:xfrm>
            <a:off x="6172200" y="2628900"/>
            <a:ext cx="1466850" cy="1162050"/>
          </a:xfrm>
          <a:prstGeom prst="rect">
            <a:avLst/>
          </a:prstGeom>
          <a:solidFill>
            <a:srgbClr val="FFFFFF"/>
          </a:solidFill>
          <a:ln w="9525">
            <a:solidFill>
              <a:srgbClr val="DCE5E7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7" name="矩形 26">
            <a:extLst>
              <a:ext uri="{FF2B5EF4-FFF2-40B4-BE49-F238E27FC236}">
                <a16:creationId xmlns:a16="http://schemas.microsoft.com/office/drawing/2014/main" id="{8BCD67D0-4EAE-4747-8B2C-8E27D47CB00C}"/>
              </a:ext>
            </a:extLst>
          </p:cNvPr>
          <p:cNvSpPr>
            <a:spLocks noGrp="1"/>
          </p:cNvSpPr>
          <p:nvPr/>
        </p:nvSpPr>
        <p:spPr>
          <a:xfrm>
            <a:off x="6172200" y="2628900"/>
            <a:ext cx="57150" cy="1162050"/>
          </a:xfrm>
          <a:prstGeom prst="rect">
            <a:avLst/>
          </a:prstGeom>
          <a:solidFill>
            <a:srgbClr val="22A6C7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8" name="矩形 27">
            <a:extLst>
              <a:ext uri="{FF2B5EF4-FFF2-40B4-BE49-F238E27FC236}">
                <a16:creationId xmlns:a16="http://schemas.microsoft.com/office/drawing/2014/main" id="{3C49DE56-64F2-47E3-AD41-CF73F7F243B4}"/>
              </a:ext>
            </a:extLst>
          </p:cNvPr>
          <p:cNvSpPr>
            <a:spLocks noGrp="1"/>
          </p:cNvSpPr>
          <p:nvPr/>
        </p:nvSpPr>
        <p:spPr>
          <a:xfrm>
            <a:off x="6343650" y="2762250"/>
            <a:ext cx="1123950" cy="2857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163" b="1">
                <a:solidFill>
                  <a:srgbClr val="17313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63" b="1">
                <a:solidFill>
                  <a:srgbClr val="17313B"/>
                </a:solidFill>
                <a:latin typeface="Microsoft YaHei"/>
                <a:ea typeface="Microsoft YaHei"/>
                <a:cs typeface="Microsoft YaHei"/>
              </a:rPr>
              <a:t>BLE GATT</a:t>
            </a:r>
          </a:p>
        </p:txBody>
      </p:sp>
      <p:sp>
        <p:nvSpPr>
          <p:cNvPr id="29" name="矩形 28">
            <a:extLst>
              <a:ext uri="{FF2B5EF4-FFF2-40B4-BE49-F238E27FC236}">
                <a16:creationId xmlns:a16="http://schemas.microsoft.com/office/drawing/2014/main" id="{E8819493-E6C3-4FB7-A06F-D1874402BBB6}"/>
              </a:ext>
            </a:extLst>
          </p:cNvPr>
          <p:cNvSpPr>
            <a:spLocks noGrp="1"/>
          </p:cNvSpPr>
          <p:nvPr/>
        </p:nvSpPr>
        <p:spPr>
          <a:xfrm>
            <a:off x="6343650" y="3086100"/>
            <a:ext cx="1123950" cy="609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938" b="0">
                <a:solidFill>
                  <a:srgbClr val="687A8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38" b="0">
                <a:solidFill>
                  <a:srgbClr val="687A84"/>
                </a:solidFill>
                <a:latin typeface="Microsoft YaHei"/>
                <a:ea typeface="Microsoft YaHei"/>
                <a:cs typeface="Microsoft YaHei"/>
              </a:rPr>
              <a:t>wave notify</a:t>
            </a:r>
          </a:p>
          <a:p>
            <a:pPr algn="l">
              <a:defRPr sz="938" b="0">
                <a:solidFill>
                  <a:srgbClr val="687A8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38" b="0">
                <a:solidFill>
                  <a:srgbClr val="687A84"/>
                </a:solidFill>
                <a:latin typeface="Microsoft YaHei"/>
                <a:ea typeface="Microsoft YaHei"/>
                <a:cs typeface="Microsoft YaHei"/>
              </a:rPr>
              <a:t>metrics notify</a:t>
            </a:r>
          </a:p>
        </p:txBody>
      </p:sp>
      <p:sp>
        <p:nvSpPr>
          <p:cNvPr id="30" name="矩形 29">
            <a:extLst>
              <a:ext uri="{FF2B5EF4-FFF2-40B4-BE49-F238E27FC236}">
                <a16:creationId xmlns:a16="http://schemas.microsoft.com/office/drawing/2014/main" id="{22678C6B-292B-426E-8256-FE1E03F2B3A3}"/>
              </a:ext>
            </a:extLst>
          </p:cNvPr>
          <p:cNvSpPr>
            <a:spLocks noGrp="1"/>
          </p:cNvSpPr>
          <p:nvPr/>
        </p:nvSpPr>
        <p:spPr>
          <a:xfrm>
            <a:off x="7639050" y="3200400"/>
            <a:ext cx="342900" cy="19050"/>
          </a:xfrm>
          <a:prstGeom prst="rect">
            <a:avLst/>
          </a:prstGeom>
          <a:solidFill>
            <a:srgbClr val="22A6C7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31" name="矩形 30">
            <a:extLst>
              <a:ext uri="{FF2B5EF4-FFF2-40B4-BE49-F238E27FC236}">
                <a16:creationId xmlns:a16="http://schemas.microsoft.com/office/drawing/2014/main" id="{7383C3E9-17A5-4212-A863-D5D8ECE6AE3C}"/>
              </a:ext>
            </a:extLst>
          </p:cNvPr>
          <p:cNvSpPr>
            <a:spLocks noGrp="1"/>
          </p:cNvSpPr>
          <p:nvPr/>
        </p:nvSpPr>
        <p:spPr>
          <a:xfrm>
            <a:off x="7848600" y="3086100"/>
            <a:ext cx="247650" cy="2476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ctr"/>
          <a:lstStyle/>
          <a:p>
            <a:pPr algn="ctr">
              <a:defRPr sz="1275" b="1">
                <a:solidFill>
                  <a:srgbClr val="22A6C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1">
                <a:solidFill>
                  <a:srgbClr val="22A6C7"/>
                </a:solidFill>
                <a:latin typeface="Microsoft YaHei"/>
                <a:ea typeface="Microsoft YaHei"/>
                <a:cs typeface="Microsoft YaHei"/>
              </a:rPr>
              <a:t>&gt;</a:t>
            </a:r>
          </a:p>
        </p:txBody>
      </p:sp>
      <p:sp>
        <p:nvSpPr>
          <p:cNvPr id="32" name="矩形 31">
            <a:extLst>
              <a:ext uri="{FF2B5EF4-FFF2-40B4-BE49-F238E27FC236}">
                <a16:creationId xmlns:a16="http://schemas.microsoft.com/office/drawing/2014/main" id="{41325502-3687-4A97-8487-1C8741676DC4}"/>
              </a:ext>
            </a:extLst>
          </p:cNvPr>
          <p:cNvSpPr>
            <a:spLocks noGrp="1"/>
          </p:cNvSpPr>
          <p:nvPr/>
        </p:nvSpPr>
        <p:spPr>
          <a:xfrm>
            <a:off x="8058150" y="2628900"/>
            <a:ext cx="1466850" cy="1162050"/>
          </a:xfrm>
          <a:prstGeom prst="rect">
            <a:avLst/>
          </a:prstGeom>
          <a:solidFill>
            <a:srgbClr val="FFFFFF"/>
          </a:solidFill>
          <a:ln w="9525">
            <a:solidFill>
              <a:srgbClr val="DCE5E7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33" name="矩形 32">
            <a:extLst>
              <a:ext uri="{FF2B5EF4-FFF2-40B4-BE49-F238E27FC236}">
                <a16:creationId xmlns:a16="http://schemas.microsoft.com/office/drawing/2014/main" id="{4BC6DD99-F6A5-41BD-B31E-CB8C6436799F}"/>
              </a:ext>
            </a:extLst>
          </p:cNvPr>
          <p:cNvSpPr>
            <a:spLocks noGrp="1"/>
          </p:cNvSpPr>
          <p:nvPr/>
        </p:nvSpPr>
        <p:spPr>
          <a:xfrm>
            <a:off x="8058150" y="2628900"/>
            <a:ext cx="57150" cy="1162050"/>
          </a:xfrm>
          <a:prstGeom prst="rect">
            <a:avLst/>
          </a:prstGeom>
          <a:solidFill>
            <a:srgbClr val="18C7A3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34" name="矩形 33">
            <a:extLst>
              <a:ext uri="{FF2B5EF4-FFF2-40B4-BE49-F238E27FC236}">
                <a16:creationId xmlns:a16="http://schemas.microsoft.com/office/drawing/2014/main" id="{F869F553-73C1-4B01-9412-EDBA746263E9}"/>
              </a:ext>
            </a:extLst>
          </p:cNvPr>
          <p:cNvSpPr>
            <a:spLocks noGrp="1"/>
          </p:cNvSpPr>
          <p:nvPr/>
        </p:nvSpPr>
        <p:spPr>
          <a:xfrm>
            <a:off x="8229600" y="2762250"/>
            <a:ext cx="1123950" cy="2857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163" b="1">
                <a:solidFill>
                  <a:srgbClr val="17313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63" b="1">
                <a:solidFill>
                  <a:srgbClr val="17313B"/>
                </a:solidFill>
                <a:latin typeface="Microsoft YaHei"/>
                <a:ea typeface="Microsoft YaHei"/>
                <a:cs typeface="Microsoft YaHei"/>
              </a:rPr>
              <a:t>Mini Program</a:t>
            </a:r>
          </a:p>
        </p:txBody>
      </p:sp>
      <p:sp>
        <p:nvSpPr>
          <p:cNvPr id="35" name="矩形 34">
            <a:extLst>
              <a:ext uri="{FF2B5EF4-FFF2-40B4-BE49-F238E27FC236}">
                <a16:creationId xmlns:a16="http://schemas.microsoft.com/office/drawing/2014/main" id="{8B512D0E-B731-473A-8E6A-8E728FCD9BC8}"/>
              </a:ext>
            </a:extLst>
          </p:cNvPr>
          <p:cNvSpPr>
            <a:spLocks noGrp="1"/>
          </p:cNvSpPr>
          <p:nvPr/>
        </p:nvSpPr>
        <p:spPr>
          <a:xfrm>
            <a:off x="8229600" y="3086100"/>
            <a:ext cx="1123950" cy="609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938" b="0">
                <a:solidFill>
                  <a:srgbClr val="687A8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38" b="0">
                <a:solidFill>
                  <a:srgbClr val="687A84"/>
                </a:solidFill>
                <a:latin typeface="Microsoft YaHei"/>
                <a:ea typeface="Microsoft YaHei"/>
                <a:cs typeface="Microsoft YaHei"/>
              </a:rPr>
              <a:t>parse packets</a:t>
            </a:r>
          </a:p>
          <a:p>
            <a:pPr algn="l">
              <a:defRPr sz="938" b="0">
                <a:solidFill>
                  <a:srgbClr val="687A8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38" b="0">
                <a:solidFill>
                  <a:srgbClr val="687A84"/>
                </a:solidFill>
                <a:latin typeface="Microsoft YaHei"/>
                <a:ea typeface="Microsoft YaHei"/>
                <a:cs typeface="Microsoft YaHei"/>
              </a:rPr>
              <a:t>update UI</a:t>
            </a:r>
          </a:p>
        </p:txBody>
      </p:sp>
      <p:sp>
        <p:nvSpPr>
          <p:cNvPr id="36" name="矩形 35">
            <a:extLst>
              <a:ext uri="{FF2B5EF4-FFF2-40B4-BE49-F238E27FC236}">
                <a16:creationId xmlns:a16="http://schemas.microsoft.com/office/drawing/2014/main" id="{B639ECE9-F6DB-488A-AD21-E2E06FE90B5D}"/>
              </a:ext>
            </a:extLst>
          </p:cNvPr>
          <p:cNvSpPr>
            <a:spLocks noGrp="1"/>
          </p:cNvSpPr>
          <p:nvPr/>
        </p:nvSpPr>
        <p:spPr>
          <a:xfrm>
            <a:off x="9525000" y="3200400"/>
            <a:ext cx="342900" cy="19050"/>
          </a:xfrm>
          <a:prstGeom prst="rect">
            <a:avLst/>
          </a:prstGeom>
          <a:solidFill>
            <a:srgbClr val="22A6C7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37" name="矩形 36">
            <a:extLst>
              <a:ext uri="{FF2B5EF4-FFF2-40B4-BE49-F238E27FC236}">
                <a16:creationId xmlns:a16="http://schemas.microsoft.com/office/drawing/2014/main" id="{4D06191C-13D3-4A30-9FFE-0B73FA31A947}"/>
              </a:ext>
            </a:extLst>
          </p:cNvPr>
          <p:cNvSpPr>
            <a:spLocks noGrp="1"/>
          </p:cNvSpPr>
          <p:nvPr/>
        </p:nvSpPr>
        <p:spPr>
          <a:xfrm>
            <a:off x="9734550" y="3086100"/>
            <a:ext cx="247650" cy="2476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ctr"/>
          <a:lstStyle/>
          <a:p>
            <a:pPr algn="ctr">
              <a:defRPr sz="1275" b="1">
                <a:solidFill>
                  <a:srgbClr val="22A6C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1">
                <a:solidFill>
                  <a:srgbClr val="22A6C7"/>
                </a:solidFill>
                <a:latin typeface="Microsoft YaHei"/>
                <a:ea typeface="Microsoft YaHei"/>
                <a:cs typeface="Microsoft YaHei"/>
              </a:rPr>
              <a:t>&gt;</a:t>
            </a:r>
          </a:p>
        </p:txBody>
      </p:sp>
      <p:sp>
        <p:nvSpPr>
          <p:cNvPr id="38" name="矩形 37">
            <a:extLst>
              <a:ext uri="{FF2B5EF4-FFF2-40B4-BE49-F238E27FC236}">
                <a16:creationId xmlns:a16="http://schemas.microsoft.com/office/drawing/2014/main" id="{A482DD62-E4C8-47D3-BCE2-9A8148A0C652}"/>
              </a:ext>
            </a:extLst>
          </p:cNvPr>
          <p:cNvSpPr>
            <a:spLocks noGrp="1"/>
          </p:cNvSpPr>
          <p:nvPr/>
        </p:nvSpPr>
        <p:spPr>
          <a:xfrm>
            <a:off x="9944100" y="2628900"/>
            <a:ext cx="1466850" cy="1162050"/>
          </a:xfrm>
          <a:prstGeom prst="rect">
            <a:avLst/>
          </a:prstGeom>
          <a:solidFill>
            <a:srgbClr val="FFFFFF"/>
          </a:solidFill>
          <a:ln w="9525">
            <a:solidFill>
              <a:srgbClr val="DCE5E7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39" name="矩形 38">
            <a:extLst>
              <a:ext uri="{FF2B5EF4-FFF2-40B4-BE49-F238E27FC236}">
                <a16:creationId xmlns:a16="http://schemas.microsoft.com/office/drawing/2014/main" id="{81A67380-C015-4E21-BAE1-03FD3870BEA7}"/>
              </a:ext>
            </a:extLst>
          </p:cNvPr>
          <p:cNvSpPr>
            <a:spLocks noGrp="1"/>
          </p:cNvSpPr>
          <p:nvPr/>
        </p:nvSpPr>
        <p:spPr>
          <a:xfrm>
            <a:off x="9944100" y="2628900"/>
            <a:ext cx="57150" cy="1162050"/>
          </a:xfrm>
          <a:prstGeom prst="rect">
            <a:avLst/>
          </a:prstGeom>
          <a:solidFill>
            <a:srgbClr val="18C7A3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40" name="矩形 39">
            <a:extLst>
              <a:ext uri="{FF2B5EF4-FFF2-40B4-BE49-F238E27FC236}">
                <a16:creationId xmlns:a16="http://schemas.microsoft.com/office/drawing/2014/main" id="{EF25B2F5-DCC6-4CE0-B3B2-9D04BFF03F6D}"/>
              </a:ext>
            </a:extLst>
          </p:cNvPr>
          <p:cNvSpPr>
            <a:spLocks noGrp="1"/>
          </p:cNvSpPr>
          <p:nvPr/>
        </p:nvSpPr>
        <p:spPr>
          <a:xfrm>
            <a:off x="10115550" y="2762250"/>
            <a:ext cx="1123950" cy="2857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163" b="1">
                <a:solidFill>
                  <a:srgbClr val="17313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63" b="1">
                <a:solidFill>
                  <a:srgbClr val="17313B"/>
                </a:solidFill>
                <a:latin typeface="Microsoft YaHei"/>
                <a:ea typeface="Microsoft YaHei"/>
                <a:cs typeface="Microsoft YaHei"/>
              </a:rPr>
              <a:t>Canvas + values</a:t>
            </a:r>
          </a:p>
        </p:txBody>
      </p:sp>
      <p:sp>
        <p:nvSpPr>
          <p:cNvPr id="41" name="矩形 40">
            <a:extLst>
              <a:ext uri="{FF2B5EF4-FFF2-40B4-BE49-F238E27FC236}">
                <a16:creationId xmlns:a16="http://schemas.microsoft.com/office/drawing/2014/main" id="{03AE5157-FC59-49DD-B378-0070C1558A12}"/>
              </a:ext>
            </a:extLst>
          </p:cNvPr>
          <p:cNvSpPr>
            <a:spLocks noGrp="1"/>
          </p:cNvSpPr>
          <p:nvPr/>
        </p:nvSpPr>
        <p:spPr>
          <a:xfrm>
            <a:off x="10115550" y="3086100"/>
            <a:ext cx="1123950" cy="609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938" b="0">
                <a:solidFill>
                  <a:srgbClr val="687A8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38" b="0">
                <a:solidFill>
                  <a:srgbClr val="687A84"/>
                </a:solidFill>
                <a:latin typeface="Microsoft YaHei"/>
                <a:ea typeface="Microsoft YaHei"/>
                <a:cs typeface="Microsoft YaHei"/>
              </a:rPr>
              <a:t>PPG curve</a:t>
            </a:r>
          </a:p>
          <a:p>
            <a:pPr algn="l">
              <a:defRPr sz="938" b="0">
                <a:solidFill>
                  <a:srgbClr val="687A8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38" b="0">
                <a:solidFill>
                  <a:srgbClr val="687A84"/>
                </a:solidFill>
                <a:latin typeface="Microsoft YaHei"/>
                <a:ea typeface="Microsoft YaHei"/>
                <a:cs typeface="Microsoft YaHei"/>
              </a:rPr>
              <a:t>HR / SpO2</a:t>
            </a:r>
          </a:p>
        </p:txBody>
      </p:sp>
      <p:sp>
        <p:nvSpPr>
          <p:cNvPr id="42" name="矩形 41">
            <a:extLst>
              <a:ext uri="{FF2B5EF4-FFF2-40B4-BE49-F238E27FC236}">
                <a16:creationId xmlns:a16="http://schemas.microsoft.com/office/drawing/2014/main" id="{9FF9CD5E-C904-4C2B-896F-7379BFE07F45}"/>
              </a:ext>
            </a:extLst>
          </p:cNvPr>
          <p:cNvSpPr>
            <a:spLocks noGrp="1"/>
          </p:cNvSpPr>
          <p:nvPr/>
        </p:nvSpPr>
        <p:spPr>
          <a:xfrm>
            <a:off x="742950" y="4686300"/>
            <a:ext cx="4381500" cy="495300"/>
          </a:xfrm>
          <a:prstGeom prst="rect">
            <a:avLst/>
          </a:prstGeom>
          <a:solidFill>
            <a:srgbClr val="FFF4DD"/>
          </a:solidFill>
          <a:ln w="9525">
            <a:solidFill>
              <a:srgbClr val="F7D599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43" name="矩形 42">
            <a:extLst>
              <a:ext uri="{FF2B5EF4-FFF2-40B4-BE49-F238E27FC236}">
                <a16:creationId xmlns:a16="http://schemas.microsoft.com/office/drawing/2014/main" id="{3ADDC116-C0BF-4F92-9DAD-99F905CECA04}"/>
              </a:ext>
            </a:extLst>
          </p:cNvPr>
          <p:cNvSpPr>
            <a:spLocks noGrp="1"/>
          </p:cNvSpPr>
          <p:nvPr/>
        </p:nvSpPr>
        <p:spPr>
          <a:xfrm>
            <a:off x="914400" y="4810125"/>
            <a:ext cx="4000500" cy="2476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163" b="0">
                <a:solidFill>
                  <a:srgbClr val="17313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63" b="0">
                <a:solidFill>
                  <a:srgbClr val="17313B"/>
                </a:solidFill>
                <a:latin typeface="Microsoft YaHei"/>
                <a:ea typeface="Microsoft YaHei"/>
                <a:cs typeface="Microsoft YaHei"/>
              </a:rPr>
              <a:t>原串口屏链路不删除：Serial2 继续发送同一份结果。</a:t>
            </a:r>
          </a:p>
        </p:txBody>
      </p:sp>
      <p:sp>
        <p:nvSpPr>
          <p:cNvPr id="44" name="矩形 43">
            <a:extLst>
              <a:ext uri="{FF2B5EF4-FFF2-40B4-BE49-F238E27FC236}">
                <a16:creationId xmlns:a16="http://schemas.microsoft.com/office/drawing/2014/main" id="{F0D133AD-761A-4043-B42E-E7EF46FF193F}"/>
              </a:ext>
            </a:extLst>
          </p:cNvPr>
          <p:cNvSpPr>
            <a:spLocks noGrp="1"/>
          </p:cNvSpPr>
          <p:nvPr/>
        </p:nvSpPr>
        <p:spPr>
          <a:xfrm>
            <a:off x="6496050" y="4686300"/>
            <a:ext cx="4381500" cy="495300"/>
          </a:xfrm>
          <a:prstGeom prst="rect">
            <a:avLst/>
          </a:prstGeom>
          <a:solidFill>
            <a:srgbClr val="E7F6FA"/>
          </a:solidFill>
          <a:ln w="9525">
            <a:solidFill>
              <a:srgbClr val="BFE8F2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45" name="矩形 44">
            <a:extLst>
              <a:ext uri="{FF2B5EF4-FFF2-40B4-BE49-F238E27FC236}">
                <a16:creationId xmlns:a16="http://schemas.microsoft.com/office/drawing/2014/main" id="{5D8A0544-2656-4375-A46B-A1458EFF6279}"/>
              </a:ext>
            </a:extLst>
          </p:cNvPr>
          <p:cNvSpPr>
            <a:spLocks noGrp="1"/>
          </p:cNvSpPr>
          <p:nvPr/>
        </p:nvSpPr>
        <p:spPr>
          <a:xfrm>
            <a:off x="6667500" y="4810125"/>
            <a:ext cx="4000500" cy="2476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163" b="0">
                <a:solidFill>
                  <a:srgbClr val="17313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63" b="0">
                <a:solidFill>
                  <a:srgbClr val="17313B"/>
                </a:solidFill>
                <a:latin typeface="Microsoft YaHei"/>
                <a:ea typeface="Microsoft YaHei"/>
                <a:cs typeface="Microsoft YaHei"/>
              </a:rPr>
              <a:t>新增手机链路不重算算法：只在事件点调用 notify。</a:t>
            </a:r>
          </a:p>
        </p:txBody>
      </p:sp>
    </p:spTree>
    <p:extLst>
      <p:ext uri="{BB962C8B-B14F-4D97-AF65-F5344CB8AC3E}">
        <p14:creationId xmlns:p14="http://schemas.microsoft.com/office/powerpoint/2010/main" val="1021783869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" name="矩形 73">
            <a:extLst>
              <a:ext uri="{FF2B5EF4-FFF2-40B4-BE49-F238E27FC236}">
                <a16:creationId xmlns:a16="http://schemas.microsoft.com/office/drawing/2014/main" id="{5E5222F0-98AA-42DD-AE1D-A8E80A14A995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6F3EA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" name="矩形 1">
            <a:extLst>
              <a:ext uri="{FF2B5EF4-FFF2-40B4-BE49-F238E27FC236}">
                <a16:creationId xmlns:a16="http://schemas.microsoft.com/office/drawing/2014/main" id="{BF218590-A170-450B-995B-BE902FF6A018}"/>
              </a:ext>
            </a:extLst>
          </p:cNvPr>
          <p:cNvSpPr>
            <a:spLocks noGrp="1"/>
          </p:cNvSpPr>
          <p:nvPr/>
        </p:nvSpPr>
        <p:spPr>
          <a:xfrm>
            <a:off x="419100" y="323850"/>
            <a:ext cx="95250" cy="190500"/>
          </a:xfrm>
          <a:prstGeom prst="rect">
            <a:avLst/>
          </a:prstGeom>
          <a:solidFill>
            <a:srgbClr val="22A6C7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FA481336-1DD4-4093-9468-0F9D3C6253A3}"/>
              </a:ext>
            </a:extLst>
          </p:cNvPr>
          <p:cNvSpPr>
            <a:spLocks noGrp="1"/>
          </p:cNvSpPr>
          <p:nvPr/>
        </p:nvSpPr>
        <p:spPr>
          <a:xfrm>
            <a:off x="590550" y="266700"/>
            <a:ext cx="4095750" cy="3238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ctr"/>
          <a:lstStyle/>
          <a:p>
            <a:pPr algn="l">
              <a:defRPr sz="1125" b="1">
                <a:solidFill>
                  <a:srgbClr val="687A8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1">
                <a:solidFill>
                  <a:srgbClr val="687A84"/>
                </a:solidFill>
                <a:latin typeface="Microsoft YaHei"/>
                <a:ea typeface="Microsoft YaHei"/>
                <a:cs typeface="Microsoft YaHei"/>
              </a:rPr>
              <a:t>APPLICATION PROTOCOL</a:t>
            </a:r>
          </a:p>
        </p:txBody>
      </p:sp>
      <p:sp>
        <p:nvSpPr>
          <p:cNvPr id="4" name="矩形 3">
            <a:extLst>
              <a:ext uri="{FF2B5EF4-FFF2-40B4-BE49-F238E27FC236}">
                <a16:creationId xmlns:a16="http://schemas.microsoft.com/office/drawing/2014/main" id="{13501903-C897-46D2-A31E-04A06547A830}"/>
              </a:ext>
            </a:extLst>
          </p:cNvPr>
          <p:cNvSpPr>
            <a:spLocks noGrp="1"/>
          </p:cNvSpPr>
          <p:nvPr/>
        </p:nvSpPr>
        <p:spPr>
          <a:xfrm>
            <a:off x="419100" y="685800"/>
            <a:ext cx="10763250" cy="7810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2400" b="1">
                <a:solidFill>
                  <a:srgbClr val="17313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400" b="1">
                <a:solidFill>
                  <a:srgbClr val="17313B"/>
                </a:solidFill>
                <a:latin typeface="Microsoft YaHei"/>
                <a:ea typeface="Microsoft YaHei"/>
                <a:cs typeface="Microsoft YaHei"/>
              </a:rPr>
              <a:t>协议越小，越适合 BLE 默认 20 字节 MTU 和课堂调试。</a:t>
            </a:r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BB117146-7B0E-4327-9C77-37477E7348A0}"/>
              </a:ext>
            </a:extLst>
          </p:cNvPr>
          <p:cNvSpPr>
            <a:spLocks noGrp="1"/>
          </p:cNvSpPr>
          <p:nvPr/>
        </p:nvSpPr>
        <p:spPr>
          <a:xfrm>
            <a:off x="419100" y="6438900"/>
            <a:ext cx="8572500" cy="9525"/>
          </a:xfrm>
          <a:prstGeom prst="rect">
            <a:avLst/>
          </a:prstGeom>
          <a:solidFill>
            <a:srgbClr val="D6DEE1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6" name="矩形 5">
            <a:extLst>
              <a:ext uri="{FF2B5EF4-FFF2-40B4-BE49-F238E27FC236}">
                <a16:creationId xmlns:a16="http://schemas.microsoft.com/office/drawing/2014/main" id="{D44A3B0B-263F-41BA-A102-A95C77120FB1}"/>
              </a:ext>
            </a:extLst>
          </p:cNvPr>
          <p:cNvSpPr>
            <a:spLocks noGrp="1"/>
          </p:cNvSpPr>
          <p:nvPr/>
        </p:nvSpPr>
        <p:spPr>
          <a:xfrm>
            <a:off x="419100" y="6515100"/>
            <a:ext cx="8572500" cy="1905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675" b="0">
                <a:solidFill>
                  <a:srgbClr val="7C8A9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675" b="0">
                <a:solidFill>
                  <a:srgbClr val="7C8A90"/>
                </a:solidFill>
                <a:latin typeface="Microsoft YaHei"/>
                <a:ea typeface="Microsoft YaHei"/>
                <a:cs typeface="Microsoft YaHei"/>
              </a:rPr>
              <a:t>Source: Arduino / WeChat Mini Program source code; WeChat Mini Program BLE API docs</a:t>
            </a:r>
          </a:p>
        </p:txBody>
      </p:sp>
      <p:sp>
        <p:nvSpPr>
          <p:cNvPr id="7" name="矩形 6">
            <a:extLst>
              <a:ext uri="{FF2B5EF4-FFF2-40B4-BE49-F238E27FC236}">
                <a16:creationId xmlns:a16="http://schemas.microsoft.com/office/drawing/2014/main" id="{D9822C44-D9D2-47FF-985E-8D0C1B0271B9}"/>
              </a:ext>
            </a:extLst>
          </p:cNvPr>
          <p:cNvSpPr>
            <a:spLocks noGrp="1"/>
          </p:cNvSpPr>
          <p:nvPr/>
        </p:nvSpPr>
        <p:spPr>
          <a:xfrm>
            <a:off x="11334750" y="6496050"/>
            <a:ext cx="419100" cy="2095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r">
              <a:defRPr sz="825" b="0">
                <a:solidFill>
                  <a:srgbClr val="7C8A9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825" b="0">
                <a:solidFill>
                  <a:srgbClr val="7C8A90"/>
                </a:solidFill>
                <a:latin typeface="Microsoft YaHei"/>
                <a:ea typeface="Microsoft YaHei"/>
                <a:cs typeface="Microsoft YaHei"/>
              </a:rPr>
              <a:t>11</a:t>
            </a:r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B1DF0698-C2C9-4E36-91DA-EA1B73790BE2}"/>
              </a:ext>
            </a:extLst>
          </p:cNvPr>
          <p:cNvSpPr>
            <a:spLocks noGrp="1"/>
          </p:cNvSpPr>
          <p:nvPr/>
        </p:nvSpPr>
        <p:spPr>
          <a:xfrm>
            <a:off x="1181100" y="2228850"/>
            <a:ext cx="4095750" cy="2667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350" b="1">
                <a:solidFill>
                  <a:srgbClr val="22A6C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22A6C7"/>
                </a:solidFill>
                <a:latin typeface="Microsoft YaHei"/>
                <a:ea typeface="Microsoft YaHei"/>
                <a:cs typeface="Microsoft YaHei"/>
              </a:rPr>
              <a:t>Wave packet: 4 bytes</a:t>
            </a:r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B5ADE2AC-4109-4242-B5DA-AD78BF367520}"/>
              </a:ext>
            </a:extLst>
          </p:cNvPr>
          <p:cNvSpPr>
            <a:spLocks noGrp="1"/>
          </p:cNvSpPr>
          <p:nvPr/>
        </p:nvSpPr>
        <p:spPr>
          <a:xfrm>
            <a:off x="1181100" y="2571750"/>
            <a:ext cx="4286250" cy="285750"/>
          </a:xfrm>
          <a:prstGeom prst="rect">
            <a:avLst/>
          </a:prstGeom>
          <a:solidFill>
            <a:srgbClr val="22A6C7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3A3BF2D2-5DED-4977-90E4-704A10A0230F}"/>
              </a:ext>
            </a:extLst>
          </p:cNvPr>
          <p:cNvSpPr>
            <a:spLocks noGrp="1"/>
          </p:cNvSpPr>
          <p:nvPr/>
        </p:nvSpPr>
        <p:spPr>
          <a:xfrm>
            <a:off x="1257300" y="2628900"/>
            <a:ext cx="514350" cy="1714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ctr">
              <a:defRPr sz="863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863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Byte</a:t>
            </a:r>
          </a:p>
        </p:txBody>
      </p:sp>
      <p:sp>
        <p:nvSpPr>
          <p:cNvPr id="11" name="矩形 10">
            <a:extLst>
              <a:ext uri="{FF2B5EF4-FFF2-40B4-BE49-F238E27FC236}">
                <a16:creationId xmlns:a16="http://schemas.microsoft.com/office/drawing/2014/main" id="{C94EF31B-D75D-48BF-9CFF-BB762A00CB39}"/>
              </a:ext>
            </a:extLst>
          </p:cNvPr>
          <p:cNvSpPr>
            <a:spLocks noGrp="1"/>
          </p:cNvSpPr>
          <p:nvPr/>
        </p:nvSpPr>
        <p:spPr>
          <a:xfrm>
            <a:off x="1924050" y="2628900"/>
            <a:ext cx="895350" cy="1714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863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863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字段</a:t>
            </a:r>
          </a:p>
        </p:txBody>
      </p:sp>
      <p:sp>
        <p:nvSpPr>
          <p:cNvPr id="12" name="矩形 11">
            <a:extLst>
              <a:ext uri="{FF2B5EF4-FFF2-40B4-BE49-F238E27FC236}">
                <a16:creationId xmlns:a16="http://schemas.microsoft.com/office/drawing/2014/main" id="{2D659A3F-F391-4FAC-BCF7-3BCBF51E2914}"/>
              </a:ext>
            </a:extLst>
          </p:cNvPr>
          <p:cNvSpPr>
            <a:spLocks noGrp="1"/>
          </p:cNvSpPr>
          <p:nvPr/>
        </p:nvSpPr>
        <p:spPr>
          <a:xfrm>
            <a:off x="2971800" y="2628900"/>
            <a:ext cx="2419350" cy="1714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863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863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含义</a:t>
            </a:r>
          </a:p>
        </p:txBody>
      </p:sp>
      <p:sp>
        <p:nvSpPr>
          <p:cNvPr id="13" name="矩形 12">
            <a:extLst>
              <a:ext uri="{FF2B5EF4-FFF2-40B4-BE49-F238E27FC236}">
                <a16:creationId xmlns:a16="http://schemas.microsoft.com/office/drawing/2014/main" id="{4F4BA87E-3F6D-4303-8916-3D86D13CC511}"/>
              </a:ext>
            </a:extLst>
          </p:cNvPr>
          <p:cNvSpPr>
            <a:spLocks noGrp="1"/>
          </p:cNvSpPr>
          <p:nvPr/>
        </p:nvSpPr>
        <p:spPr>
          <a:xfrm>
            <a:off x="1181100" y="2857500"/>
            <a:ext cx="666750" cy="371475"/>
          </a:xfrm>
          <a:prstGeom prst="rect">
            <a:avLst/>
          </a:prstGeom>
          <a:solidFill>
            <a:srgbClr val="FFFFFF"/>
          </a:solidFill>
          <a:ln w="9525">
            <a:solidFill>
              <a:srgbClr val="DCE5E7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4" name="矩形 13">
            <a:extLst>
              <a:ext uri="{FF2B5EF4-FFF2-40B4-BE49-F238E27FC236}">
                <a16:creationId xmlns:a16="http://schemas.microsoft.com/office/drawing/2014/main" id="{FE552C80-D252-4AFA-93B9-970D21E824D7}"/>
              </a:ext>
            </a:extLst>
          </p:cNvPr>
          <p:cNvSpPr>
            <a:spLocks noGrp="1"/>
          </p:cNvSpPr>
          <p:nvPr/>
        </p:nvSpPr>
        <p:spPr>
          <a:xfrm>
            <a:off x="1257300" y="2924175"/>
            <a:ext cx="514350" cy="238125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ctr">
              <a:defRPr sz="848" b="1">
                <a:solidFill>
                  <a:srgbClr val="17313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848" b="1">
                <a:solidFill>
                  <a:srgbClr val="17313B"/>
                </a:solidFill>
                <a:latin typeface="Microsoft YaHei"/>
                <a:ea typeface="Microsoft YaHei"/>
                <a:cs typeface="Microsoft YaHei"/>
              </a:rPr>
              <a:t>0</a:t>
            </a:r>
          </a:p>
        </p:txBody>
      </p:sp>
      <p:sp>
        <p:nvSpPr>
          <p:cNvPr id="15" name="矩形 14">
            <a:extLst>
              <a:ext uri="{FF2B5EF4-FFF2-40B4-BE49-F238E27FC236}">
                <a16:creationId xmlns:a16="http://schemas.microsoft.com/office/drawing/2014/main" id="{25F99683-2177-4EF4-BE48-2EC4A6C2ED74}"/>
              </a:ext>
            </a:extLst>
          </p:cNvPr>
          <p:cNvSpPr>
            <a:spLocks noGrp="1"/>
          </p:cNvSpPr>
          <p:nvPr/>
        </p:nvSpPr>
        <p:spPr>
          <a:xfrm>
            <a:off x="1847850" y="2857500"/>
            <a:ext cx="1047750" cy="371475"/>
          </a:xfrm>
          <a:prstGeom prst="rect">
            <a:avLst/>
          </a:prstGeom>
          <a:solidFill>
            <a:srgbClr val="FFFFFF"/>
          </a:solidFill>
          <a:ln w="9525">
            <a:solidFill>
              <a:srgbClr val="DCE5E7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6" name="矩形 15">
            <a:extLst>
              <a:ext uri="{FF2B5EF4-FFF2-40B4-BE49-F238E27FC236}">
                <a16:creationId xmlns:a16="http://schemas.microsoft.com/office/drawing/2014/main" id="{84C314B6-DDE6-42FA-B5C0-49E41B12835F}"/>
              </a:ext>
            </a:extLst>
          </p:cNvPr>
          <p:cNvSpPr>
            <a:spLocks noGrp="1"/>
          </p:cNvSpPr>
          <p:nvPr/>
        </p:nvSpPr>
        <p:spPr>
          <a:xfrm>
            <a:off x="1924050" y="2924175"/>
            <a:ext cx="895350" cy="238125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848" b="0">
                <a:solidFill>
                  <a:srgbClr val="687A8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848" b="0">
                <a:solidFill>
                  <a:srgbClr val="687A84"/>
                </a:solidFill>
                <a:latin typeface="Microsoft YaHei"/>
                <a:ea typeface="Microsoft YaHei"/>
                <a:cs typeface="Microsoft YaHei"/>
              </a:rPr>
              <a:t>type</a:t>
            </a:r>
          </a:p>
        </p:txBody>
      </p:sp>
      <p:sp>
        <p:nvSpPr>
          <p:cNvPr id="17" name="矩形 16">
            <a:extLst>
              <a:ext uri="{FF2B5EF4-FFF2-40B4-BE49-F238E27FC236}">
                <a16:creationId xmlns:a16="http://schemas.microsoft.com/office/drawing/2014/main" id="{789D4CDB-DC5A-44C0-B834-788DB5AF2682}"/>
              </a:ext>
            </a:extLst>
          </p:cNvPr>
          <p:cNvSpPr>
            <a:spLocks noGrp="1"/>
          </p:cNvSpPr>
          <p:nvPr/>
        </p:nvSpPr>
        <p:spPr>
          <a:xfrm>
            <a:off x="2895600" y="2857500"/>
            <a:ext cx="2571750" cy="371475"/>
          </a:xfrm>
          <a:prstGeom prst="rect">
            <a:avLst/>
          </a:prstGeom>
          <a:solidFill>
            <a:srgbClr val="FFFFFF"/>
          </a:solidFill>
          <a:ln w="9525">
            <a:solidFill>
              <a:srgbClr val="DCE5E7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8" name="矩形 17">
            <a:extLst>
              <a:ext uri="{FF2B5EF4-FFF2-40B4-BE49-F238E27FC236}">
                <a16:creationId xmlns:a16="http://schemas.microsoft.com/office/drawing/2014/main" id="{9C6D9BB8-5348-4172-971D-3CE32099D645}"/>
              </a:ext>
            </a:extLst>
          </p:cNvPr>
          <p:cNvSpPr>
            <a:spLocks noGrp="1"/>
          </p:cNvSpPr>
          <p:nvPr/>
        </p:nvSpPr>
        <p:spPr>
          <a:xfrm>
            <a:off x="2971800" y="2924175"/>
            <a:ext cx="2419350" cy="238125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848" b="0">
                <a:solidFill>
                  <a:srgbClr val="687A8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848" b="0">
                <a:solidFill>
                  <a:srgbClr val="687A84"/>
                </a:solidFill>
                <a:latin typeface="Microsoft YaHei"/>
                <a:ea typeface="Microsoft YaHei"/>
                <a:cs typeface="Microsoft YaHei"/>
              </a:rPr>
              <a:t>固定 0x01</a:t>
            </a:r>
          </a:p>
        </p:txBody>
      </p:sp>
      <p:sp>
        <p:nvSpPr>
          <p:cNvPr id="19" name="矩形 18">
            <a:extLst>
              <a:ext uri="{FF2B5EF4-FFF2-40B4-BE49-F238E27FC236}">
                <a16:creationId xmlns:a16="http://schemas.microsoft.com/office/drawing/2014/main" id="{B977B399-D268-4FD1-A8C4-3619667E18A5}"/>
              </a:ext>
            </a:extLst>
          </p:cNvPr>
          <p:cNvSpPr>
            <a:spLocks noGrp="1"/>
          </p:cNvSpPr>
          <p:nvPr/>
        </p:nvSpPr>
        <p:spPr>
          <a:xfrm>
            <a:off x="1181100" y="3228975"/>
            <a:ext cx="666750" cy="371475"/>
          </a:xfrm>
          <a:prstGeom prst="rect">
            <a:avLst/>
          </a:prstGeom>
          <a:solidFill>
            <a:srgbClr val="FFFFFF"/>
          </a:solidFill>
          <a:ln w="9525">
            <a:solidFill>
              <a:srgbClr val="DCE5E7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0" name="矩形 19">
            <a:extLst>
              <a:ext uri="{FF2B5EF4-FFF2-40B4-BE49-F238E27FC236}">
                <a16:creationId xmlns:a16="http://schemas.microsoft.com/office/drawing/2014/main" id="{FD3B191C-E245-4949-8110-5416B1F1B5D5}"/>
              </a:ext>
            </a:extLst>
          </p:cNvPr>
          <p:cNvSpPr>
            <a:spLocks noGrp="1"/>
          </p:cNvSpPr>
          <p:nvPr/>
        </p:nvSpPr>
        <p:spPr>
          <a:xfrm>
            <a:off x="1257300" y="3295650"/>
            <a:ext cx="514350" cy="238125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ctr">
              <a:defRPr sz="848" b="1">
                <a:solidFill>
                  <a:srgbClr val="17313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848" b="1">
                <a:solidFill>
                  <a:srgbClr val="17313B"/>
                </a:solidFill>
                <a:latin typeface="Microsoft YaHei"/>
                <a:ea typeface="Microsoft YaHei"/>
                <a:cs typeface="Microsoft YaHei"/>
              </a:rPr>
              <a:t>1</a:t>
            </a:r>
          </a:p>
        </p:txBody>
      </p:sp>
      <p:sp>
        <p:nvSpPr>
          <p:cNvPr id="21" name="矩形 20">
            <a:extLst>
              <a:ext uri="{FF2B5EF4-FFF2-40B4-BE49-F238E27FC236}">
                <a16:creationId xmlns:a16="http://schemas.microsoft.com/office/drawing/2014/main" id="{51659B15-AA8D-4221-AC36-E53AFE23A40E}"/>
              </a:ext>
            </a:extLst>
          </p:cNvPr>
          <p:cNvSpPr>
            <a:spLocks noGrp="1"/>
          </p:cNvSpPr>
          <p:nvPr/>
        </p:nvSpPr>
        <p:spPr>
          <a:xfrm>
            <a:off x="1847850" y="3228975"/>
            <a:ext cx="1047750" cy="371475"/>
          </a:xfrm>
          <a:prstGeom prst="rect">
            <a:avLst/>
          </a:prstGeom>
          <a:solidFill>
            <a:srgbClr val="FFFFFF"/>
          </a:solidFill>
          <a:ln w="9525">
            <a:solidFill>
              <a:srgbClr val="DCE5E7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2" name="矩形 21">
            <a:extLst>
              <a:ext uri="{FF2B5EF4-FFF2-40B4-BE49-F238E27FC236}">
                <a16:creationId xmlns:a16="http://schemas.microsoft.com/office/drawing/2014/main" id="{4E817BCE-20E6-4DD6-9EB7-07F2BB87D742}"/>
              </a:ext>
            </a:extLst>
          </p:cNvPr>
          <p:cNvSpPr>
            <a:spLocks noGrp="1"/>
          </p:cNvSpPr>
          <p:nvPr/>
        </p:nvSpPr>
        <p:spPr>
          <a:xfrm>
            <a:off x="1924050" y="3295650"/>
            <a:ext cx="895350" cy="238125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848" b="0">
                <a:solidFill>
                  <a:srgbClr val="687A8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848" b="0">
                <a:solidFill>
                  <a:srgbClr val="687A84"/>
                </a:solidFill>
                <a:latin typeface="Microsoft YaHei"/>
                <a:ea typeface="Microsoft YaHei"/>
                <a:cs typeface="Microsoft YaHei"/>
              </a:rPr>
              <a:t>seq</a:t>
            </a:r>
          </a:p>
        </p:txBody>
      </p:sp>
      <p:sp>
        <p:nvSpPr>
          <p:cNvPr id="23" name="矩形 22">
            <a:extLst>
              <a:ext uri="{FF2B5EF4-FFF2-40B4-BE49-F238E27FC236}">
                <a16:creationId xmlns:a16="http://schemas.microsoft.com/office/drawing/2014/main" id="{EA0E93EE-A386-4D03-9CE8-C93641929E9F}"/>
              </a:ext>
            </a:extLst>
          </p:cNvPr>
          <p:cNvSpPr>
            <a:spLocks noGrp="1"/>
          </p:cNvSpPr>
          <p:nvPr/>
        </p:nvSpPr>
        <p:spPr>
          <a:xfrm>
            <a:off x="2895600" y="3228975"/>
            <a:ext cx="2571750" cy="371475"/>
          </a:xfrm>
          <a:prstGeom prst="rect">
            <a:avLst/>
          </a:prstGeom>
          <a:solidFill>
            <a:srgbClr val="FFFFFF"/>
          </a:solidFill>
          <a:ln w="9525">
            <a:solidFill>
              <a:srgbClr val="DCE5E7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4" name="矩形 23">
            <a:extLst>
              <a:ext uri="{FF2B5EF4-FFF2-40B4-BE49-F238E27FC236}">
                <a16:creationId xmlns:a16="http://schemas.microsoft.com/office/drawing/2014/main" id="{B701B456-A267-49AA-B66C-303E653973BE}"/>
              </a:ext>
            </a:extLst>
          </p:cNvPr>
          <p:cNvSpPr>
            <a:spLocks noGrp="1"/>
          </p:cNvSpPr>
          <p:nvPr/>
        </p:nvSpPr>
        <p:spPr>
          <a:xfrm>
            <a:off x="2971800" y="3295650"/>
            <a:ext cx="2419350" cy="238125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848" b="0">
                <a:solidFill>
                  <a:srgbClr val="687A8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848" b="0">
                <a:solidFill>
                  <a:srgbClr val="687A84"/>
                </a:solidFill>
                <a:latin typeface="Microsoft YaHei"/>
                <a:ea typeface="Microsoft YaHei"/>
                <a:cs typeface="Microsoft YaHei"/>
              </a:rPr>
              <a:t>波形序号，0-255 循环</a:t>
            </a:r>
          </a:p>
        </p:txBody>
      </p:sp>
      <p:sp>
        <p:nvSpPr>
          <p:cNvPr id="25" name="矩形 24">
            <a:extLst>
              <a:ext uri="{FF2B5EF4-FFF2-40B4-BE49-F238E27FC236}">
                <a16:creationId xmlns:a16="http://schemas.microsoft.com/office/drawing/2014/main" id="{DBF3913E-693D-4442-A03A-F0982A35275A}"/>
              </a:ext>
            </a:extLst>
          </p:cNvPr>
          <p:cNvSpPr>
            <a:spLocks noGrp="1"/>
          </p:cNvSpPr>
          <p:nvPr/>
        </p:nvSpPr>
        <p:spPr>
          <a:xfrm>
            <a:off x="1181100" y="3600450"/>
            <a:ext cx="666750" cy="371475"/>
          </a:xfrm>
          <a:prstGeom prst="rect">
            <a:avLst/>
          </a:prstGeom>
          <a:solidFill>
            <a:srgbClr val="FFFFFF"/>
          </a:solidFill>
          <a:ln w="9525">
            <a:solidFill>
              <a:srgbClr val="DCE5E7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6" name="矩形 25">
            <a:extLst>
              <a:ext uri="{FF2B5EF4-FFF2-40B4-BE49-F238E27FC236}">
                <a16:creationId xmlns:a16="http://schemas.microsoft.com/office/drawing/2014/main" id="{4BA63A72-ED24-40F4-BFCD-0D0958CEB295}"/>
              </a:ext>
            </a:extLst>
          </p:cNvPr>
          <p:cNvSpPr>
            <a:spLocks noGrp="1"/>
          </p:cNvSpPr>
          <p:nvPr/>
        </p:nvSpPr>
        <p:spPr>
          <a:xfrm>
            <a:off x="1257300" y="3667125"/>
            <a:ext cx="514350" cy="238125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ctr">
              <a:defRPr sz="848" b="1">
                <a:solidFill>
                  <a:srgbClr val="17313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848" b="1">
                <a:solidFill>
                  <a:srgbClr val="17313B"/>
                </a:solidFill>
                <a:latin typeface="Microsoft YaHei"/>
                <a:ea typeface="Microsoft YaHei"/>
                <a:cs typeface="Microsoft YaHei"/>
              </a:rPr>
              <a:t>2</a:t>
            </a:r>
          </a:p>
        </p:txBody>
      </p:sp>
      <p:sp>
        <p:nvSpPr>
          <p:cNvPr id="27" name="矩形 26">
            <a:extLst>
              <a:ext uri="{FF2B5EF4-FFF2-40B4-BE49-F238E27FC236}">
                <a16:creationId xmlns:a16="http://schemas.microsoft.com/office/drawing/2014/main" id="{02290719-CA56-49CA-90A8-6EE3339D39E7}"/>
              </a:ext>
            </a:extLst>
          </p:cNvPr>
          <p:cNvSpPr>
            <a:spLocks noGrp="1"/>
          </p:cNvSpPr>
          <p:nvPr/>
        </p:nvSpPr>
        <p:spPr>
          <a:xfrm>
            <a:off x="1847850" y="3600450"/>
            <a:ext cx="1047750" cy="371475"/>
          </a:xfrm>
          <a:prstGeom prst="rect">
            <a:avLst/>
          </a:prstGeom>
          <a:solidFill>
            <a:srgbClr val="FFFFFF"/>
          </a:solidFill>
          <a:ln w="9525">
            <a:solidFill>
              <a:srgbClr val="DCE5E7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8" name="矩形 27">
            <a:extLst>
              <a:ext uri="{FF2B5EF4-FFF2-40B4-BE49-F238E27FC236}">
                <a16:creationId xmlns:a16="http://schemas.microsoft.com/office/drawing/2014/main" id="{C88CED7E-3D43-4398-B801-1D1772A014AA}"/>
              </a:ext>
            </a:extLst>
          </p:cNvPr>
          <p:cNvSpPr>
            <a:spLocks noGrp="1"/>
          </p:cNvSpPr>
          <p:nvPr/>
        </p:nvSpPr>
        <p:spPr>
          <a:xfrm>
            <a:off x="1924050" y="3667125"/>
            <a:ext cx="895350" cy="238125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848" b="0">
                <a:solidFill>
                  <a:srgbClr val="687A8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848" b="0">
                <a:solidFill>
                  <a:srgbClr val="687A84"/>
                </a:solidFill>
                <a:latin typeface="Microsoft YaHei"/>
                <a:ea typeface="Microsoft YaHei"/>
                <a:cs typeface="Microsoft YaHei"/>
              </a:rPr>
              <a:t>value</a:t>
            </a:r>
          </a:p>
        </p:txBody>
      </p:sp>
      <p:sp>
        <p:nvSpPr>
          <p:cNvPr id="29" name="矩形 28">
            <a:extLst>
              <a:ext uri="{FF2B5EF4-FFF2-40B4-BE49-F238E27FC236}">
                <a16:creationId xmlns:a16="http://schemas.microsoft.com/office/drawing/2014/main" id="{8EA708C8-06B6-4108-ABC4-52C6F60E0A55}"/>
              </a:ext>
            </a:extLst>
          </p:cNvPr>
          <p:cNvSpPr>
            <a:spLocks noGrp="1"/>
          </p:cNvSpPr>
          <p:nvPr/>
        </p:nvSpPr>
        <p:spPr>
          <a:xfrm>
            <a:off x="2895600" y="3600450"/>
            <a:ext cx="2571750" cy="371475"/>
          </a:xfrm>
          <a:prstGeom prst="rect">
            <a:avLst/>
          </a:prstGeom>
          <a:solidFill>
            <a:srgbClr val="FFFFFF"/>
          </a:solidFill>
          <a:ln w="9525">
            <a:solidFill>
              <a:srgbClr val="DCE5E7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30" name="矩形 29">
            <a:extLst>
              <a:ext uri="{FF2B5EF4-FFF2-40B4-BE49-F238E27FC236}">
                <a16:creationId xmlns:a16="http://schemas.microsoft.com/office/drawing/2014/main" id="{F0972391-CA52-49DA-BC19-09CC0FFFB924}"/>
              </a:ext>
            </a:extLst>
          </p:cNvPr>
          <p:cNvSpPr>
            <a:spLocks noGrp="1"/>
          </p:cNvSpPr>
          <p:nvPr/>
        </p:nvSpPr>
        <p:spPr>
          <a:xfrm>
            <a:off x="2971800" y="3667125"/>
            <a:ext cx="2419350" cy="238125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848" b="0">
                <a:solidFill>
                  <a:srgbClr val="687A8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848" b="0">
                <a:solidFill>
                  <a:srgbClr val="687A84"/>
                </a:solidFill>
                <a:latin typeface="Microsoft YaHei"/>
                <a:ea typeface="Microsoft YaHei"/>
                <a:cs typeface="Microsoft YaHei"/>
              </a:rPr>
              <a:t>显示波形值，0-120</a:t>
            </a:r>
          </a:p>
        </p:txBody>
      </p:sp>
      <p:sp>
        <p:nvSpPr>
          <p:cNvPr id="31" name="矩形 30">
            <a:extLst>
              <a:ext uri="{FF2B5EF4-FFF2-40B4-BE49-F238E27FC236}">
                <a16:creationId xmlns:a16="http://schemas.microsoft.com/office/drawing/2014/main" id="{8DDB0EDD-A23A-4501-9B80-EE6797ED57FD}"/>
              </a:ext>
            </a:extLst>
          </p:cNvPr>
          <p:cNvSpPr>
            <a:spLocks noGrp="1"/>
          </p:cNvSpPr>
          <p:nvPr/>
        </p:nvSpPr>
        <p:spPr>
          <a:xfrm>
            <a:off x="1181100" y="3971925"/>
            <a:ext cx="666750" cy="371475"/>
          </a:xfrm>
          <a:prstGeom prst="rect">
            <a:avLst/>
          </a:prstGeom>
          <a:solidFill>
            <a:srgbClr val="FFFFFF"/>
          </a:solidFill>
          <a:ln w="9525">
            <a:solidFill>
              <a:srgbClr val="DCE5E7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32" name="矩形 31">
            <a:extLst>
              <a:ext uri="{FF2B5EF4-FFF2-40B4-BE49-F238E27FC236}">
                <a16:creationId xmlns:a16="http://schemas.microsoft.com/office/drawing/2014/main" id="{81FB070E-ED3B-46FA-8EC1-E2A3CB64FB93}"/>
              </a:ext>
            </a:extLst>
          </p:cNvPr>
          <p:cNvSpPr>
            <a:spLocks noGrp="1"/>
          </p:cNvSpPr>
          <p:nvPr/>
        </p:nvSpPr>
        <p:spPr>
          <a:xfrm>
            <a:off x="1257300" y="4038600"/>
            <a:ext cx="514350" cy="238125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ctr">
              <a:defRPr sz="848" b="1">
                <a:solidFill>
                  <a:srgbClr val="17313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848" b="1">
                <a:solidFill>
                  <a:srgbClr val="17313B"/>
                </a:solidFill>
                <a:latin typeface="Microsoft YaHei"/>
                <a:ea typeface="Microsoft YaHei"/>
                <a:cs typeface="Microsoft YaHei"/>
              </a:rPr>
              <a:t>3</a:t>
            </a:r>
          </a:p>
        </p:txBody>
      </p:sp>
      <p:sp>
        <p:nvSpPr>
          <p:cNvPr id="33" name="矩形 32">
            <a:extLst>
              <a:ext uri="{FF2B5EF4-FFF2-40B4-BE49-F238E27FC236}">
                <a16:creationId xmlns:a16="http://schemas.microsoft.com/office/drawing/2014/main" id="{F60B2C25-FD46-435A-B47D-74956FAB1728}"/>
              </a:ext>
            </a:extLst>
          </p:cNvPr>
          <p:cNvSpPr>
            <a:spLocks noGrp="1"/>
          </p:cNvSpPr>
          <p:nvPr/>
        </p:nvSpPr>
        <p:spPr>
          <a:xfrm>
            <a:off x="1847850" y="3971925"/>
            <a:ext cx="1047750" cy="371475"/>
          </a:xfrm>
          <a:prstGeom prst="rect">
            <a:avLst/>
          </a:prstGeom>
          <a:solidFill>
            <a:srgbClr val="FFFFFF"/>
          </a:solidFill>
          <a:ln w="9525">
            <a:solidFill>
              <a:srgbClr val="DCE5E7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34" name="矩形 33">
            <a:extLst>
              <a:ext uri="{FF2B5EF4-FFF2-40B4-BE49-F238E27FC236}">
                <a16:creationId xmlns:a16="http://schemas.microsoft.com/office/drawing/2014/main" id="{3C146AE6-9705-47DF-83F8-D65E670AFE21}"/>
              </a:ext>
            </a:extLst>
          </p:cNvPr>
          <p:cNvSpPr>
            <a:spLocks noGrp="1"/>
          </p:cNvSpPr>
          <p:nvPr/>
        </p:nvSpPr>
        <p:spPr>
          <a:xfrm>
            <a:off x="1924050" y="4038600"/>
            <a:ext cx="895350" cy="238125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848" b="0">
                <a:solidFill>
                  <a:srgbClr val="687A8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848" b="0">
                <a:solidFill>
                  <a:srgbClr val="687A84"/>
                </a:solidFill>
                <a:latin typeface="Microsoft YaHei"/>
                <a:ea typeface="Microsoft YaHei"/>
                <a:cs typeface="Microsoft YaHei"/>
              </a:rPr>
              <a:t>flags</a:t>
            </a:r>
          </a:p>
        </p:txBody>
      </p:sp>
      <p:sp>
        <p:nvSpPr>
          <p:cNvPr id="35" name="矩形 34">
            <a:extLst>
              <a:ext uri="{FF2B5EF4-FFF2-40B4-BE49-F238E27FC236}">
                <a16:creationId xmlns:a16="http://schemas.microsoft.com/office/drawing/2014/main" id="{EC65C17B-2342-4A73-9817-9D73443FAB56}"/>
              </a:ext>
            </a:extLst>
          </p:cNvPr>
          <p:cNvSpPr>
            <a:spLocks noGrp="1"/>
          </p:cNvSpPr>
          <p:nvPr/>
        </p:nvSpPr>
        <p:spPr>
          <a:xfrm>
            <a:off x="2895600" y="3971925"/>
            <a:ext cx="2571750" cy="371475"/>
          </a:xfrm>
          <a:prstGeom prst="rect">
            <a:avLst/>
          </a:prstGeom>
          <a:solidFill>
            <a:srgbClr val="FFFFFF"/>
          </a:solidFill>
          <a:ln w="9525">
            <a:solidFill>
              <a:srgbClr val="DCE5E7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36" name="矩形 35">
            <a:extLst>
              <a:ext uri="{FF2B5EF4-FFF2-40B4-BE49-F238E27FC236}">
                <a16:creationId xmlns:a16="http://schemas.microsoft.com/office/drawing/2014/main" id="{10E0FF5B-F493-4AF5-8CD4-291DF2D145C4}"/>
              </a:ext>
            </a:extLst>
          </p:cNvPr>
          <p:cNvSpPr>
            <a:spLocks noGrp="1"/>
          </p:cNvSpPr>
          <p:nvPr/>
        </p:nvSpPr>
        <p:spPr>
          <a:xfrm>
            <a:off x="2971800" y="4038600"/>
            <a:ext cx="2419350" cy="238125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848" b="0">
                <a:solidFill>
                  <a:srgbClr val="687A8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848" b="0">
                <a:solidFill>
                  <a:srgbClr val="687A84"/>
                </a:solidFill>
                <a:latin typeface="Microsoft YaHei"/>
                <a:ea typeface="Microsoft YaHei"/>
                <a:cs typeface="Microsoft YaHei"/>
              </a:rPr>
              <a:t>bit0: fingerDetected</a:t>
            </a:r>
          </a:p>
        </p:txBody>
      </p:sp>
      <p:sp>
        <p:nvSpPr>
          <p:cNvPr id="37" name="矩形 36">
            <a:extLst>
              <a:ext uri="{FF2B5EF4-FFF2-40B4-BE49-F238E27FC236}">
                <a16:creationId xmlns:a16="http://schemas.microsoft.com/office/drawing/2014/main" id="{D904CB31-3A6D-48A3-A11B-F3C84A0E89F6}"/>
              </a:ext>
            </a:extLst>
          </p:cNvPr>
          <p:cNvSpPr>
            <a:spLocks noGrp="1"/>
          </p:cNvSpPr>
          <p:nvPr/>
        </p:nvSpPr>
        <p:spPr>
          <a:xfrm>
            <a:off x="6896100" y="2228850"/>
            <a:ext cx="4095750" cy="2667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350" b="1">
                <a:solidFill>
                  <a:srgbClr val="18C7A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18C7A3"/>
                </a:solidFill>
                <a:latin typeface="Microsoft YaHei"/>
                <a:ea typeface="Microsoft YaHei"/>
                <a:cs typeface="Microsoft YaHei"/>
              </a:rPr>
              <a:t>Metrics packet: 6 bytes</a:t>
            </a:r>
          </a:p>
        </p:txBody>
      </p:sp>
      <p:sp>
        <p:nvSpPr>
          <p:cNvPr id="38" name="矩形 37">
            <a:extLst>
              <a:ext uri="{FF2B5EF4-FFF2-40B4-BE49-F238E27FC236}">
                <a16:creationId xmlns:a16="http://schemas.microsoft.com/office/drawing/2014/main" id="{65762465-E05D-4B18-BBED-079000CA3CBE}"/>
              </a:ext>
            </a:extLst>
          </p:cNvPr>
          <p:cNvSpPr>
            <a:spLocks noGrp="1"/>
          </p:cNvSpPr>
          <p:nvPr/>
        </p:nvSpPr>
        <p:spPr>
          <a:xfrm>
            <a:off x="6896100" y="2571750"/>
            <a:ext cx="4286250" cy="285750"/>
          </a:xfrm>
          <a:prstGeom prst="rect">
            <a:avLst/>
          </a:prstGeom>
          <a:solidFill>
            <a:srgbClr val="18C7A3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39" name="矩形 38">
            <a:extLst>
              <a:ext uri="{FF2B5EF4-FFF2-40B4-BE49-F238E27FC236}">
                <a16:creationId xmlns:a16="http://schemas.microsoft.com/office/drawing/2014/main" id="{EF7D3F3F-712F-41FD-B8DC-3E9546C58312}"/>
              </a:ext>
            </a:extLst>
          </p:cNvPr>
          <p:cNvSpPr>
            <a:spLocks noGrp="1"/>
          </p:cNvSpPr>
          <p:nvPr/>
        </p:nvSpPr>
        <p:spPr>
          <a:xfrm>
            <a:off x="6972300" y="2628900"/>
            <a:ext cx="514350" cy="1714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ctr">
              <a:defRPr sz="863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863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Byte</a:t>
            </a:r>
          </a:p>
        </p:txBody>
      </p:sp>
      <p:sp>
        <p:nvSpPr>
          <p:cNvPr id="40" name="矩形 39">
            <a:extLst>
              <a:ext uri="{FF2B5EF4-FFF2-40B4-BE49-F238E27FC236}">
                <a16:creationId xmlns:a16="http://schemas.microsoft.com/office/drawing/2014/main" id="{24AC91DD-9B0C-4D04-B0D0-C193E5A75445}"/>
              </a:ext>
            </a:extLst>
          </p:cNvPr>
          <p:cNvSpPr>
            <a:spLocks noGrp="1"/>
          </p:cNvSpPr>
          <p:nvPr/>
        </p:nvSpPr>
        <p:spPr>
          <a:xfrm>
            <a:off x="7639050" y="2628900"/>
            <a:ext cx="895350" cy="1714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863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863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字段</a:t>
            </a:r>
          </a:p>
        </p:txBody>
      </p:sp>
      <p:sp>
        <p:nvSpPr>
          <p:cNvPr id="41" name="矩形 40">
            <a:extLst>
              <a:ext uri="{FF2B5EF4-FFF2-40B4-BE49-F238E27FC236}">
                <a16:creationId xmlns:a16="http://schemas.microsoft.com/office/drawing/2014/main" id="{5F59467A-C328-4D9A-8596-978251CD451A}"/>
              </a:ext>
            </a:extLst>
          </p:cNvPr>
          <p:cNvSpPr>
            <a:spLocks noGrp="1"/>
          </p:cNvSpPr>
          <p:nvPr/>
        </p:nvSpPr>
        <p:spPr>
          <a:xfrm>
            <a:off x="8686800" y="2628900"/>
            <a:ext cx="2419350" cy="1714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863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863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含义</a:t>
            </a:r>
          </a:p>
        </p:txBody>
      </p:sp>
      <p:sp>
        <p:nvSpPr>
          <p:cNvPr id="42" name="矩形 41">
            <a:extLst>
              <a:ext uri="{FF2B5EF4-FFF2-40B4-BE49-F238E27FC236}">
                <a16:creationId xmlns:a16="http://schemas.microsoft.com/office/drawing/2014/main" id="{9ACF5D87-3EEF-41C7-A8CC-63347A7A233E}"/>
              </a:ext>
            </a:extLst>
          </p:cNvPr>
          <p:cNvSpPr>
            <a:spLocks noGrp="1"/>
          </p:cNvSpPr>
          <p:nvPr/>
        </p:nvSpPr>
        <p:spPr>
          <a:xfrm>
            <a:off x="6896100" y="2857500"/>
            <a:ext cx="666750" cy="371475"/>
          </a:xfrm>
          <a:prstGeom prst="rect">
            <a:avLst/>
          </a:prstGeom>
          <a:solidFill>
            <a:srgbClr val="FFFFFF"/>
          </a:solidFill>
          <a:ln w="9525">
            <a:solidFill>
              <a:srgbClr val="DCE5E7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43" name="矩形 42">
            <a:extLst>
              <a:ext uri="{FF2B5EF4-FFF2-40B4-BE49-F238E27FC236}">
                <a16:creationId xmlns:a16="http://schemas.microsoft.com/office/drawing/2014/main" id="{AA2071B9-DA78-41C8-BB04-E2A13105D601}"/>
              </a:ext>
            </a:extLst>
          </p:cNvPr>
          <p:cNvSpPr>
            <a:spLocks noGrp="1"/>
          </p:cNvSpPr>
          <p:nvPr/>
        </p:nvSpPr>
        <p:spPr>
          <a:xfrm>
            <a:off x="6972300" y="2924175"/>
            <a:ext cx="514350" cy="238125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ctr">
              <a:defRPr sz="848" b="1">
                <a:solidFill>
                  <a:srgbClr val="17313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848" b="1">
                <a:solidFill>
                  <a:srgbClr val="17313B"/>
                </a:solidFill>
                <a:latin typeface="Microsoft YaHei"/>
                <a:ea typeface="Microsoft YaHei"/>
                <a:cs typeface="Microsoft YaHei"/>
              </a:rPr>
              <a:t>0</a:t>
            </a:r>
          </a:p>
        </p:txBody>
      </p:sp>
      <p:sp>
        <p:nvSpPr>
          <p:cNvPr id="44" name="矩形 43">
            <a:extLst>
              <a:ext uri="{FF2B5EF4-FFF2-40B4-BE49-F238E27FC236}">
                <a16:creationId xmlns:a16="http://schemas.microsoft.com/office/drawing/2014/main" id="{A54E50C0-55CD-48D2-ADA7-13A68D2BFC5C}"/>
              </a:ext>
            </a:extLst>
          </p:cNvPr>
          <p:cNvSpPr>
            <a:spLocks noGrp="1"/>
          </p:cNvSpPr>
          <p:nvPr/>
        </p:nvSpPr>
        <p:spPr>
          <a:xfrm>
            <a:off x="7562850" y="2857500"/>
            <a:ext cx="1047750" cy="371475"/>
          </a:xfrm>
          <a:prstGeom prst="rect">
            <a:avLst/>
          </a:prstGeom>
          <a:solidFill>
            <a:srgbClr val="FFFFFF"/>
          </a:solidFill>
          <a:ln w="9525">
            <a:solidFill>
              <a:srgbClr val="DCE5E7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45" name="矩形 44">
            <a:extLst>
              <a:ext uri="{FF2B5EF4-FFF2-40B4-BE49-F238E27FC236}">
                <a16:creationId xmlns:a16="http://schemas.microsoft.com/office/drawing/2014/main" id="{ADCD3742-DBE8-479A-8EA4-1F600A30D24C}"/>
              </a:ext>
            </a:extLst>
          </p:cNvPr>
          <p:cNvSpPr>
            <a:spLocks noGrp="1"/>
          </p:cNvSpPr>
          <p:nvPr/>
        </p:nvSpPr>
        <p:spPr>
          <a:xfrm>
            <a:off x="7639050" y="2924175"/>
            <a:ext cx="895350" cy="238125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848" b="0">
                <a:solidFill>
                  <a:srgbClr val="687A8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848" b="0">
                <a:solidFill>
                  <a:srgbClr val="687A84"/>
                </a:solidFill>
                <a:latin typeface="Microsoft YaHei"/>
                <a:ea typeface="Microsoft YaHei"/>
                <a:cs typeface="Microsoft YaHei"/>
              </a:rPr>
              <a:t>type</a:t>
            </a:r>
          </a:p>
        </p:txBody>
      </p:sp>
      <p:sp>
        <p:nvSpPr>
          <p:cNvPr id="46" name="矩形 45">
            <a:extLst>
              <a:ext uri="{FF2B5EF4-FFF2-40B4-BE49-F238E27FC236}">
                <a16:creationId xmlns:a16="http://schemas.microsoft.com/office/drawing/2014/main" id="{DE34E16B-9788-4640-BE3F-43B4CE16C6F1}"/>
              </a:ext>
            </a:extLst>
          </p:cNvPr>
          <p:cNvSpPr>
            <a:spLocks noGrp="1"/>
          </p:cNvSpPr>
          <p:nvPr/>
        </p:nvSpPr>
        <p:spPr>
          <a:xfrm>
            <a:off x="8610600" y="2857500"/>
            <a:ext cx="2571750" cy="371475"/>
          </a:xfrm>
          <a:prstGeom prst="rect">
            <a:avLst/>
          </a:prstGeom>
          <a:solidFill>
            <a:srgbClr val="FFFFFF"/>
          </a:solidFill>
          <a:ln w="9525">
            <a:solidFill>
              <a:srgbClr val="DCE5E7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47" name="矩形 46">
            <a:extLst>
              <a:ext uri="{FF2B5EF4-FFF2-40B4-BE49-F238E27FC236}">
                <a16:creationId xmlns:a16="http://schemas.microsoft.com/office/drawing/2014/main" id="{9CC525E1-AA33-4A91-973E-694D692A313A}"/>
              </a:ext>
            </a:extLst>
          </p:cNvPr>
          <p:cNvSpPr>
            <a:spLocks noGrp="1"/>
          </p:cNvSpPr>
          <p:nvPr/>
        </p:nvSpPr>
        <p:spPr>
          <a:xfrm>
            <a:off x="8686800" y="2924175"/>
            <a:ext cx="2419350" cy="238125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848" b="0">
                <a:solidFill>
                  <a:srgbClr val="687A8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848" b="0">
                <a:solidFill>
                  <a:srgbClr val="687A84"/>
                </a:solidFill>
                <a:latin typeface="Microsoft YaHei"/>
                <a:ea typeface="Microsoft YaHei"/>
                <a:cs typeface="Microsoft YaHei"/>
              </a:rPr>
              <a:t>固定 0x02</a:t>
            </a:r>
          </a:p>
        </p:txBody>
      </p:sp>
      <p:sp>
        <p:nvSpPr>
          <p:cNvPr id="48" name="矩形 47">
            <a:extLst>
              <a:ext uri="{FF2B5EF4-FFF2-40B4-BE49-F238E27FC236}">
                <a16:creationId xmlns:a16="http://schemas.microsoft.com/office/drawing/2014/main" id="{BCBE6C1C-8A8E-49C8-B495-C27FADDD7965}"/>
              </a:ext>
            </a:extLst>
          </p:cNvPr>
          <p:cNvSpPr>
            <a:spLocks noGrp="1"/>
          </p:cNvSpPr>
          <p:nvPr/>
        </p:nvSpPr>
        <p:spPr>
          <a:xfrm>
            <a:off x="6896100" y="3228975"/>
            <a:ext cx="666750" cy="371475"/>
          </a:xfrm>
          <a:prstGeom prst="rect">
            <a:avLst/>
          </a:prstGeom>
          <a:solidFill>
            <a:srgbClr val="FFFFFF"/>
          </a:solidFill>
          <a:ln w="9525">
            <a:solidFill>
              <a:srgbClr val="DCE5E7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49" name="矩形 48">
            <a:extLst>
              <a:ext uri="{FF2B5EF4-FFF2-40B4-BE49-F238E27FC236}">
                <a16:creationId xmlns:a16="http://schemas.microsoft.com/office/drawing/2014/main" id="{97ADFD54-599D-4790-8DC1-2FD203B30B0A}"/>
              </a:ext>
            </a:extLst>
          </p:cNvPr>
          <p:cNvSpPr>
            <a:spLocks noGrp="1"/>
          </p:cNvSpPr>
          <p:nvPr/>
        </p:nvSpPr>
        <p:spPr>
          <a:xfrm>
            <a:off x="6972300" y="3295650"/>
            <a:ext cx="514350" cy="238125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ctr">
              <a:defRPr sz="848" b="1">
                <a:solidFill>
                  <a:srgbClr val="17313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848" b="1">
                <a:solidFill>
                  <a:srgbClr val="17313B"/>
                </a:solidFill>
                <a:latin typeface="Microsoft YaHei"/>
                <a:ea typeface="Microsoft YaHei"/>
                <a:cs typeface="Microsoft YaHei"/>
              </a:rPr>
              <a:t>1-2</a:t>
            </a:r>
          </a:p>
        </p:txBody>
      </p:sp>
      <p:sp>
        <p:nvSpPr>
          <p:cNvPr id="50" name="矩形 49">
            <a:extLst>
              <a:ext uri="{FF2B5EF4-FFF2-40B4-BE49-F238E27FC236}">
                <a16:creationId xmlns:a16="http://schemas.microsoft.com/office/drawing/2014/main" id="{BEA6C8D0-2D89-437C-BD04-CB5E3FA68A6D}"/>
              </a:ext>
            </a:extLst>
          </p:cNvPr>
          <p:cNvSpPr>
            <a:spLocks noGrp="1"/>
          </p:cNvSpPr>
          <p:nvPr/>
        </p:nvSpPr>
        <p:spPr>
          <a:xfrm>
            <a:off x="7562850" y="3228975"/>
            <a:ext cx="1047750" cy="371475"/>
          </a:xfrm>
          <a:prstGeom prst="rect">
            <a:avLst/>
          </a:prstGeom>
          <a:solidFill>
            <a:srgbClr val="FFFFFF"/>
          </a:solidFill>
          <a:ln w="9525">
            <a:solidFill>
              <a:srgbClr val="DCE5E7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51" name="矩形 50">
            <a:extLst>
              <a:ext uri="{FF2B5EF4-FFF2-40B4-BE49-F238E27FC236}">
                <a16:creationId xmlns:a16="http://schemas.microsoft.com/office/drawing/2014/main" id="{EE0D52D2-3920-468A-AC45-B4C6A480F026}"/>
              </a:ext>
            </a:extLst>
          </p:cNvPr>
          <p:cNvSpPr>
            <a:spLocks noGrp="1"/>
          </p:cNvSpPr>
          <p:nvPr/>
        </p:nvSpPr>
        <p:spPr>
          <a:xfrm>
            <a:off x="7639050" y="3295650"/>
            <a:ext cx="895350" cy="238125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848" b="0">
                <a:solidFill>
                  <a:srgbClr val="687A8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848" b="0">
                <a:solidFill>
                  <a:srgbClr val="687A84"/>
                </a:solidFill>
                <a:latin typeface="Microsoft YaHei"/>
                <a:ea typeface="Microsoft YaHei"/>
                <a:cs typeface="Microsoft YaHei"/>
              </a:rPr>
              <a:t>bpm</a:t>
            </a:r>
          </a:p>
        </p:txBody>
      </p:sp>
      <p:sp>
        <p:nvSpPr>
          <p:cNvPr id="52" name="矩形 51">
            <a:extLst>
              <a:ext uri="{FF2B5EF4-FFF2-40B4-BE49-F238E27FC236}">
                <a16:creationId xmlns:a16="http://schemas.microsoft.com/office/drawing/2014/main" id="{D1680B86-AAA9-4DA4-91F9-979E81742C9F}"/>
              </a:ext>
            </a:extLst>
          </p:cNvPr>
          <p:cNvSpPr>
            <a:spLocks noGrp="1"/>
          </p:cNvSpPr>
          <p:nvPr/>
        </p:nvSpPr>
        <p:spPr>
          <a:xfrm>
            <a:off x="8610600" y="3228975"/>
            <a:ext cx="2571750" cy="371475"/>
          </a:xfrm>
          <a:prstGeom prst="rect">
            <a:avLst/>
          </a:prstGeom>
          <a:solidFill>
            <a:srgbClr val="FFFFFF"/>
          </a:solidFill>
          <a:ln w="9525">
            <a:solidFill>
              <a:srgbClr val="DCE5E7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53" name="矩形 52">
            <a:extLst>
              <a:ext uri="{FF2B5EF4-FFF2-40B4-BE49-F238E27FC236}">
                <a16:creationId xmlns:a16="http://schemas.microsoft.com/office/drawing/2014/main" id="{13114897-231A-4911-81E7-FC5F5D37B169}"/>
              </a:ext>
            </a:extLst>
          </p:cNvPr>
          <p:cNvSpPr>
            <a:spLocks noGrp="1"/>
          </p:cNvSpPr>
          <p:nvPr/>
        </p:nvSpPr>
        <p:spPr>
          <a:xfrm>
            <a:off x="8686800" y="3295650"/>
            <a:ext cx="2419350" cy="238125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848" b="0">
                <a:solidFill>
                  <a:srgbClr val="687A8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848" b="0">
                <a:solidFill>
                  <a:srgbClr val="687A84"/>
                </a:solidFill>
                <a:latin typeface="Microsoft YaHei"/>
                <a:ea typeface="Microsoft YaHei"/>
                <a:cs typeface="Microsoft YaHei"/>
              </a:rPr>
              <a:t>uint16 little-endian</a:t>
            </a:r>
          </a:p>
        </p:txBody>
      </p:sp>
      <p:sp>
        <p:nvSpPr>
          <p:cNvPr id="54" name="矩形 53">
            <a:extLst>
              <a:ext uri="{FF2B5EF4-FFF2-40B4-BE49-F238E27FC236}">
                <a16:creationId xmlns:a16="http://schemas.microsoft.com/office/drawing/2014/main" id="{91BC5F3F-90D8-4132-B61E-7A723A5AFC67}"/>
              </a:ext>
            </a:extLst>
          </p:cNvPr>
          <p:cNvSpPr>
            <a:spLocks noGrp="1"/>
          </p:cNvSpPr>
          <p:nvPr/>
        </p:nvSpPr>
        <p:spPr>
          <a:xfrm>
            <a:off x="6896100" y="3600450"/>
            <a:ext cx="666750" cy="371475"/>
          </a:xfrm>
          <a:prstGeom prst="rect">
            <a:avLst/>
          </a:prstGeom>
          <a:solidFill>
            <a:srgbClr val="FFFFFF"/>
          </a:solidFill>
          <a:ln w="9525">
            <a:solidFill>
              <a:srgbClr val="DCE5E7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55" name="矩形 54">
            <a:extLst>
              <a:ext uri="{FF2B5EF4-FFF2-40B4-BE49-F238E27FC236}">
                <a16:creationId xmlns:a16="http://schemas.microsoft.com/office/drawing/2014/main" id="{2C42562B-9CA3-4BDA-9775-99266616BE52}"/>
              </a:ext>
            </a:extLst>
          </p:cNvPr>
          <p:cNvSpPr>
            <a:spLocks noGrp="1"/>
          </p:cNvSpPr>
          <p:nvPr/>
        </p:nvSpPr>
        <p:spPr>
          <a:xfrm>
            <a:off x="6972300" y="3667125"/>
            <a:ext cx="514350" cy="238125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ctr">
              <a:defRPr sz="848" b="1">
                <a:solidFill>
                  <a:srgbClr val="17313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848" b="1">
                <a:solidFill>
                  <a:srgbClr val="17313B"/>
                </a:solidFill>
                <a:latin typeface="Microsoft YaHei"/>
                <a:ea typeface="Microsoft YaHei"/>
                <a:cs typeface="Microsoft YaHei"/>
              </a:rPr>
              <a:t>3</a:t>
            </a:r>
          </a:p>
        </p:txBody>
      </p:sp>
      <p:sp>
        <p:nvSpPr>
          <p:cNvPr id="56" name="矩形 55">
            <a:extLst>
              <a:ext uri="{FF2B5EF4-FFF2-40B4-BE49-F238E27FC236}">
                <a16:creationId xmlns:a16="http://schemas.microsoft.com/office/drawing/2014/main" id="{E718097A-7440-4E4F-BF37-4EB4B1ACC9E6}"/>
              </a:ext>
            </a:extLst>
          </p:cNvPr>
          <p:cNvSpPr>
            <a:spLocks noGrp="1"/>
          </p:cNvSpPr>
          <p:nvPr/>
        </p:nvSpPr>
        <p:spPr>
          <a:xfrm>
            <a:off x="7562850" y="3600450"/>
            <a:ext cx="1047750" cy="371475"/>
          </a:xfrm>
          <a:prstGeom prst="rect">
            <a:avLst/>
          </a:prstGeom>
          <a:solidFill>
            <a:srgbClr val="FFFFFF"/>
          </a:solidFill>
          <a:ln w="9525">
            <a:solidFill>
              <a:srgbClr val="DCE5E7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57" name="矩形 56">
            <a:extLst>
              <a:ext uri="{FF2B5EF4-FFF2-40B4-BE49-F238E27FC236}">
                <a16:creationId xmlns:a16="http://schemas.microsoft.com/office/drawing/2014/main" id="{E8E978D3-4413-4ABC-BEF3-ED1F6D87AFB4}"/>
              </a:ext>
            </a:extLst>
          </p:cNvPr>
          <p:cNvSpPr>
            <a:spLocks noGrp="1"/>
          </p:cNvSpPr>
          <p:nvPr/>
        </p:nvSpPr>
        <p:spPr>
          <a:xfrm>
            <a:off x="7639050" y="3667125"/>
            <a:ext cx="895350" cy="238125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848" b="0">
                <a:solidFill>
                  <a:srgbClr val="687A8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848" b="0">
                <a:solidFill>
                  <a:srgbClr val="687A84"/>
                </a:solidFill>
                <a:latin typeface="Microsoft YaHei"/>
                <a:ea typeface="Microsoft YaHei"/>
                <a:cs typeface="Microsoft YaHei"/>
              </a:rPr>
              <a:t>spo2</a:t>
            </a:r>
          </a:p>
        </p:txBody>
      </p:sp>
      <p:sp>
        <p:nvSpPr>
          <p:cNvPr id="58" name="矩形 57">
            <a:extLst>
              <a:ext uri="{FF2B5EF4-FFF2-40B4-BE49-F238E27FC236}">
                <a16:creationId xmlns:a16="http://schemas.microsoft.com/office/drawing/2014/main" id="{F2CEFB3C-85F9-4E80-8527-C0B5A929594A}"/>
              </a:ext>
            </a:extLst>
          </p:cNvPr>
          <p:cNvSpPr>
            <a:spLocks noGrp="1"/>
          </p:cNvSpPr>
          <p:nvPr/>
        </p:nvSpPr>
        <p:spPr>
          <a:xfrm>
            <a:off x="8610600" y="3600450"/>
            <a:ext cx="2571750" cy="371475"/>
          </a:xfrm>
          <a:prstGeom prst="rect">
            <a:avLst/>
          </a:prstGeom>
          <a:solidFill>
            <a:srgbClr val="FFFFFF"/>
          </a:solidFill>
          <a:ln w="9525">
            <a:solidFill>
              <a:srgbClr val="DCE5E7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59" name="矩形 58">
            <a:extLst>
              <a:ext uri="{FF2B5EF4-FFF2-40B4-BE49-F238E27FC236}">
                <a16:creationId xmlns:a16="http://schemas.microsoft.com/office/drawing/2014/main" id="{818DBCE9-D7F4-4C78-A399-C2499D553036}"/>
              </a:ext>
            </a:extLst>
          </p:cNvPr>
          <p:cNvSpPr>
            <a:spLocks noGrp="1"/>
          </p:cNvSpPr>
          <p:nvPr/>
        </p:nvSpPr>
        <p:spPr>
          <a:xfrm>
            <a:off x="8686800" y="3667125"/>
            <a:ext cx="2419350" cy="238125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848" b="0">
                <a:solidFill>
                  <a:srgbClr val="687A8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848" b="0">
                <a:solidFill>
                  <a:srgbClr val="687A84"/>
                </a:solidFill>
                <a:latin typeface="Microsoft YaHei"/>
                <a:ea typeface="Microsoft YaHei"/>
                <a:cs typeface="Microsoft YaHei"/>
              </a:rPr>
              <a:t>uint8, 0-100</a:t>
            </a:r>
          </a:p>
        </p:txBody>
      </p:sp>
      <p:sp>
        <p:nvSpPr>
          <p:cNvPr id="60" name="矩形 59">
            <a:extLst>
              <a:ext uri="{FF2B5EF4-FFF2-40B4-BE49-F238E27FC236}">
                <a16:creationId xmlns:a16="http://schemas.microsoft.com/office/drawing/2014/main" id="{8E3046AB-6ACD-4022-98E5-571D2D12DB59}"/>
              </a:ext>
            </a:extLst>
          </p:cNvPr>
          <p:cNvSpPr>
            <a:spLocks noGrp="1"/>
          </p:cNvSpPr>
          <p:nvPr/>
        </p:nvSpPr>
        <p:spPr>
          <a:xfrm>
            <a:off x="6896100" y="3971925"/>
            <a:ext cx="666750" cy="371475"/>
          </a:xfrm>
          <a:prstGeom prst="rect">
            <a:avLst/>
          </a:prstGeom>
          <a:solidFill>
            <a:srgbClr val="FFFFFF"/>
          </a:solidFill>
          <a:ln w="9525">
            <a:solidFill>
              <a:srgbClr val="DCE5E7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61" name="矩形 60">
            <a:extLst>
              <a:ext uri="{FF2B5EF4-FFF2-40B4-BE49-F238E27FC236}">
                <a16:creationId xmlns:a16="http://schemas.microsoft.com/office/drawing/2014/main" id="{C2A4F38C-AAC3-4D0E-BFC6-6160FE7B0B16}"/>
              </a:ext>
            </a:extLst>
          </p:cNvPr>
          <p:cNvSpPr>
            <a:spLocks noGrp="1"/>
          </p:cNvSpPr>
          <p:nvPr/>
        </p:nvSpPr>
        <p:spPr>
          <a:xfrm>
            <a:off x="6972300" y="4038600"/>
            <a:ext cx="514350" cy="238125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ctr">
              <a:defRPr sz="848" b="1">
                <a:solidFill>
                  <a:srgbClr val="17313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848" b="1">
                <a:solidFill>
                  <a:srgbClr val="17313B"/>
                </a:solidFill>
                <a:latin typeface="Microsoft YaHei"/>
                <a:ea typeface="Microsoft YaHei"/>
                <a:cs typeface="Microsoft YaHei"/>
              </a:rPr>
              <a:t>4</a:t>
            </a:r>
          </a:p>
        </p:txBody>
      </p:sp>
      <p:sp>
        <p:nvSpPr>
          <p:cNvPr id="62" name="矩形 61">
            <a:extLst>
              <a:ext uri="{FF2B5EF4-FFF2-40B4-BE49-F238E27FC236}">
                <a16:creationId xmlns:a16="http://schemas.microsoft.com/office/drawing/2014/main" id="{AFFDCDBF-D6C0-4C40-9A59-75F8F81D67AC}"/>
              </a:ext>
            </a:extLst>
          </p:cNvPr>
          <p:cNvSpPr>
            <a:spLocks noGrp="1"/>
          </p:cNvSpPr>
          <p:nvPr/>
        </p:nvSpPr>
        <p:spPr>
          <a:xfrm>
            <a:off x="7562850" y="3971925"/>
            <a:ext cx="1047750" cy="371475"/>
          </a:xfrm>
          <a:prstGeom prst="rect">
            <a:avLst/>
          </a:prstGeom>
          <a:solidFill>
            <a:srgbClr val="FFFFFF"/>
          </a:solidFill>
          <a:ln w="9525">
            <a:solidFill>
              <a:srgbClr val="DCE5E7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63" name="矩形 62">
            <a:extLst>
              <a:ext uri="{FF2B5EF4-FFF2-40B4-BE49-F238E27FC236}">
                <a16:creationId xmlns:a16="http://schemas.microsoft.com/office/drawing/2014/main" id="{564782EA-54C9-409E-BDBD-30CB86460114}"/>
              </a:ext>
            </a:extLst>
          </p:cNvPr>
          <p:cNvSpPr>
            <a:spLocks noGrp="1"/>
          </p:cNvSpPr>
          <p:nvPr/>
        </p:nvSpPr>
        <p:spPr>
          <a:xfrm>
            <a:off x="7639050" y="4038600"/>
            <a:ext cx="895350" cy="238125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848" b="0">
                <a:solidFill>
                  <a:srgbClr val="687A8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848" b="0">
                <a:solidFill>
                  <a:srgbClr val="687A84"/>
                </a:solidFill>
                <a:latin typeface="Microsoft YaHei"/>
                <a:ea typeface="Microsoft YaHei"/>
                <a:cs typeface="Microsoft YaHei"/>
              </a:rPr>
              <a:t>flags</a:t>
            </a:r>
          </a:p>
        </p:txBody>
      </p:sp>
      <p:sp>
        <p:nvSpPr>
          <p:cNvPr id="64" name="矩形 63">
            <a:extLst>
              <a:ext uri="{FF2B5EF4-FFF2-40B4-BE49-F238E27FC236}">
                <a16:creationId xmlns:a16="http://schemas.microsoft.com/office/drawing/2014/main" id="{D40344AA-1A30-4EC3-8045-B96556E61342}"/>
              </a:ext>
            </a:extLst>
          </p:cNvPr>
          <p:cNvSpPr>
            <a:spLocks noGrp="1"/>
          </p:cNvSpPr>
          <p:nvPr/>
        </p:nvSpPr>
        <p:spPr>
          <a:xfrm>
            <a:off x="8610600" y="3971925"/>
            <a:ext cx="2571750" cy="371475"/>
          </a:xfrm>
          <a:prstGeom prst="rect">
            <a:avLst/>
          </a:prstGeom>
          <a:solidFill>
            <a:srgbClr val="FFFFFF"/>
          </a:solidFill>
          <a:ln w="9525">
            <a:solidFill>
              <a:srgbClr val="DCE5E7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65" name="矩形 64">
            <a:extLst>
              <a:ext uri="{FF2B5EF4-FFF2-40B4-BE49-F238E27FC236}">
                <a16:creationId xmlns:a16="http://schemas.microsoft.com/office/drawing/2014/main" id="{658CD5D4-60CC-44AD-8009-D40C9EFD002F}"/>
              </a:ext>
            </a:extLst>
          </p:cNvPr>
          <p:cNvSpPr>
            <a:spLocks noGrp="1"/>
          </p:cNvSpPr>
          <p:nvPr/>
        </p:nvSpPr>
        <p:spPr>
          <a:xfrm>
            <a:off x="8686800" y="4038600"/>
            <a:ext cx="2419350" cy="238125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848" b="0">
                <a:solidFill>
                  <a:srgbClr val="687A8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848" b="0">
                <a:solidFill>
                  <a:srgbClr val="687A84"/>
                </a:solidFill>
                <a:latin typeface="Microsoft YaHei"/>
                <a:ea typeface="Microsoft YaHei"/>
                <a:cs typeface="Microsoft YaHei"/>
              </a:rPr>
              <a:t>bit0 手指；bit1 指标有效</a:t>
            </a:r>
          </a:p>
        </p:txBody>
      </p:sp>
      <p:sp>
        <p:nvSpPr>
          <p:cNvPr id="66" name="矩形 65">
            <a:extLst>
              <a:ext uri="{FF2B5EF4-FFF2-40B4-BE49-F238E27FC236}">
                <a16:creationId xmlns:a16="http://schemas.microsoft.com/office/drawing/2014/main" id="{2558DD50-1AB0-44DB-BE83-8384009741AD}"/>
              </a:ext>
            </a:extLst>
          </p:cNvPr>
          <p:cNvSpPr>
            <a:spLocks noGrp="1"/>
          </p:cNvSpPr>
          <p:nvPr/>
        </p:nvSpPr>
        <p:spPr>
          <a:xfrm>
            <a:off x="6896100" y="4343400"/>
            <a:ext cx="666750" cy="371475"/>
          </a:xfrm>
          <a:prstGeom prst="rect">
            <a:avLst/>
          </a:prstGeom>
          <a:solidFill>
            <a:srgbClr val="FFFFFF"/>
          </a:solidFill>
          <a:ln w="9525">
            <a:solidFill>
              <a:srgbClr val="DCE5E7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67" name="矩形 66">
            <a:extLst>
              <a:ext uri="{FF2B5EF4-FFF2-40B4-BE49-F238E27FC236}">
                <a16:creationId xmlns:a16="http://schemas.microsoft.com/office/drawing/2014/main" id="{97191B68-79E0-41E6-862E-26A19A02E2A9}"/>
              </a:ext>
            </a:extLst>
          </p:cNvPr>
          <p:cNvSpPr>
            <a:spLocks noGrp="1"/>
          </p:cNvSpPr>
          <p:nvPr/>
        </p:nvSpPr>
        <p:spPr>
          <a:xfrm>
            <a:off x="6972300" y="4410075"/>
            <a:ext cx="514350" cy="238125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ctr">
              <a:defRPr sz="848" b="1">
                <a:solidFill>
                  <a:srgbClr val="17313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848" b="1">
                <a:solidFill>
                  <a:srgbClr val="17313B"/>
                </a:solidFill>
                <a:latin typeface="Microsoft YaHei"/>
                <a:ea typeface="Microsoft YaHei"/>
                <a:cs typeface="Microsoft YaHei"/>
              </a:rPr>
              <a:t>5</a:t>
            </a:r>
          </a:p>
        </p:txBody>
      </p:sp>
      <p:sp>
        <p:nvSpPr>
          <p:cNvPr id="68" name="矩形 67">
            <a:extLst>
              <a:ext uri="{FF2B5EF4-FFF2-40B4-BE49-F238E27FC236}">
                <a16:creationId xmlns:a16="http://schemas.microsoft.com/office/drawing/2014/main" id="{F1EF7385-9B5E-4078-8CE7-09DB67D920BF}"/>
              </a:ext>
            </a:extLst>
          </p:cNvPr>
          <p:cNvSpPr>
            <a:spLocks noGrp="1"/>
          </p:cNvSpPr>
          <p:nvPr/>
        </p:nvSpPr>
        <p:spPr>
          <a:xfrm>
            <a:off x="7562850" y="4343400"/>
            <a:ext cx="1047750" cy="371475"/>
          </a:xfrm>
          <a:prstGeom prst="rect">
            <a:avLst/>
          </a:prstGeom>
          <a:solidFill>
            <a:srgbClr val="FFFFFF"/>
          </a:solidFill>
          <a:ln w="9525">
            <a:solidFill>
              <a:srgbClr val="DCE5E7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69" name="矩形 68">
            <a:extLst>
              <a:ext uri="{FF2B5EF4-FFF2-40B4-BE49-F238E27FC236}">
                <a16:creationId xmlns:a16="http://schemas.microsoft.com/office/drawing/2014/main" id="{59DF9EF3-FE98-4377-A146-A2F1AEAA9801}"/>
              </a:ext>
            </a:extLst>
          </p:cNvPr>
          <p:cNvSpPr>
            <a:spLocks noGrp="1"/>
          </p:cNvSpPr>
          <p:nvPr/>
        </p:nvSpPr>
        <p:spPr>
          <a:xfrm>
            <a:off x="7639050" y="4410075"/>
            <a:ext cx="895350" cy="238125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848" b="0">
                <a:solidFill>
                  <a:srgbClr val="687A8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848" b="0">
                <a:solidFill>
                  <a:srgbClr val="687A84"/>
                </a:solidFill>
                <a:latin typeface="Microsoft YaHei"/>
                <a:ea typeface="Microsoft YaHei"/>
                <a:cs typeface="Microsoft YaHei"/>
              </a:rPr>
              <a:t>seq</a:t>
            </a:r>
          </a:p>
        </p:txBody>
      </p:sp>
      <p:sp>
        <p:nvSpPr>
          <p:cNvPr id="70" name="矩形 69">
            <a:extLst>
              <a:ext uri="{FF2B5EF4-FFF2-40B4-BE49-F238E27FC236}">
                <a16:creationId xmlns:a16="http://schemas.microsoft.com/office/drawing/2014/main" id="{46D51EAA-A724-4027-A207-52FAC9BE4F3E}"/>
              </a:ext>
            </a:extLst>
          </p:cNvPr>
          <p:cNvSpPr>
            <a:spLocks noGrp="1"/>
          </p:cNvSpPr>
          <p:nvPr/>
        </p:nvSpPr>
        <p:spPr>
          <a:xfrm>
            <a:off x="8610600" y="4343400"/>
            <a:ext cx="2571750" cy="371475"/>
          </a:xfrm>
          <a:prstGeom prst="rect">
            <a:avLst/>
          </a:prstGeom>
          <a:solidFill>
            <a:srgbClr val="FFFFFF"/>
          </a:solidFill>
          <a:ln w="9525">
            <a:solidFill>
              <a:srgbClr val="DCE5E7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71" name="矩形 70">
            <a:extLst>
              <a:ext uri="{FF2B5EF4-FFF2-40B4-BE49-F238E27FC236}">
                <a16:creationId xmlns:a16="http://schemas.microsoft.com/office/drawing/2014/main" id="{8FFCF0C7-4333-4F3A-A718-4137907CC02D}"/>
              </a:ext>
            </a:extLst>
          </p:cNvPr>
          <p:cNvSpPr>
            <a:spLocks noGrp="1"/>
          </p:cNvSpPr>
          <p:nvPr/>
        </p:nvSpPr>
        <p:spPr>
          <a:xfrm>
            <a:off x="8686800" y="4410075"/>
            <a:ext cx="2419350" cy="238125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848" b="0">
                <a:solidFill>
                  <a:srgbClr val="687A8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848" b="0">
                <a:solidFill>
                  <a:srgbClr val="687A84"/>
                </a:solidFill>
                <a:latin typeface="Microsoft YaHei"/>
                <a:ea typeface="Microsoft YaHei"/>
                <a:cs typeface="Microsoft YaHei"/>
              </a:rPr>
              <a:t>当前波形序号</a:t>
            </a:r>
          </a:p>
        </p:txBody>
      </p:sp>
      <p:sp>
        <p:nvSpPr>
          <p:cNvPr id="72" name="矩形 71">
            <a:extLst>
              <a:ext uri="{FF2B5EF4-FFF2-40B4-BE49-F238E27FC236}">
                <a16:creationId xmlns:a16="http://schemas.microsoft.com/office/drawing/2014/main" id="{ADEB582D-AF0D-46E7-A34D-D01CCFCE16C3}"/>
              </a:ext>
            </a:extLst>
          </p:cNvPr>
          <p:cNvSpPr>
            <a:spLocks noGrp="1"/>
          </p:cNvSpPr>
          <p:nvPr/>
        </p:nvSpPr>
        <p:spPr>
          <a:xfrm>
            <a:off x="3886200" y="5581650"/>
            <a:ext cx="4419600" cy="323850"/>
          </a:xfrm>
          <a:prstGeom prst="rect">
            <a:avLst/>
          </a:prstGeom>
          <a:solidFill>
            <a:srgbClr val="FFF1EF"/>
          </a:solidFill>
          <a:ln w="13335">
            <a:solidFill>
              <a:srgbClr val="D9514E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73" name="矩形 72">
            <a:extLst>
              <a:ext uri="{FF2B5EF4-FFF2-40B4-BE49-F238E27FC236}">
                <a16:creationId xmlns:a16="http://schemas.microsoft.com/office/drawing/2014/main" id="{EA16AD15-BCDE-4F3F-A5D7-8B4CBE389E89}"/>
              </a:ext>
            </a:extLst>
          </p:cNvPr>
          <p:cNvSpPr>
            <a:spLocks noGrp="1"/>
          </p:cNvSpPr>
          <p:nvPr/>
        </p:nvSpPr>
        <p:spPr>
          <a:xfrm>
            <a:off x="3981450" y="5629275"/>
            <a:ext cx="422910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ctr"/>
          <a:lstStyle/>
          <a:p>
            <a:pPr algn="ctr">
              <a:defRPr sz="1013" b="1">
                <a:solidFill>
                  <a:srgbClr val="D9514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13" b="1">
                <a:solidFill>
                  <a:srgbClr val="D9514E"/>
                </a:solidFill>
                <a:latin typeface="Microsoft YaHei"/>
                <a:ea typeface="Microsoft YaHei"/>
                <a:cs typeface="Microsoft YaHei"/>
              </a:rPr>
              <a:t>二进制包比 JSON 更短，更适合高频 notify</a:t>
            </a:r>
          </a:p>
        </p:txBody>
      </p:sp>
    </p:spTree>
    <p:extLst>
      <p:ext uri="{BB962C8B-B14F-4D97-AF65-F5344CB8AC3E}">
        <p14:creationId xmlns:p14="http://schemas.microsoft.com/office/powerpoint/2010/main" val="819501609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矩形 41">
            <a:extLst>
              <a:ext uri="{FF2B5EF4-FFF2-40B4-BE49-F238E27FC236}">
                <a16:creationId xmlns:a16="http://schemas.microsoft.com/office/drawing/2014/main" id="{1F5ECA22-5B4E-4E68-96D1-495D62102AC7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6F3EA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" name="矩形 1">
            <a:extLst>
              <a:ext uri="{FF2B5EF4-FFF2-40B4-BE49-F238E27FC236}">
                <a16:creationId xmlns:a16="http://schemas.microsoft.com/office/drawing/2014/main" id="{C1A16EF2-5DC9-41CD-B868-3C2786283B66}"/>
              </a:ext>
            </a:extLst>
          </p:cNvPr>
          <p:cNvSpPr>
            <a:spLocks noGrp="1"/>
          </p:cNvSpPr>
          <p:nvPr/>
        </p:nvSpPr>
        <p:spPr>
          <a:xfrm>
            <a:off x="419100" y="323850"/>
            <a:ext cx="95250" cy="190500"/>
          </a:xfrm>
          <a:prstGeom prst="rect">
            <a:avLst/>
          </a:prstGeom>
          <a:solidFill>
            <a:srgbClr val="22A6C7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1594D984-0EEB-4713-8ED5-A08AAE9E3D7C}"/>
              </a:ext>
            </a:extLst>
          </p:cNvPr>
          <p:cNvSpPr>
            <a:spLocks noGrp="1"/>
          </p:cNvSpPr>
          <p:nvPr/>
        </p:nvSpPr>
        <p:spPr>
          <a:xfrm>
            <a:off x="590550" y="266700"/>
            <a:ext cx="4095750" cy="3238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ctr"/>
          <a:lstStyle/>
          <a:p>
            <a:pPr algn="l">
              <a:defRPr sz="1125" b="1">
                <a:solidFill>
                  <a:srgbClr val="687A8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1">
                <a:solidFill>
                  <a:srgbClr val="687A84"/>
                </a:solidFill>
                <a:latin typeface="Microsoft YaHei"/>
                <a:ea typeface="Microsoft YaHei"/>
                <a:cs typeface="Microsoft YaHei"/>
              </a:rPr>
              <a:t>ARDUINO SETUP</a:t>
            </a:r>
          </a:p>
        </p:txBody>
      </p:sp>
      <p:sp>
        <p:nvSpPr>
          <p:cNvPr id="4" name="矩形 3">
            <a:extLst>
              <a:ext uri="{FF2B5EF4-FFF2-40B4-BE49-F238E27FC236}">
                <a16:creationId xmlns:a16="http://schemas.microsoft.com/office/drawing/2014/main" id="{1C022591-CDAE-4EE6-AD9A-852F32633F00}"/>
              </a:ext>
            </a:extLst>
          </p:cNvPr>
          <p:cNvSpPr>
            <a:spLocks noGrp="1"/>
          </p:cNvSpPr>
          <p:nvPr/>
        </p:nvSpPr>
        <p:spPr>
          <a:xfrm>
            <a:off x="419100" y="685800"/>
            <a:ext cx="10763250" cy="7810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2400" b="1">
                <a:solidFill>
                  <a:srgbClr val="17313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400" b="1">
                <a:solidFill>
                  <a:srgbClr val="17313B"/>
                </a:solidFill>
                <a:latin typeface="Microsoft YaHei"/>
                <a:ea typeface="Microsoft YaHei"/>
                <a:cs typeface="Microsoft YaHei"/>
              </a:rPr>
              <a:t>NimBLE-Arduino 负责把 ESP32 发布成可订阅的 BLE 外设。</a:t>
            </a:r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691FE984-CCF8-41F0-B656-287473ACF101}"/>
              </a:ext>
            </a:extLst>
          </p:cNvPr>
          <p:cNvSpPr>
            <a:spLocks noGrp="1"/>
          </p:cNvSpPr>
          <p:nvPr/>
        </p:nvSpPr>
        <p:spPr>
          <a:xfrm>
            <a:off x="419100" y="6438900"/>
            <a:ext cx="8572500" cy="9525"/>
          </a:xfrm>
          <a:prstGeom prst="rect">
            <a:avLst/>
          </a:prstGeom>
          <a:solidFill>
            <a:srgbClr val="D6DEE1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6" name="矩形 5">
            <a:extLst>
              <a:ext uri="{FF2B5EF4-FFF2-40B4-BE49-F238E27FC236}">
                <a16:creationId xmlns:a16="http://schemas.microsoft.com/office/drawing/2014/main" id="{D8A0982A-823C-4653-A76D-0190FDB5ABFC}"/>
              </a:ext>
            </a:extLst>
          </p:cNvPr>
          <p:cNvSpPr>
            <a:spLocks noGrp="1"/>
          </p:cNvSpPr>
          <p:nvPr/>
        </p:nvSpPr>
        <p:spPr>
          <a:xfrm>
            <a:off x="419100" y="6515100"/>
            <a:ext cx="8572500" cy="1905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675" b="0">
                <a:solidFill>
                  <a:srgbClr val="7C8A9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675" b="0">
                <a:solidFill>
                  <a:srgbClr val="7C8A90"/>
                </a:solidFill>
                <a:latin typeface="Microsoft YaHei"/>
                <a:ea typeface="Microsoft YaHei"/>
                <a:cs typeface="Microsoft YaHei"/>
              </a:rPr>
              <a:t>Source: Arduino / WeChat Mini Program source code; WeChat Mini Program BLE API docs</a:t>
            </a:r>
          </a:p>
        </p:txBody>
      </p:sp>
      <p:sp>
        <p:nvSpPr>
          <p:cNvPr id="7" name="矩形 6">
            <a:extLst>
              <a:ext uri="{FF2B5EF4-FFF2-40B4-BE49-F238E27FC236}">
                <a16:creationId xmlns:a16="http://schemas.microsoft.com/office/drawing/2014/main" id="{68E1D026-8174-45E5-A1A7-E8A5AA021149}"/>
              </a:ext>
            </a:extLst>
          </p:cNvPr>
          <p:cNvSpPr>
            <a:spLocks noGrp="1"/>
          </p:cNvSpPr>
          <p:nvPr/>
        </p:nvSpPr>
        <p:spPr>
          <a:xfrm>
            <a:off x="11334750" y="6496050"/>
            <a:ext cx="419100" cy="2095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r">
              <a:defRPr sz="825" b="0">
                <a:solidFill>
                  <a:srgbClr val="7C8A9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825" b="0">
                <a:solidFill>
                  <a:srgbClr val="7C8A90"/>
                </a:solidFill>
                <a:latin typeface="Microsoft YaHei"/>
                <a:ea typeface="Microsoft YaHei"/>
                <a:cs typeface="Microsoft YaHei"/>
              </a:rPr>
              <a:t>12</a:t>
            </a:r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5140AF30-5E80-4BC5-88C3-09A4E2B65722}"/>
              </a:ext>
            </a:extLst>
          </p:cNvPr>
          <p:cNvSpPr>
            <a:spLocks noGrp="1"/>
          </p:cNvSpPr>
          <p:nvPr/>
        </p:nvSpPr>
        <p:spPr>
          <a:xfrm>
            <a:off x="609600" y="1962150"/>
            <a:ext cx="5238750" cy="3238500"/>
          </a:xfrm>
          <a:prstGeom prst="rect">
            <a:avLst/>
          </a:prstGeom>
          <a:solidFill>
            <a:srgbClr val="0E1F28"/>
          </a:solidFill>
          <a:ln w="9525">
            <a:solidFill>
              <a:srgbClr val="1C3943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18093958-92F4-4334-8F98-ECFC473C5123}"/>
              </a:ext>
            </a:extLst>
          </p:cNvPr>
          <p:cNvSpPr>
            <a:spLocks noGrp="1"/>
          </p:cNvSpPr>
          <p:nvPr/>
        </p:nvSpPr>
        <p:spPr>
          <a:xfrm>
            <a:off x="781050" y="2076450"/>
            <a:ext cx="4895850" cy="2095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938" b="0">
                <a:solidFill>
                  <a:srgbClr val="EAF4F6"/>
                </a:solidFill>
                <a:latin typeface="Consolas"/>
                <a:ea typeface="Consolas"/>
                <a:cs typeface="Consolas"/>
              </a:defRPr>
            </a:pPr>
            <a:r>
              <a:rPr sz="938" b="0">
                <a:solidFill>
                  <a:srgbClr val="EAF4F6"/>
                </a:solidFill>
                <a:latin typeface="Consolas"/>
                <a:ea typeface="Consolas"/>
                <a:cs typeface="Consolas"/>
              </a:rPr>
              <a:t>#include &lt;NimBLEDevice.h&gt;</a:t>
            </a:r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355BFF11-726E-4FB8-A0D0-8E0916FE3B80}"/>
              </a:ext>
            </a:extLst>
          </p:cNvPr>
          <p:cNvSpPr>
            <a:spLocks noGrp="1"/>
          </p:cNvSpPr>
          <p:nvPr/>
        </p:nvSpPr>
        <p:spPr>
          <a:xfrm>
            <a:off x="704850" y="2266950"/>
            <a:ext cx="5048250" cy="209550"/>
          </a:xfrm>
          <a:prstGeom prst="rect">
            <a:avLst/>
          </a:prstGeom>
          <a:solidFill>
            <a:srgbClr val="173A47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1" name="矩形 10">
            <a:extLst>
              <a:ext uri="{FF2B5EF4-FFF2-40B4-BE49-F238E27FC236}">
                <a16:creationId xmlns:a16="http://schemas.microsoft.com/office/drawing/2014/main" id="{84B25DCE-D4B2-4E75-88F8-7CD5CF56759F}"/>
              </a:ext>
            </a:extLst>
          </p:cNvPr>
          <p:cNvSpPr>
            <a:spLocks noGrp="1"/>
          </p:cNvSpPr>
          <p:nvPr/>
        </p:nvSpPr>
        <p:spPr>
          <a:xfrm>
            <a:off x="781050" y="2286000"/>
            <a:ext cx="4895850" cy="2095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938" b="0">
                <a:solidFill>
                  <a:srgbClr val="EAF4F6"/>
                </a:solidFill>
                <a:latin typeface="Consolas"/>
                <a:ea typeface="Consolas"/>
                <a:cs typeface="Consolas"/>
              </a:defRPr>
            </a:pPr>
            <a:r>
              <a:rPr sz="938" b="0">
                <a:solidFill>
                  <a:srgbClr val="EAF4F6"/>
                </a:solidFill>
                <a:latin typeface="Consolas"/>
                <a:ea typeface="Consolas"/>
                <a:cs typeface="Consolas"/>
              </a:rPr>
              <a:t>const char *kBleDeviceName = "ESP32-PulseOX";</a:t>
            </a:r>
          </a:p>
        </p:txBody>
      </p:sp>
      <p:sp>
        <p:nvSpPr>
          <p:cNvPr id="12" name="矩形 11">
            <a:extLst>
              <a:ext uri="{FF2B5EF4-FFF2-40B4-BE49-F238E27FC236}">
                <a16:creationId xmlns:a16="http://schemas.microsoft.com/office/drawing/2014/main" id="{2509CCC5-C40C-4CA5-9A1E-CB3DD84C0F4E}"/>
              </a:ext>
            </a:extLst>
          </p:cNvPr>
          <p:cNvSpPr>
            <a:spLocks noGrp="1"/>
          </p:cNvSpPr>
          <p:nvPr/>
        </p:nvSpPr>
        <p:spPr>
          <a:xfrm>
            <a:off x="704850" y="2476500"/>
            <a:ext cx="5048250" cy="209550"/>
          </a:xfrm>
          <a:prstGeom prst="rect">
            <a:avLst/>
          </a:prstGeom>
          <a:solidFill>
            <a:srgbClr val="173A47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3" name="矩形 12">
            <a:extLst>
              <a:ext uri="{FF2B5EF4-FFF2-40B4-BE49-F238E27FC236}">
                <a16:creationId xmlns:a16="http://schemas.microsoft.com/office/drawing/2014/main" id="{A0CAE0DE-B80F-4DE9-A476-F33DB32B1B44}"/>
              </a:ext>
            </a:extLst>
          </p:cNvPr>
          <p:cNvSpPr>
            <a:spLocks noGrp="1"/>
          </p:cNvSpPr>
          <p:nvPr/>
        </p:nvSpPr>
        <p:spPr>
          <a:xfrm>
            <a:off x="781050" y="2495550"/>
            <a:ext cx="4895850" cy="2095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938" b="0">
                <a:solidFill>
                  <a:srgbClr val="EAF4F6"/>
                </a:solidFill>
                <a:latin typeface="Consolas"/>
                <a:ea typeface="Consolas"/>
                <a:cs typeface="Consolas"/>
              </a:defRPr>
            </a:pPr>
            <a:r>
              <a:rPr sz="938" b="0">
                <a:solidFill>
                  <a:srgbClr val="EAF4F6"/>
                </a:solidFill>
                <a:latin typeface="Consolas"/>
                <a:ea typeface="Consolas"/>
                <a:cs typeface="Consolas"/>
              </a:rPr>
              <a:t>const char *kBleServiceUUID = "7d6e0001-...";</a:t>
            </a:r>
          </a:p>
        </p:txBody>
      </p:sp>
      <p:sp>
        <p:nvSpPr>
          <p:cNvPr id="14" name="矩形 13">
            <a:extLst>
              <a:ext uri="{FF2B5EF4-FFF2-40B4-BE49-F238E27FC236}">
                <a16:creationId xmlns:a16="http://schemas.microsoft.com/office/drawing/2014/main" id="{4A3E1DA4-4214-4F81-90FE-24D20513C23C}"/>
              </a:ext>
            </a:extLst>
          </p:cNvPr>
          <p:cNvSpPr>
            <a:spLocks noGrp="1"/>
          </p:cNvSpPr>
          <p:nvPr/>
        </p:nvSpPr>
        <p:spPr>
          <a:xfrm>
            <a:off x="704850" y="2686050"/>
            <a:ext cx="5048250" cy="209550"/>
          </a:xfrm>
          <a:prstGeom prst="rect">
            <a:avLst/>
          </a:prstGeom>
          <a:solidFill>
            <a:srgbClr val="173A47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5" name="矩形 14">
            <a:extLst>
              <a:ext uri="{FF2B5EF4-FFF2-40B4-BE49-F238E27FC236}">
                <a16:creationId xmlns:a16="http://schemas.microsoft.com/office/drawing/2014/main" id="{4659FD00-00E6-43A8-9FF6-76976ACBC7A0}"/>
              </a:ext>
            </a:extLst>
          </p:cNvPr>
          <p:cNvSpPr>
            <a:spLocks noGrp="1"/>
          </p:cNvSpPr>
          <p:nvPr/>
        </p:nvSpPr>
        <p:spPr>
          <a:xfrm>
            <a:off x="781050" y="2705100"/>
            <a:ext cx="4895850" cy="2095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938" b="0">
                <a:solidFill>
                  <a:srgbClr val="EAF4F6"/>
                </a:solidFill>
                <a:latin typeface="Consolas"/>
                <a:ea typeface="Consolas"/>
                <a:cs typeface="Consolas"/>
              </a:defRPr>
            </a:pPr>
            <a:r>
              <a:rPr sz="938" b="0">
                <a:solidFill>
                  <a:srgbClr val="EAF4F6"/>
                </a:solidFill>
                <a:latin typeface="Consolas"/>
                <a:ea typeface="Consolas"/>
                <a:cs typeface="Consolas"/>
              </a:rPr>
              <a:t>const char *kBleWaveCharacteristicUUID = "7d6e0002-...";</a:t>
            </a:r>
          </a:p>
        </p:txBody>
      </p:sp>
      <p:sp>
        <p:nvSpPr>
          <p:cNvPr id="16" name="矩形 15">
            <a:extLst>
              <a:ext uri="{FF2B5EF4-FFF2-40B4-BE49-F238E27FC236}">
                <a16:creationId xmlns:a16="http://schemas.microsoft.com/office/drawing/2014/main" id="{6EAD4C7A-A426-4CFD-AE9B-5300C5B11CD9}"/>
              </a:ext>
            </a:extLst>
          </p:cNvPr>
          <p:cNvSpPr>
            <a:spLocks noGrp="1"/>
          </p:cNvSpPr>
          <p:nvPr/>
        </p:nvSpPr>
        <p:spPr>
          <a:xfrm>
            <a:off x="704850" y="2895600"/>
            <a:ext cx="5048250" cy="209550"/>
          </a:xfrm>
          <a:prstGeom prst="rect">
            <a:avLst/>
          </a:prstGeom>
          <a:solidFill>
            <a:srgbClr val="173A47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7" name="矩形 16">
            <a:extLst>
              <a:ext uri="{FF2B5EF4-FFF2-40B4-BE49-F238E27FC236}">
                <a16:creationId xmlns:a16="http://schemas.microsoft.com/office/drawing/2014/main" id="{EBF5F849-C2F5-49D0-8380-1BC554B82997}"/>
              </a:ext>
            </a:extLst>
          </p:cNvPr>
          <p:cNvSpPr>
            <a:spLocks noGrp="1"/>
          </p:cNvSpPr>
          <p:nvPr/>
        </p:nvSpPr>
        <p:spPr>
          <a:xfrm>
            <a:off x="781050" y="2914650"/>
            <a:ext cx="4895850" cy="2095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938" b="0">
                <a:solidFill>
                  <a:srgbClr val="EAF4F6"/>
                </a:solidFill>
                <a:latin typeface="Consolas"/>
                <a:ea typeface="Consolas"/>
                <a:cs typeface="Consolas"/>
              </a:defRPr>
            </a:pPr>
            <a:r>
              <a:rPr sz="938" b="0">
                <a:solidFill>
                  <a:srgbClr val="EAF4F6"/>
                </a:solidFill>
                <a:latin typeface="Consolas"/>
                <a:ea typeface="Consolas"/>
                <a:cs typeface="Consolas"/>
              </a:rPr>
              <a:t>const char *kBleMetricsCharacteristicUUID = "7d6e0003-...";</a:t>
            </a:r>
          </a:p>
        </p:txBody>
      </p:sp>
      <p:sp>
        <p:nvSpPr>
          <p:cNvPr id="18" name="矩形 17">
            <a:extLst>
              <a:ext uri="{FF2B5EF4-FFF2-40B4-BE49-F238E27FC236}">
                <a16:creationId xmlns:a16="http://schemas.microsoft.com/office/drawing/2014/main" id="{C66E2485-7B76-406A-9493-7A040BF2DD40}"/>
              </a:ext>
            </a:extLst>
          </p:cNvPr>
          <p:cNvSpPr>
            <a:spLocks noGrp="1"/>
          </p:cNvSpPr>
          <p:nvPr/>
        </p:nvSpPr>
        <p:spPr>
          <a:xfrm>
            <a:off x="781050" y="3124200"/>
            <a:ext cx="4895850" cy="2095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endParaRPr/>
          </a:p>
        </p:txBody>
      </p:sp>
      <p:sp>
        <p:nvSpPr>
          <p:cNvPr id="19" name="矩形 18">
            <a:extLst>
              <a:ext uri="{FF2B5EF4-FFF2-40B4-BE49-F238E27FC236}">
                <a16:creationId xmlns:a16="http://schemas.microsoft.com/office/drawing/2014/main" id="{53AF6383-6160-45B6-8FD2-DEE594816139}"/>
              </a:ext>
            </a:extLst>
          </p:cNvPr>
          <p:cNvSpPr>
            <a:spLocks noGrp="1"/>
          </p:cNvSpPr>
          <p:nvPr/>
        </p:nvSpPr>
        <p:spPr>
          <a:xfrm>
            <a:off x="781050" y="3333750"/>
            <a:ext cx="4895850" cy="2095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938" b="0">
                <a:solidFill>
                  <a:srgbClr val="EAF4F6"/>
                </a:solidFill>
                <a:latin typeface="Consolas"/>
                <a:ea typeface="Consolas"/>
                <a:cs typeface="Consolas"/>
              </a:defRPr>
            </a:pPr>
            <a:r>
              <a:rPr sz="938" b="0">
                <a:solidFill>
                  <a:srgbClr val="EAF4F6"/>
                </a:solidFill>
                <a:latin typeface="Consolas"/>
                <a:ea typeface="Consolas"/>
                <a:cs typeface="Consolas"/>
              </a:rPr>
              <a:t>NimBLEDevice::init(kBleDeviceName);</a:t>
            </a:r>
          </a:p>
        </p:txBody>
      </p:sp>
      <p:sp>
        <p:nvSpPr>
          <p:cNvPr id="20" name="矩形 19">
            <a:extLst>
              <a:ext uri="{FF2B5EF4-FFF2-40B4-BE49-F238E27FC236}">
                <a16:creationId xmlns:a16="http://schemas.microsoft.com/office/drawing/2014/main" id="{E6EF771B-A7D4-47A8-B428-FE7B7BC758B4}"/>
              </a:ext>
            </a:extLst>
          </p:cNvPr>
          <p:cNvSpPr>
            <a:spLocks noGrp="1"/>
          </p:cNvSpPr>
          <p:nvPr/>
        </p:nvSpPr>
        <p:spPr>
          <a:xfrm>
            <a:off x="781050" y="3543300"/>
            <a:ext cx="4895850" cy="2095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938" b="0">
                <a:solidFill>
                  <a:srgbClr val="EAF4F6"/>
                </a:solidFill>
                <a:latin typeface="Consolas"/>
                <a:ea typeface="Consolas"/>
                <a:cs typeface="Consolas"/>
              </a:defRPr>
            </a:pPr>
            <a:r>
              <a:rPr sz="938" b="0">
                <a:solidFill>
                  <a:srgbClr val="EAF4F6"/>
                </a:solidFill>
                <a:latin typeface="Consolas"/>
                <a:ea typeface="Consolas"/>
                <a:cs typeface="Consolas"/>
              </a:rPr>
              <a:t>bleServer = NimBLEDevice::createServer();</a:t>
            </a:r>
          </a:p>
        </p:txBody>
      </p:sp>
      <p:sp>
        <p:nvSpPr>
          <p:cNvPr id="21" name="矩形 20">
            <a:extLst>
              <a:ext uri="{FF2B5EF4-FFF2-40B4-BE49-F238E27FC236}">
                <a16:creationId xmlns:a16="http://schemas.microsoft.com/office/drawing/2014/main" id="{0C7CB4DD-AE1F-4E89-8CF7-0582E6002865}"/>
              </a:ext>
            </a:extLst>
          </p:cNvPr>
          <p:cNvSpPr>
            <a:spLocks noGrp="1"/>
          </p:cNvSpPr>
          <p:nvPr/>
        </p:nvSpPr>
        <p:spPr>
          <a:xfrm>
            <a:off x="781050" y="3752850"/>
            <a:ext cx="4895850" cy="2095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938" b="0">
                <a:solidFill>
                  <a:srgbClr val="EAF4F6"/>
                </a:solidFill>
                <a:latin typeface="Consolas"/>
                <a:ea typeface="Consolas"/>
                <a:cs typeface="Consolas"/>
              </a:defRPr>
            </a:pPr>
            <a:r>
              <a:rPr sz="938" b="0">
                <a:solidFill>
                  <a:srgbClr val="EAF4F6"/>
                </a:solidFill>
                <a:latin typeface="Consolas"/>
                <a:ea typeface="Consolas"/>
                <a:cs typeface="Consolas"/>
              </a:rPr>
              <a:t>NimBLEService *pulseService =</a:t>
            </a:r>
          </a:p>
        </p:txBody>
      </p:sp>
      <p:sp>
        <p:nvSpPr>
          <p:cNvPr id="22" name="矩形 21">
            <a:extLst>
              <a:ext uri="{FF2B5EF4-FFF2-40B4-BE49-F238E27FC236}">
                <a16:creationId xmlns:a16="http://schemas.microsoft.com/office/drawing/2014/main" id="{9184B14F-5D45-4AEF-AE13-03620816F02F}"/>
              </a:ext>
            </a:extLst>
          </p:cNvPr>
          <p:cNvSpPr>
            <a:spLocks noGrp="1"/>
          </p:cNvSpPr>
          <p:nvPr/>
        </p:nvSpPr>
        <p:spPr>
          <a:xfrm>
            <a:off x="781050" y="3962400"/>
            <a:ext cx="4895850" cy="2095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938" b="0">
                <a:solidFill>
                  <a:srgbClr val="EAF4F6"/>
                </a:solidFill>
                <a:latin typeface="Consolas"/>
                <a:ea typeface="Consolas"/>
                <a:cs typeface="Consolas"/>
              </a:defRPr>
            </a:pPr>
            <a:r>
              <a:rPr sz="938" b="0">
                <a:solidFill>
                  <a:srgbClr val="EAF4F6"/>
                </a:solidFill>
                <a:latin typeface="Consolas"/>
                <a:ea typeface="Consolas"/>
                <a:cs typeface="Consolas"/>
              </a:rPr>
              <a:t>  bleServer-&gt;createService(kBleServiceUUID);</a:t>
            </a:r>
          </a:p>
        </p:txBody>
      </p:sp>
      <p:sp>
        <p:nvSpPr>
          <p:cNvPr id="23" name="矩形 22">
            <a:extLst>
              <a:ext uri="{FF2B5EF4-FFF2-40B4-BE49-F238E27FC236}">
                <a16:creationId xmlns:a16="http://schemas.microsoft.com/office/drawing/2014/main" id="{591030E7-E540-422E-A385-3240961ECE57}"/>
              </a:ext>
            </a:extLst>
          </p:cNvPr>
          <p:cNvSpPr>
            <a:spLocks noGrp="1"/>
          </p:cNvSpPr>
          <p:nvPr/>
        </p:nvSpPr>
        <p:spPr>
          <a:xfrm>
            <a:off x="704850" y="4152900"/>
            <a:ext cx="5048250" cy="209550"/>
          </a:xfrm>
          <a:prstGeom prst="rect">
            <a:avLst/>
          </a:prstGeom>
          <a:solidFill>
            <a:srgbClr val="173A47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4" name="矩形 23">
            <a:extLst>
              <a:ext uri="{FF2B5EF4-FFF2-40B4-BE49-F238E27FC236}">
                <a16:creationId xmlns:a16="http://schemas.microsoft.com/office/drawing/2014/main" id="{CAF2E8E4-1277-44F5-BAFE-4061ECA0FF78}"/>
              </a:ext>
            </a:extLst>
          </p:cNvPr>
          <p:cNvSpPr>
            <a:spLocks noGrp="1"/>
          </p:cNvSpPr>
          <p:nvPr/>
        </p:nvSpPr>
        <p:spPr>
          <a:xfrm>
            <a:off x="781050" y="4171950"/>
            <a:ext cx="4895850" cy="2095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938" b="0">
                <a:solidFill>
                  <a:srgbClr val="EAF4F6"/>
                </a:solidFill>
                <a:latin typeface="Consolas"/>
                <a:ea typeface="Consolas"/>
                <a:cs typeface="Consolas"/>
              </a:defRPr>
            </a:pPr>
            <a:r>
              <a:rPr sz="938" b="0">
                <a:solidFill>
                  <a:srgbClr val="EAF4F6"/>
                </a:solidFill>
                <a:latin typeface="Consolas"/>
                <a:ea typeface="Consolas"/>
                <a:cs typeface="Consolas"/>
              </a:rPr>
              <a:t>waveCharacteristic = pulseService-&gt;createCharacteristic(</a:t>
            </a:r>
          </a:p>
        </p:txBody>
      </p:sp>
      <p:sp>
        <p:nvSpPr>
          <p:cNvPr id="25" name="矩形 24">
            <a:extLst>
              <a:ext uri="{FF2B5EF4-FFF2-40B4-BE49-F238E27FC236}">
                <a16:creationId xmlns:a16="http://schemas.microsoft.com/office/drawing/2014/main" id="{FE620288-6A50-4DC2-AB24-CA10C9852CC6}"/>
              </a:ext>
            </a:extLst>
          </p:cNvPr>
          <p:cNvSpPr>
            <a:spLocks noGrp="1"/>
          </p:cNvSpPr>
          <p:nvPr/>
        </p:nvSpPr>
        <p:spPr>
          <a:xfrm>
            <a:off x="781050" y="4381500"/>
            <a:ext cx="4895850" cy="2095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938" b="0">
                <a:solidFill>
                  <a:srgbClr val="EAF4F6"/>
                </a:solidFill>
                <a:latin typeface="Consolas"/>
                <a:ea typeface="Consolas"/>
                <a:cs typeface="Consolas"/>
              </a:defRPr>
            </a:pPr>
            <a:r>
              <a:rPr sz="938" b="0">
                <a:solidFill>
                  <a:srgbClr val="EAF4F6"/>
                </a:solidFill>
                <a:latin typeface="Consolas"/>
                <a:ea typeface="Consolas"/>
                <a:cs typeface="Consolas"/>
              </a:rPr>
              <a:t>  kBleWaveCharacteristicUUID, READ | NOTIFY, 4);</a:t>
            </a:r>
          </a:p>
        </p:txBody>
      </p:sp>
      <p:sp>
        <p:nvSpPr>
          <p:cNvPr id="26" name="矩形 25">
            <a:extLst>
              <a:ext uri="{FF2B5EF4-FFF2-40B4-BE49-F238E27FC236}">
                <a16:creationId xmlns:a16="http://schemas.microsoft.com/office/drawing/2014/main" id="{DC229183-1E79-40E3-BC33-16FADD787D8B}"/>
              </a:ext>
            </a:extLst>
          </p:cNvPr>
          <p:cNvSpPr>
            <a:spLocks noGrp="1"/>
          </p:cNvSpPr>
          <p:nvPr/>
        </p:nvSpPr>
        <p:spPr>
          <a:xfrm>
            <a:off x="704850" y="4572000"/>
            <a:ext cx="5048250" cy="209550"/>
          </a:xfrm>
          <a:prstGeom prst="rect">
            <a:avLst/>
          </a:prstGeom>
          <a:solidFill>
            <a:srgbClr val="173A47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7" name="矩形 26">
            <a:extLst>
              <a:ext uri="{FF2B5EF4-FFF2-40B4-BE49-F238E27FC236}">
                <a16:creationId xmlns:a16="http://schemas.microsoft.com/office/drawing/2014/main" id="{5665B742-A99C-4B19-BFC1-21CCA609F1C8}"/>
              </a:ext>
            </a:extLst>
          </p:cNvPr>
          <p:cNvSpPr>
            <a:spLocks noGrp="1"/>
          </p:cNvSpPr>
          <p:nvPr/>
        </p:nvSpPr>
        <p:spPr>
          <a:xfrm>
            <a:off x="781050" y="4591050"/>
            <a:ext cx="4895850" cy="2095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938" b="0">
                <a:solidFill>
                  <a:srgbClr val="EAF4F6"/>
                </a:solidFill>
                <a:latin typeface="Consolas"/>
                <a:ea typeface="Consolas"/>
                <a:cs typeface="Consolas"/>
              </a:defRPr>
            </a:pPr>
            <a:r>
              <a:rPr sz="938" b="0">
                <a:solidFill>
                  <a:srgbClr val="EAF4F6"/>
                </a:solidFill>
                <a:latin typeface="Consolas"/>
                <a:ea typeface="Consolas"/>
                <a:cs typeface="Consolas"/>
              </a:rPr>
              <a:t>metricsCharacteristic = pulseService-&gt;createCharacteristic(</a:t>
            </a:r>
          </a:p>
        </p:txBody>
      </p:sp>
      <p:sp>
        <p:nvSpPr>
          <p:cNvPr id="28" name="矩形 27">
            <a:extLst>
              <a:ext uri="{FF2B5EF4-FFF2-40B4-BE49-F238E27FC236}">
                <a16:creationId xmlns:a16="http://schemas.microsoft.com/office/drawing/2014/main" id="{31C5B465-F4EC-481D-8C68-259E674D7790}"/>
              </a:ext>
            </a:extLst>
          </p:cNvPr>
          <p:cNvSpPr>
            <a:spLocks noGrp="1"/>
          </p:cNvSpPr>
          <p:nvPr/>
        </p:nvSpPr>
        <p:spPr>
          <a:xfrm>
            <a:off x="781050" y="4800600"/>
            <a:ext cx="4895850" cy="2095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938" b="0">
                <a:solidFill>
                  <a:srgbClr val="EAF4F6"/>
                </a:solidFill>
                <a:latin typeface="Consolas"/>
                <a:ea typeface="Consolas"/>
                <a:cs typeface="Consolas"/>
              </a:defRPr>
            </a:pPr>
            <a:r>
              <a:rPr sz="938" b="0">
                <a:solidFill>
                  <a:srgbClr val="EAF4F6"/>
                </a:solidFill>
                <a:latin typeface="Consolas"/>
                <a:ea typeface="Consolas"/>
                <a:cs typeface="Consolas"/>
              </a:rPr>
              <a:t>  kBleMetricsCharacteristicUUID, READ | NOTIFY, 6);</a:t>
            </a:r>
          </a:p>
        </p:txBody>
      </p:sp>
      <p:sp>
        <p:nvSpPr>
          <p:cNvPr id="29" name="矩形 28">
            <a:extLst>
              <a:ext uri="{FF2B5EF4-FFF2-40B4-BE49-F238E27FC236}">
                <a16:creationId xmlns:a16="http://schemas.microsoft.com/office/drawing/2014/main" id="{B022AB89-189B-4D09-A02B-9E4FCE8F56AA}"/>
              </a:ext>
            </a:extLst>
          </p:cNvPr>
          <p:cNvSpPr>
            <a:spLocks noGrp="1"/>
          </p:cNvSpPr>
          <p:nvPr/>
        </p:nvSpPr>
        <p:spPr>
          <a:xfrm>
            <a:off x="6362700" y="2076450"/>
            <a:ext cx="4305300" cy="800100"/>
          </a:xfrm>
          <a:prstGeom prst="rect">
            <a:avLst/>
          </a:prstGeom>
          <a:solidFill>
            <a:srgbClr val="FFFFFF"/>
          </a:solidFill>
          <a:ln w="9525">
            <a:solidFill>
              <a:srgbClr val="DCE5E7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30" name="矩形 29">
            <a:extLst>
              <a:ext uri="{FF2B5EF4-FFF2-40B4-BE49-F238E27FC236}">
                <a16:creationId xmlns:a16="http://schemas.microsoft.com/office/drawing/2014/main" id="{E8869CFD-8411-4894-B90B-8AF08A7EFA36}"/>
              </a:ext>
            </a:extLst>
          </p:cNvPr>
          <p:cNvSpPr>
            <a:spLocks noGrp="1"/>
          </p:cNvSpPr>
          <p:nvPr/>
        </p:nvSpPr>
        <p:spPr>
          <a:xfrm>
            <a:off x="6362700" y="2076450"/>
            <a:ext cx="57150" cy="800100"/>
          </a:xfrm>
          <a:prstGeom prst="rect">
            <a:avLst/>
          </a:prstGeom>
          <a:solidFill>
            <a:srgbClr val="F2A23A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31" name="矩形 30">
            <a:extLst>
              <a:ext uri="{FF2B5EF4-FFF2-40B4-BE49-F238E27FC236}">
                <a16:creationId xmlns:a16="http://schemas.microsoft.com/office/drawing/2014/main" id="{A1D042E6-89A6-4476-96EC-19168C800959}"/>
              </a:ext>
            </a:extLst>
          </p:cNvPr>
          <p:cNvSpPr>
            <a:spLocks noGrp="1"/>
          </p:cNvSpPr>
          <p:nvPr/>
        </p:nvSpPr>
        <p:spPr>
          <a:xfrm>
            <a:off x="6534150" y="2209800"/>
            <a:ext cx="3962400" cy="2857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350" b="1">
                <a:solidFill>
                  <a:srgbClr val="17313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17313B"/>
                </a:solidFill>
                <a:latin typeface="Microsoft YaHei"/>
                <a:ea typeface="Microsoft YaHei"/>
                <a:cs typeface="Microsoft YaHei"/>
              </a:rPr>
              <a:t>第一层：身份</a:t>
            </a:r>
          </a:p>
        </p:txBody>
      </p:sp>
      <p:sp>
        <p:nvSpPr>
          <p:cNvPr id="32" name="矩形 31">
            <a:extLst>
              <a:ext uri="{FF2B5EF4-FFF2-40B4-BE49-F238E27FC236}">
                <a16:creationId xmlns:a16="http://schemas.microsoft.com/office/drawing/2014/main" id="{39CDE2A9-00B9-4A4B-921D-1CB605DBAF12}"/>
              </a:ext>
            </a:extLst>
          </p:cNvPr>
          <p:cNvSpPr>
            <a:spLocks noGrp="1"/>
          </p:cNvSpPr>
          <p:nvPr/>
        </p:nvSpPr>
        <p:spPr>
          <a:xfrm>
            <a:off x="6534150" y="2533650"/>
            <a:ext cx="3962400" cy="2476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088" b="0">
                <a:solidFill>
                  <a:srgbClr val="687A8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88" b="0">
                <a:solidFill>
                  <a:srgbClr val="687A84"/>
                </a:solidFill>
                <a:latin typeface="Microsoft YaHei"/>
                <a:ea typeface="Microsoft YaHei"/>
                <a:cs typeface="Microsoft YaHei"/>
              </a:rPr>
              <a:t>设备名用于学生肉眼识别；Service UUID 用于程序精确匹配。</a:t>
            </a:r>
          </a:p>
        </p:txBody>
      </p:sp>
      <p:sp>
        <p:nvSpPr>
          <p:cNvPr id="33" name="矩形 32">
            <a:extLst>
              <a:ext uri="{FF2B5EF4-FFF2-40B4-BE49-F238E27FC236}">
                <a16:creationId xmlns:a16="http://schemas.microsoft.com/office/drawing/2014/main" id="{1313F506-44B6-47A5-9CB2-A64FCEF3F583}"/>
              </a:ext>
            </a:extLst>
          </p:cNvPr>
          <p:cNvSpPr>
            <a:spLocks noGrp="1"/>
          </p:cNvSpPr>
          <p:nvPr/>
        </p:nvSpPr>
        <p:spPr>
          <a:xfrm>
            <a:off x="6362700" y="3105150"/>
            <a:ext cx="4305300" cy="800100"/>
          </a:xfrm>
          <a:prstGeom prst="rect">
            <a:avLst/>
          </a:prstGeom>
          <a:solidFill>
            <a:srgbClr val="FFFFFF"/>
          </a:solidFill>
          <a:ln w="9525">
            <a:solidFill>
              <a:srgbClr val="DCE5E7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34" name="矩形 33">
            <a:extLst>
              <a:ext uri="{FF2B5EF4-FFF2-40B4-BE49-F238E27FC236}">
                <a16:creationId xmlns:a16="http://schemas.microsoft.com/office/drawing/2014/main" id="{439F721A-389D-4EBA-A31F-957932A483BD}"/>
              </a:ext>
            </a:extLst>
          </p:cNvPr>
          <p:cNvSpPr>
            <a:spLocks noGrp="1"/>
          </p:cNvSpPr>
          <p:nvPr/>
        </p:nvSpPr>
        <p:spPr>
          <a:xfrm>
            <a:off x="6362700" y="3105150"/>
            <a:ext cx="57150" cy="800100"/>
          </a:xfrm>
          <a:prstGeom prst="rect">
            <a:avLst/>
          </a:prstGeom>
          <a:solidFill>
            <a:srgbClr val="22A6C7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35" name="矩形 34">
            <a:extLst>
              <a:ext uri="{FF2B5EF4-FFF2-40B4-BE49-F238E27FC236}">
                <a16:creationId xmlns:a16="http://schemas.microsoft.com/office/drawing/2014/main" id="{EF49E4E5-555B-46FF-A0D9-0A6DFB120FEC}"/>
              </a:ext>
            </a:extLst>
          </p:cNvPr>
          <p:cNvSpPr>
            <a:spLocks noGrp="1"/>
          </p:cNvSpPr>
          <p:nvPr/>
        </p:nvSpPr>
        <p:spPr>
          <a:xfrm>
            <a:off x="6534150" y="3238500"/>
            <a:ext cx="3962400" cy="2857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350" b="1">
                <a:solidFill>
                  <a:srgbClr val="17313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17313B"/>
                </a:solidFill>
                <a:latin typeface="Microsoft YaHei"/>
                <a:ea typeface="Microsoft YaHei"/>
                <a:cs typeface="Microsoft YaHei"/>
              </a:rPr>
              <a:t>第二层：数据字段</a:t>
            </a:r>
          </a:p>
        </p:txBody>
      </p:sp>
      <p:sp>
        <p:nvSpPr>
          <p:cNvPr id="36" name="矩形 35">
            <a:extLst>
              <a:ext uri="{FF2B5EF4-FFF2-40B4-BE49-F238E27FC236}">
                <a16:creationId xmlns:a16="http://schemas.microsoft.com/office/drawing/2014/main" id="{D77F1AA0-91E2-46CE-9BDD-09F6996433A9}"/>
              </a:ext>
            </a:extLst>
          </p:cNvPr>
          <p:cNvSpPr>
            <a:spLocks noGrp="1"/>
          </p:cNvSpPr>
          <p:nvPr/>
        </p:nvSpPr>
        <p:spPr>
          <a:xfrm>
            <a:off x="6534150" y="3562350"/>
            <a:ext cx="3962400" cy="2476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088" b="0">
                <a:solidFill>
                  <a:srgbClr val="687A8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88" b="0">
                <a:solidFill>
                  <a:srgbClr val="687A84"/>
                </a:solidFill>
                <a:latin typeface="Microsoft YaHei"/>
                <a:ea typeface="Microsoft YaHei"/>
                <a:cs typeface="Microsoft YaHei"/>
              </a:rPr>
              <a:t>Wave 和 Metrics 是两个 Characteristic；都支持 READ 和 NOTIFY。</a:t>
            </a:r>
          </a:p>
        </p:txBody>
      </p:sp>
      <p:sp>
        <p:nvSpPr>
          <p:cNvPr id="37" name="矩形 36">
            <a:extLst>
              <a:ext uri="{FF2B5EF4-FFF2-40B4-BE49-F238E27FC236}">
                <a16:creationId xmlns:a16="http://schemas.microsoft.com/office/drawing/2014/main" id="{6819BE5D-8EFD-4AE2-BF6E-8C2B24946B48}"/>
              </a:ext>
            </a:extLst>
          </p:cNvPr>
          <p:cNvSpPr>
            <a:spLocks noGrp="1"/>
          </p:cNvSpPr>
          <p:nvPr/>
        </p:nvSpPr>
        <p:spPr>
          <a:xfrm>
            <a:off x="6362700" y="4133850"/>
            <a:ext cx="4305300" cy="800100"/>
          </a:xfrm>
          <a:prstGeom prst="rect">
            <a:avLst/>
          </a:prstGeom>
          <a:solidFill>
            <a:srgbClr val="FFFFFF"/>
          </a:solidFill>
          <a:ln w="9525">
            <a:solidFill>
              <a:srgbClr val="DCE5E7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38" name="矩形 37">
            <a:extLst>
              <a:ext uri="{FF2B5EF4-FFF2-40B4-BE49-F238E27FC236}">
                <a16:creationId xmlns:a16="http://schemas.microsoft.com/office/drawing/2014/main" id="{15B0DB27-31A6-45CD-96BB-61E557A5135C}"/>
              </a:ext>
            </a:extLst>
          </p:cNvPr>
          <p:cNvSpPr>
            <a:spLocks noGrp="1"/>
          </p:cNvSpPr>
          <p:nvPr/>
        </p:nvSpPr>
        <p:spPr>
          <a:xfrm>
            <a:off x="6362700" y="4133850"/>
            <a:ext cx="57150" cy="800100"/>
          </a:xfrm>
          <a:prstGeom prst="rect">
            <a:avLst/>
          </a:prstGeom>
          <a:solidFill>
            <a:srgbClr val="18C7A3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39" name="矩形 38">
            <a:extLst>
              <a:ext uri="{FF2B5EF4-FFF2-40B4-BE49-F238E27FC236}">
                <a16:creationId xmlns:a16="http://schemas.microsoft.com/office/drawing/2014/main" id="{20FF4B05-5B0A-4C08-A09D-56411F21A765}"/>
              </a:ext>
            </a:extLst>
          </p:cNvPr>
          <p:cNvSpPr>
            <a:spLocks noGrp="1"/>
          </p:cNvSpPr>
          <p:nvPr/>
        </p:nvSpPr>
        <p:spPr>
          <a:xfrm>
            <a:off x="6534150" y="4267200"/>
            <a:ext cx="3962400" cy="2857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350" b="1">
                <a:solidFill>
                  <a:srgbClr val="17313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17313B"/>
                </a:solidFill>
                <a:latin typeface="Microsoft YaHei"/>
                <a:ea typeface="Microsoft YaHei"/>
                <a:cs typeface="Microsoft YaHei"/>
              </a:rPr>
              <a:t>第三层：广播</a:t>
            </a:r>
          </a:p>
        </p:txBody>
      </p:sp>
      <p:sp>
        <p:nvSpPr>
          <p:cNvPr id="40" name="矩形 39">
            <a:extLst>
              <a:ext uri="{FF2B5EF4-FFF2-40B4-BE49-F238E27FC236}">
                <a16:creationId xmlns:a16="http://schemas.microsoft.com/office/drawing/2014/main" id="{7F941C38-80EC-4481-A9AD-9DB232029AA3}"/>
              </a:ext>
            </a:extLst>
          </p:cNvPr>
          <p:cNvSpPr>
            <a:spLocks noGrp="1"/>
          </p:cNvSpPr>
          <p:nvPr/>
        </p:nvSpPr>
        <p:spPr>
          <a:xfrm>
            <a:off x="6534150" y="4591050"/>
            <a:ext cx="3962400" cy="2476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013" b="0">
                <a:solidFill>
                  <a:srgbClr val="687A8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13" b="0">
                <a:solidFill>
                  <a:srgbClr val="687A84"/>
                </a:solidFill>
                <a:latin typeface="Microsoft YaHei"/>
                <a:ea typeface="Microsoft YaHei"/>
                <a:cs typeface="Microsoft YaHei"/>
              </a:rPr>
              <a:t>advertising-&gt;addServiceUUID(...); advertising-&gt;start();</a:t>
            </a:r>
          </a:p>
        </p:txBody>
      </p:sp>
      <p:sp>
        <p:nvSpPr>
          <p:cNvPr id="41" name="矩形 40">
            <a:extLst>
              <a:ext uri="{FF2B5EF4-FFF2-40B4-BE49-F238E27FC236}">
                <a16:creationId xmlns:a16="http://schemas.microsoft.com/office/drawing/2014/main" id="{D81D5A0E-F01F-4D2B-85C7-A37192D80F6D}"/>
              </a:ext>
            </a:extLst>
          </p:cNvPr>
          <p:cNvSpPr>
            <a:spLocks noGrp="1"/>
          </p:cNvSpPr>
          <p:nvPr/>
        </p:nvSpPr>
        <p:spPr>
          <a:xfrm>
            <a:off x="6362700" y="5257800"/>
            <a:ext cx="4267200" cy="4191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238" b="0">
                <a:solidFill>
                  <a:srgbClr val="687A8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38" b="0">
                <a:solidFill>
                  <a:srgbClr val="687A84"/>
                </a:solidFill>
                <a:latin typeface="Microsoft YaHei"/>
                <a:ea typeface="Microsoft YaHei"/>
                <a:cs typeface="Microsoft YaHei"/>
              </a:rPr>
              <a:t>课堂讲法：先让学生在 nRF Connect 看到服务目录，再回到小程序代码。</a:t>
            </a:r>
          </a:p>
        </p:txBody>
      </p:sp>
    </p:spTree>
    <p:extLst>
      <p:ext uri="{BB962C8B-B14F-4D97-AF65-F5344CB8AC3E}">
        <p14:creationId xmlns:p14="http://schemas.microsoft.com/office/powerpoint/2010/main" val="585974365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矩形 61">
            <a:extLst>
              <a:ext uri="{FF2B5EF4-FFF2-40B4-BE49-F238E27FC236}">
                <a16:creationId xmlns:a16="http://schemas.microsoft.com/office/drawing/2014/main" id="{28E59657-A4B2-4792-B2DF-B50356DE7FB8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6F3EA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" name="矩形 1">
            <a:extLst>
              <a:ext uri="{FF2B5EF4-FFF2-40B4-BE49-F238E27FC236}">
                <a16:creationId xmlns:a16="http://schemas.microsoft.com/office/drawing/2014/main" id="{F65E8711-638C-445E-B5FA-BE9647196E24}"/>
              </a:ext>
            </a:extLst>
          </p:cNvPr>
          <p:cNvSpPr>
            <a:spLocks noGrp="1"/>
          </p:cNvSpPr>
          <p:nvPr/>
        </p:nvSpPr>
        <p:spPr>
          <a:xfrm>
            <a:off x="419100" y="323850"/>
            <a:ext cx="95250" cy="190500"/>
          </a:xfrm>
          <a:prstGeom prst="rect">
            <a:avLst/>
          </a:prstGeom>
          <a:solidFill>
            <a:srgbClr val="22A6C7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A85863B6-82DB-48F3-80DD-FD7904F0FDC8}"/>
              </a:ext>
            </a:extLst>
          </p:cNvPr>
          <p:cNvSpPr>
            <a:spLocks noGrp="1"/>
          </p:cNvSpPr>
          <p:nvPr/>
        </p:nvSpPr>
        <p:spPr>
          <a:xfrm>
            <a:off x="590550" y="266700"/>
            <a:ext cx="4095750" cy="3238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ctr"/>
          <a:lstStyle/>
          <a:p>
            <a:pPr algn="l">
              <a:defRPr sz="1125" b="1">
                <a:solidFill>
                  <a:srgbClr val="687A8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1">
                <a:solidFill>
                  <a:srgbClr val="687A84"/>
                </a:solidFill>
                <a:latin typeface="Microsoft YaHei"/>
                <a:ea typeface="Microsoft YaHei"/>
                <a:cs typeface="Microsoft YaHei"/>
              </a:rPr>
              <a:t>ARDUINO RUNTIME</a:t>
            </a:r>
          </a:p>
        </p:txBody>
      </p:sp>
      <p:sp>
        <p:nvSpPr>
          <p:cNvPr id="4" name="矩形 3">
            <a:extLst>
              <a:ext uri="{FF2B5EF4-FFF2-40B4-BE49-F238E27FC236}">
                <a16:creationId xmlns:a16="http://schemas.microsoft.com/office/drawing/2014/main" id="{112FB92D-1AA8-4940-890E-FE1C2AA2F510}"/>
              </a:ext>
            </a:extLst>
          </p:cNvPr>
          <p:cNvSpPr>
            <a:spLocks noGrp="1"/>
          </p:cNvSpPr>
          <p:nvPr/>
        </p:nvSpPr>
        <p:spPr>
          <a:xfrm>
            <a:off x="419100" y="685800"/>
            <a:ext cx="10763250" cy="7810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2400" b="1">
                <a:solidFill>
                  <a:srgbClr val="17313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400" b="1">
                <a:solidFill>
                  <a:srgbClr val="17313B"/>
                </a:solidFill>
                <a:latin typeface="Microsoft YaHei"/>
                <a:ea typeface="Microsoft YaHei"/>
                <a:cs typeface="Microsoft YaHei"/>
              </a:rPr>
              <a:t>BLE 发送点挂在原有测量事件上，避免维护两套算法。</a:t>
            </a:r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A67452B8-B35D-4ECC-9A70-99C5F4D70B90}"/>
              </a:ext>
            </a:extLst>
          </p:cNvPr>
          <p:cNvSpPr>
            <a:spLocks noGrp="1"/>
          </p:cNvSpPr>
          <p:nvPr/>
        </p:nvSpPr>
        <p:spPr>
          <a:xfrm>
            <a:off x="419100" y="6438900"/>
            <a:ext cx="8572500" cy="9525"/>
          </a:xfrm>
          <a:prstGeom prst="rect">
            <a:avLst/>
          </a:prstGeom>
          <a:solidFill>
            <a:srgbClr val="D6DEE1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6" name="矩形 5">
            <a:extLst>
              <a:ext uri="{FF2B5EF4-FFF2-40B4-BE49-F238E27FC236}">
                <a16:creationId xmlns:a16="http://schemas.microsoft.com/office/drawing/2014/main" id="{CC3EA09F-4D9D-44F3-A021-F94EB7D456E7}"/>
              </a:ext>
            </a:extLst>
          </p:cNvPr>
          <p:cNvSpPr>
            <a:spLocks noGrp="1"/>
          </p:cNvSpPr>
          <p:nvPr/>
        </p:nvSpPr>
        <p:spPr>
          <a:xfrm>
            <a:off x="419100" y="6515100"/>
            <a:ext cx="8572500" cy="1905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675" b="0">
                <a:solidFill>
                  <a:srgbClr val="7C8A9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675" b="0">
                <a:solidFill>
                  <a:srgbClr val="7C8A90"/>
                </a:solidFill>
                <a:latin typeface="Microsoft YaHei"/>
                <a:ea typeface="Microsoft YaHei"/>
                <a:cs typeface="Microsoft YaHei"/>
              </a:rPr>
              <a:t>Source: Arduino / WeChat Mini Program source code; WeChat Mini Program BLE API docs</a:t>
            </a:r>
          </a:p>
        </p:txBody>
      </p:sp>
      <p:sp>
        <p:nvSpPr>
          <p:cNvPr id="7" name="矩形 6">
            <a:extLst>
              <a:ext uri="{FF2B5EF4-FFF2-40B4-BE49-F238E27FC236}">
                <a16:creationId xmlns:a16="http://schemas.microsoft.com/office/drawing/2014/main" id="{92EABBCB-A982-4462-B275-3C59CE9218FC}"/>
              </a:ext>
            </a:extLst>
          </p:cNvPr>
          <p:cNvSpPr>
            <a:spLocks noGrp="1"/>
          </p:cNvSpPr>
          <p:nvPr/>
        </p:nvSpPr>
        <p:spPr>
          <a:xfrm>
            <a:off x="11334750" y="6496050"/>
            <a:ext cx="419100" cy="2095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r">
              <a:defRPr sz="825" b="0">
                <a:solidFill>
                  <a:srgbClr val="7C8A9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825" b="0">
                <a:solidFill>
                  <a:srgbClr val="7C8A90"/>
                </a:solidFill>
                <a:latin typeface="Microsoft YaHei"/>
                <a:ea typeface="Microsoft YaHei"/>
                <a:cs typeface="Microsoft YaHei"/>
              </a:rPr>
              <a:t>13</a:t>
            </a:r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7D13A2C2-0C4C-4F2E-978A-B7D1D6137BFC}"/>
              </a:ext>
            </a:extLst>
          </p:cNvPr>
          <p:cNvSpPr>
            <a:spLocks noGrp="1"/>
          </p:cNvSpPr>
          <p:nvPr/>
        </p:nvSpPr>
        <p:spPr>
          <a:xfrm>
            <a:off x="704850" y="2381250"/>
            <a:ext cx="1219200" cy="609600"/>
          </a:xfrm>
          <a:prstGeom prst="rect">
            <a:avLst/>
          </a:prstGeom>
          <a:solidFill>
            <a:srgbClr val="FFFFFF"/>
          </a:solidFill>
          <a:ln w="9525">
            <a:solidFill>
              <a:srgbClr val="DCE5E7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A37011EF-AA82-447D-81B9-0CDA026DB267}"/>
              </a:ext>
            </a:extLst>
          </p:cNvPr>
          <p:cNvSpPr>
            <a:spLocks noGrp="1"/>
          </p:cNvSpPr>
          <p:nvPr/>
        </p:nvSpPr>
        <p:spPr>
          <a:xfrm>
            <a:off x="704850" y="2381250"/>
            <a:ext cx="57150" cy="609600"/>
          </a:xfrm>
          <a:prstGeom prst="rect">
            <a:avLst/>
          </a:prstGeom>
          <a:solidFill>
            <a:srgbClr val="F2A23A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5E423D19-BE65-4536-A6A9-475237DED665}"/>
              </a:ext>
            </a:extLst>
          </p:cNvPr>
          <p:cNvSpPr>
            <a:spLocks noGrp="1"/>
          </p:cNvSpPr>
          <p:nvPr/>
        </p:nvSpPr>
        <p:spPr>
          <a:xfrm>
            <a:off x="876300" y="2514600"/>
            <a:ext cx="876300" cy="2857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915" b="1">
                <a:solidFill>
                  <a:srgbClr val="17313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15" b="1">
                <a:solidFill>
                  <a:srgbClr val="17313B"/>
                </a:solidFill>
                <a:latin typeface="Microsoft YaHei"/>
                <a:ea typeface="Microsoft YaHei"/>
                <a:cs typeface="Microsoft YaHei"/>
              </a:rPr>
              <a:t>readSample()</a:t>
            </a:r>
          </a:p>
        </p:txBody>
      </p:sp>
      <p:sp>
        <p:nvSpPr>
          <p:cNvPr id="11" name="矩形 10">
            <a:extLst>
              <a:ext uri="{FF2B5EF4-FFF2-40B4-BE49-F238E27FC236}">
                <a16:creationId xmlns:a16="http://schemas.microsoft.com/office/drawing/2014/main" id="{1C8FF108-567B-4877-8CA9-0BA9C6501B06}"/>
              </a:ext>
            </a:extLst>
          </p:cNvPr>
          <p:cNvSpPr>
            <a:spLocks noGrp="1"/>
          </p:cNvSpPr>
          <p:nvPr/>
        </p:nvSpPr>
        <p:spPr>
          <a:xfrm>
            <a:off x="876300" y="2838450"/>
            <a:ext cx="876300" cy="571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810" b="0">
                <a:solidFill>
                  <a:srgbClr val="687A8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810" b="0">
                <a:solidFill>
                  <a:srgbClr val="687A84"/>
                </a:solidFill>
                <a:latin typeface="Microsoft YaHei"/>
                <a:ea typeface="Microsoft YaHei"/>
                <a:cs typeface="Microsoft YaHei"/>
              </a:rPr>
              <a:t>读取 red / IR</a:t>
            </a:r>
          </a:p>
        </p:txBody>
      </p:sp>
      <p:sp>
        <p:nvSpPr>
          <p:cNvPr id="12" name="矩形 11">
            <a:extLst>
              <a:ext uri="{FF2B5EF4-FFF2-40B4-BE49-F238E27FC236}">
                <a16:creationId xmlns:a16="http://schemas.microsoft.com/office/drawing/2014/main" id="{0F6C68DA-8860-4FBD-9954-0FB2A33F9B7C}"/>
              </a:ext>
            </a:extLst>
          </p:cNvPr>
          <p:cNvSpPr>
            <a:spLocks noGrp="1"/>
          </p:cNvSpPr>
          <p:nvPr/>
        </p:nvSpPr>
        <p:spPr>
          <a:xfrm>
            <a:off x="1914525" y="2686050"/>
            <a:ext cx="19050" cy="781050"/>
          </a:xfrm>
          <a:prstGeom prst="rect">
            <a:avLst/>
          </a:prstGeom>
          <a:solidFill>
            <a:srgbClr val="22A6C7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3" name="矩形 12">
            <a:extLst>
              <a:ext uri="{FF2B5EF4-FFF2-40B4-BE49-F238E27FC236}">
                <a16:creationId xmlns:a16="http://schemas.microsoft.com/office/drawing/2014/main" id="{EFF958D6-7C23-4A05-8F1F-AFEAA86B2CE9}"/>
              </a:ext>
            </a:extLst>
          </p:cNvPr>
          <p:cNvSpPr>
            <a:spLocks noGrp="1"/>
          </p:cNvSpPr>
          <p:nvPr/>
        </p:nvSpPr>
        <p:spPr>
          <a:xfrm>
            <a:off x="1809750" y="3381375"/>
            <a:ext cx="22860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ctr"/>
          <a:lstStyle/>
          <a:p>
            <a:pPr algn="ctr">
              <a:defRPr sz="1200" b="1">
                <a:solidFill>
                  <a:srgbClr val="22A6C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>
                <a:solidFill>
                  <a:srgbClr val="22A6C7"/>
                </a:solidFill>
                <a:latin typeface="Microsoft YaHei"/>
                <a:ea typeface="Microsoft YaHei"/>
                <a:cs typeface="Microsoft YaHei"/>
              </a:rPr>
              <a:t>v</a:t>
            </a:r>
          </a:p>
        </p:txBody>
      </p:sp>
      <p:sp>
        <p:nvSpPr>
          <p:cNvPr id="14" name="矩形 13">
            <a:extLst>
              <a:ext uri="{FF2B5EF4-FFF2-40B4-BE49-F238E27FC236}">
                <a16:creationId xmlns:a16="http://schemas.microsoft.com/office/drawing/2014/main" id="{3D4FEF00-73E1-42B8-9E2D-A4B056B27B49}"/>
              </a:ext>
            </a:extLst>
          </p:cNvPr>
          <p:cNvSpPr>
            <a:spLocks noGrp="1"/>
          </p:cNvSpPr>
          <p:nvPr/>
        </p:nvSpPr>
        <p:spPr>
          <a:xfrm>
            <a:off x="2247900" y="3162300"/>
            <a:ext cx="1219200" cy="609600"/>
          </a:xfrm>
          <a:prstGeom prst="rect">
            <a:avLst/>
          </a:prstGeom>
          <a:solidFill>
            <a:srgbClr val="FFFFFF"/>
          </a:solidFill>
          <a:ln w="9525">
            <a:solidFill>
              <a:srgbClr val="DCE5E7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5" name="矩形 14">
            <a:extLst>
              <a:ext uri="{FF2B5EF4-FFF2-40B4-BE49-F238E27FC236}">
                <a16:creationId xmlns:a16="http://schemas.microsoft.com/office/drawing/2014/main" id="{5EEB7FE8-CCA8-48CD-81F8-D0AA0296671E}"/>
              </a:ext>
            </a:extLst>
          </p:cNvPr>
          <p:cNvSpPr>
            <a:spLocks noGrp="1"/>
          </p:cNvSpPr>
          <p:nvPr/>
        </p:nvSpPr>
        <p:spPr>
          <a:xfrm>
            <a:off x="2247900" y="3162300"/>
            <a:ext cx="57150" cy="609600"/>
          </a:xfrm>
          <a:prstGeom prst="rect">
            <a:avLst/>
          </a:prstGeom>
          <a:solidFill>
            <a:srgbClr val="F2A23A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6" name="矩形 15">
            <a:extLst>
              <a:ext uri="{FF2B5EF4-FFF2-40B4-BE49-F238E27FC236}">
                <a16:creationId xmlns:a16="http://schemas.microsoft.com/office/drawing/2014/main" id="{45FDA176-74F7-4DBA-B73E-901F72852F7D}"/>
              </a:ext>
            </a:extLst>
          </p:cNvPr>
          <p:cNvSpPr>
            <a:spLocks noGrp="1"/>
          </p:cNvSpPr>
          <p:nvPr/>
        </p:nvSpPr>
        <p:spPr>
          <a:xfrm>
            <a:off x="2419350" y="3295650"/>
            <a:ext cx="876300" cy="2857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915" b="1">
                <a:solidFill>
                  <a:srgbClr val="17313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15" b="1">
                <a:solidFill>
                  <a:srgbClr val="17313B"/>
                </a:solidFill>
                <a:latin typeface="Microsoft YaHei"/>
                <a:ea typeface="Microsoft YaHei"/>
                <a:cs typeface="Microsoft YaHei"/>
              </a:rPr>
              <a:t>finger detect</a:t>
            </a:r>
          </a:p>
        </p:txBody>
      </p:sp>
      <p:sp>
        <p:nvSpPr>
          <p:cNvPr id="17" name="矩形 16">
            <a:extLst>
              <a:ext uri="{FF2B5EF4-FFF2-40B4-BE49-F238E27FC236}">
                <a16:creationId xmlns:a16="http://schemas.microsoft.com/office/drawing/2014/main" id="{E0ED70DA-319D-4E2C-9774-0A16D238D93D}"/>
              </a:ext>
            </a:extLst>
          </p:cNvPr>
          <p:cNvSpPr>
            <a:spLocks noGrp="1"/>
          </p:cNvSpPr>
          <p:nvPr/>
        </p:nvSpPr>
        <p:spPr>
          <a:xfrm>
            <a:off x="2419350" y="3619500"/>
            <a:ext cx="876300" cy="571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810" b="0">
                <a:solidFill>
                  <a:srgbClr val="687A8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810" b="0">
                <a:solidFill>
                  <a:srgbClr val="687A84"/>
                </a:solidFill>
                <a:latin typeface="Microsoft YaHei"/>
                <a:ea typeface="Microsoft YaHei"/>
                <a:cs typeface="Microsoft YaHei"/>
              </a:rPr>
              <a:t>手指检测</a:t>
            </a:r>
          </a:p>
        </p:txBody>
      </p:sp>
      <p:sp>
        <p:nvSpPr>
          <p:cNvPr id="18" name="矩形 17">
            <a:extLst>
              <a:ext uri="{FF2B5EF4-FFF2-40B4-BE49-F238E27FC236}">
                <a16:creationId xmlns:a16="http://schemas.microsoft.com/office/drawing/2014/main" id="{8E0BE446-2CBD-4CF7-AC94-31AC51351C9D}"/>
              </a:ext>
            </a:extLst>
          </p:cNvPr>
          <p:cNvSpPr>
            <a:spLocks noGrp="1"/>
          </p:cNvSpPr>
          <p:nvPr/>
        </p:nvSpPr>
        <p:spPr>
          <a:xfrm>
            <a:off x="3457575" y="2686050"/>
            <a:ext cx="19050" cy="781050"/>
          </a:xfrm>
          <a:prstGeom prst="rect">
            <a:avLst/>
          </a:prstGeom>
          <a:solidFill>
            <a:srgbClr val="22A6C7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9" name="矩形 18">
            <a:extLst>
              <a:ext uri="{FF2B5EF4-FFF2-40B4-BE49-F238E27FC236}">
                <a16:creationId xmlns:a16="http://schemas.microsoft.com/office/drawing/2014/main" id="{A0D6B2F0-5E2C-4C7D-8966-5281CED255CD}"/>
              </a:ext>
            </a:extLst>
          </p:cNvPr>
          <p:cNvSpPr>
            <a:spLocks noGrp="1"/>
          </p:cNvSpPr>
          <p:nvPr/>
        </p:nvSpPr>
        <p:spPr>
          <a:xfrm>
            <a:off x="3352800" y="2600325"/>
            <a:ext cx="22860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ctr"/>
          <a:lstStyle/>
          <a:p>
            <a:pPr algn="ctr">
              <a:defRPr sz="1200" b="1">
                <a:solidFill>
                  <a:srgbClr val="22A6C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>
                <a:solidFill>
                  <a:srgbClr val="22A6C7"/>
                </a:solidFill>
                <a:latin typeface="Microsoft YaHei"/>
                <a:ea typeface="Microsoft YaHei"/>
                <a:cs typeface="Microsoft YaHei"/>
              </a:rPr>
              <a:t>v</a:t>
            </a:r>
          </a:p>
        </p:txBody>
      </p:sp>
      <p:sp>
        <p:nvSpPr>
          <p:cNvPr id="20" name="矩形 19">
            <a:extLst>
              <a:ext uri="{FF2B5EF4-FFF2-40B4-BE49-F238E27FC236}">
                <a16:creationId xmlns:a16="http://schemas.microsoft.com/office/drawing/2014/main" id="{1340D6D6-C796-47F5-A80C-05242EB2AD63}"/>
              </a:ext>
            </a:extLst>
          </p:cNvPr>
          <p:cNvSpPr>
            <a:spLocks noGrp="1"/>
          </p:cNvSpPr>
          <p:nvPr/>
        </p:nvSpPr>
        <p:spPr>
          <a:xfrm>
            <a:off x="3790950" y="2381250"/>
            <a:ext cx="1219200" cy="609600"/>
          </a:xfrm>
          <a:prstGeom prst="rect">
            <a:avLst/>
          </a:prstGeom>
          <a:solidFill>
            <a:srgbClr val="FFFFFF"/>
          </a:solidFill>
          <a:ln w="9525">
            <a:solidFill>
              <a:srgbClr val="DCE5E7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1" name="矩形 20">
            <a:extLst>
              <a:ext uri="{FF2B5EF4-FFF2-40B4-BE49-F238E27FC236}">
                <a16:creationId xmlns:a16="http://schemas.microsoft.com/office/drawing/2014/main" id="{505698D4-8CFD-43B8-B1DB-8EABFBAC896E}"/>
              </a:ext>
            </a:extLst>
          </p:cNvPr>
          <p:cNvSpPr>
            <a:spLocks noGrp="1"/>
          </p:cNvSpPr>
          <p:nvPr/>
        </p:nvSpPr>
        <p:spPr>
          <a:xfrm>
            <a:off x="3790950" y="2381250"/>
            <a:ext cx="57150" cy="609600"/>
          </a:xfrm>
          <a:prstGeom prst="rect">
            <a:avLst/>
          </a:prstGeom>
          <a:solidFill>
            <a:srgbClr val="F2A23A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2" name="矩形 21">
            <a:extLst>
              <a:ext uri="{FF2B5EF4-FFF2-40B4-BE49-F238E27FC236}">
                <a16:creationId xmlns:a16="http://schemas.microsoft.com/office/drawing/2014/main" id="{B487EA42-712D-4257-91B3-C051C7319C5C}"/>
              </a:ext>
            </a:extLst>
          </p:cNvPr>
          <p:cNvSpPr>
            <a:spLocks noGrp="1"/>
          </p:cNvSpPr>
          <p:nvPr/>
        </p:nvSpPr>
        <p:spPr>
          <a:xfrm>
            <a:off x="3962400" y="2514600"/>
            <a:ext cx="876300" cy="2857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915" b="1">
                <a:solidFill>
                  <a:srgbClr val="17313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15" b="1">
                <a:solidFill>
                  <a:srgbClr val="17313B"/>
                </a:solidFill>
                <a:latin typeface="Microsoft YaHei"/>
                <a:ea typeface="Microsoft YaHei"/>
                <a:cs typeface="Microsoft YaHei"/>
              </a:rPr>
              <a:t>filter + diff</a:t>
            </a:r>
          </a:p>
        </p:txBody>
      </p:sp>
      <p:sp>
        <p:nvSpPr>
          <p:cNvPr id="23" name="矩形 22">
            <a:extLst>
              <a:ext uri="{FF2B5EF4-FFF2-40B4-BE49-F238E27FC236}">
                <a16:creationId xmlns:a16="http://schemas.microsoft.com/office/drawing/2014/main" id="{5981EC6A-7E81-426D-A6CE-D998D55D235F}"/>
              </a:ext>
            </a:extLst>
          </p:cNvPr>
          <p:cNvSpPr>
            <a:spLocks noGrp="1"/>
          </p:cNvSpPr>
          <p:nvPr/>
        </p:nvSpPr>
        <p:spPr>
          <a:xfrm>
            <a:off x="3962400" y="2838450"/>
            <a:ext cx="876300" cy="571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810" b="0">
                <a:solidFill>
                  <a:srgbClr val="687A8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810" b="0">
                <a:solidFill>
                  <a:srgbClr val="687A84"/>
                </a:solidFill>
                <a:latin typeface="Microsoft YaHei"/>
                <a:ea typeface="Microsoft YaHei"/>
                <a:cs typeface="Microsoft YaHei"/>
              </a:rPr>
              <a:t>滤波和微分</a:t>
            </a:r>
          </a:p>
        </p:txBody>
      </p:sp>
      <p:sp>
        <p:nvSpPr>
          <p:cNvPr id="24" name="矩形 23">
            <a:extLst>
              <a:ext uri="{FF2B5EF4-FFF2-40B4-BE49-F238E27FC236}">
                <a16:creationId xmlns:a16="http://schemas.microsoft.com/office/drawing/2014/main" id="{BE8F65D9-EEE1-46FC-81DE-9BC6D2641AB1}"/>
              </a:ext>
            </a:extLst>
          </p:cNvPr>
          <p:cNvSpPr>
            <a:spLocks noGrp="1"/>
          </p:cNvSpPr>
          <p:nvPr/>
        </p:nvSpPr>
        <p:spPr>
          <a:xfrm>
            <a:off x="5000625" y="2686050"/>
            <a:ext cx="19050" cy="781050"/>
          </a:xfrm>
          <a:prstGeom prst="rect">
            <a:avLst/>
          </a:prstGeom>
          <a:solidFill>
            <a:srgbClr val="22A6C7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5" name="矩形 24">
            <a:extLst>
              <a:ext uri="{FF2B5EF4-FFF2-40B4-BE49-F238E27FC236}">
                <a16:creationId xmlns:a16="http://schemas.microsoft.com/office/drawing/2014/main" id="{3A3BD24E-353C-4FE7-9A95-AAEFFB6A09D3}"/>
              </a:ext>
            </a:extLst>
          </p:cNvPr>
          <p:cNvSpPr>
            <a:spLocks noGrp="1"/>
          </p:cNvSpPr>
          <p:nvPr/>
        </p:nvSpPr>
        <p:spPr>
          <a:xfrm>
            <a:off x="4895850" y="3381375"/>
            <a:ext cx="22860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ctr"/>
          <a:lstStyle/>
          <a:p>
            <a:pPr algn="ctr">
              <a:defRPr sz="1200" b="1">
                <a:solidFill>
                  <a:srgbClr val="22A6C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>
                <a:solidFill>
                  <a:srgbClr val="22A6C7"/>
                </a:solidFill>
                <a:latin typeface="Microsoft YaHei"/>
                <a:ea typeface="Microsoft YaHei"/>
                <a:cs typeface="Microsoft YaHei"/>
              </a:rPr>
              <a:t>v</a:t>
            </a:r>
          </a:p>
        </p:txBody>
      </p:sp>
      <p:sp>
        <p:nvSpPr>
          <p:cNvPr id="26" name="矩形 25">
            <a:extLst>
              <a:ext uri="{FF2B5EF4-FFF2-40B4-BE49-F238E27FC236}">
                <a16:creationId xmlns:a16="http://schemas.microsoft.com/office/drawing/2014/main" id="{67644A62-9354-43B3-81E8-5F530A0AA514}"/>
              </a:ext>
            </a:extLst>
          </p:cNvPr>
          <p:cNvSpPr>
            <a:spLocks noGrp="1"/>
          </p:cNvSpPr>
          <p:nvPr/>
        </p:nvSpPr>
        <p:spPr>
          <a:xfrm>
            <a:off x="5334000" y="3162300"/>
            <a:ext cx="1219200" cy="609600"/>
          </a:xfrm>
          <a:prstGeom prst="rect">
            <a:avLst/>
          </a:prstGeom>
          <a:solidFill>
            <a:srgbClr val="FFFFFF"/>
          </a:solidFill>
          <a:ln w="9525">
            <a:solidFill>
              <a:srgbClr val="DCE5E7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7" name="矩形 26">
            <a:extLst>
              <a:ext uri="{FF2B5EF4-FFF2-40B4-BE49-F238E27FC236}">
                <a16:creationId xmlns:a16="http://schemas.microsoft.com/office/drawing/2014/main" id="{4DF47B2D-FF2E-4076-9E23-E2FD1B51B58C}"/>
              </a:ext>
            </a:extLst>
          </p:cNvPr>
          <p:cNvSpPr>
            <a:spLocks noGrp="1"/>
          </p:cNvSpPr>
          <p:nvPr/>
        </p:nvSpPr>
        <p:spPr>
          <a:xfrm>
            <a:off x="5334000" y="3162300"/>
            <a:ext cx="57150" cy="609600"/>
          </a:xfrm>
          <a:prstGeom prst="rect">
            <a:avLst/>
          </a:prstGeom>
          <a:solidFill>
            <a:srgbClr val="F2A23A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8" name="矩形 27">
            <a:extLst>
              <a:ext uri="{FF2B5EF4-FFF2-40B4-BE49-F238E27FC236}">
                <a16:creationId xmlns:a16="http://schemas.microsoft.com/office/drawing/2014/main" id="{DBEF7A0C-B2BE-42AB-AF70-DD870E3301FB}"/>
              </a:ext>
            </a:extLst>
          </p:cNvPr>
          <p:cNvSpPr>
            <a:spLocks noGrp="1"/>
          </p:cNvSpPr>
          <p:nvPr/>
        </p:nvSpPr>
        <p:spPr>
          <a:xfrm>
            <a:off x="5505450" y="3295650"/>
            <a:ext cx="876300" cy="2857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915" b="1">
                <a:solidFill>
                  <a:srgbClr val="17313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15" b="1">
                <a:solidFill>
                  <a:srgbClr val="17313B"/>
                </a:solidFill>
                <a:latin typeface="Microsoft YaHei"/>
                <a:ea typeface="Microsoft YaHei"/>
                <a:cs typeface="Microsoft YaHei"/>
              </a:rPr>
              <a:t>PPGcount &gt;= 8</a:t>
            </a:r>
          </a:p>
        </p:txBody>
      </p:sp>
      <p:sp>
        <p:nvSpPr>
          <p:cNvPr id="29" name="矩形 28">
            <a:extLst>
              <a:ext uri="{FF2B5EF4-FFF2-40B4-BE49-F238E27FC236}">
                <a16:creationId xmlns:a16="http://schemas.microsoft.com/office/drawing/2014/main" id="{A8F21281-888E-4720-99E3-71316861D39D}"/>
              </a:ext>
            </a:extLst>
          </p:cNvPr>
          <p:cNvSpPr>
            <a:spLocks noGrp="1"/>
          </p:cNvSpPr>
          <p:nvPr/>
        </p:nvSpPr>
        <p:spPr>
          <a:xfrm>
            <a:off x="5505450" y="3619500"/>
            <a:ext cx="876300" cy="571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810" b="0">
                <a:solidFill>
                  <a:srgbClr val="687A8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810" b="0">
                <a:solidFill>
                  <a:srgbClr val="687A84"/>
                </a:solidFill>
                <a:latin typeface="Microsoft YaHei"/>
                <a:ea typeface="Microsoft YaHei"/>
                <a:cs typeface="Microsoft YaHei"/>
              </a:rPr>
              <a:t>映射到 0-120</a:t>
            </a:r>
          </a:p>
        </p:txBody>
      </p:sp>
      <p:sp>
        <p:nvSpPr>
          <p:cNvPr id="30" name="矩形 29">
            <a:extLst>
              <a:ext uri="{FF2B5EF4-FFF2-40B4-BE49-F238E27FC236}">
                <a16:creationId xmlns:a16="http://schemas.microsoft.com/office/drawing/2014/main" id="{AD24D3B9-1FFD-43EC-9AF1-402D874C9414}"/>
              </a:ext>
            </a:extLst>
          </p:cNvPr>
          <p:cNvSpPr>
            <a:spLocks noGrp="1"/>
          </p:cNvSpPr>
          <p:nvPr/>
        </p:nvSpPr>
        <p:spPr>
          <a:xfrm>
            <a:off x="6543675" y="2686050"/>
            <a:ext cx="19050" cy="781050"/>
          </a:xfrm>
          <a:prstGeom prst="rect">
            <a:avLst/>
          </a:prstGeom>
          <a:solidFill>
            <a:srgbClr val="22A6C7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31" name="矩形 30">
            <a:extLst>
              <a:ext uri="{FF2B5EF4-FFF2-40B4-BE49-F238E27FC236}">
                <a16:creationId xmlns:a16="http://schemas.microsoft.com/office/drawing/2014/main" id="{F6813C84-2449-42A4-A0E2-DFAB853CD6D5}"/>
              </a:ext>
            </a:extLst>
          </p:cNvPr>
          <p:cNvSpPr>
            <a:spLocks noGrp="1"/>
          </p:cNvSpPr>
          <p:nvPr/>
        </p:nvSpPr>
        <p:spPr>
          <a:xfrm>
            <a:off x="6438900" y="2600325"/>
            <a:ext cx="22860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ctr"/>
          <a:lstStyle/>
          <a:p>
            <a:pPr algn="ctr">
              <a:defRPr sz="1200" b="1">
                <a:solidFill>
                  <a:srgbClr val="22A6C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>
                <a:solidFill>
                  <a:srgbClr val="22A6C7"/>
                </a:solidFill>
                <a:latin typeface="Microsoft YaHei"/>
                <a:ea typeface="Microsoft YaHei"/>
                <a:cs typeface="Microsoft YaHei"/>
              </a:rPr>
              <a:t>v</a:t>
            </a:r>
          </a:p>
        </p:txBody>
      </p:sp>
      <p:sp>
        <p:nvSpPr>
          <p:cNvPr id="32" name="矩形 31">
            <a:extLst>
              <a:ext uri="{FF2B5EF4-FFF2-40B4-BE49-F238E27FC236}">
                <a16:creationId xmlns:a16="http://schemas.microsoft.com/office/drawing/2014/main" id="{AA7269EA-FB84-4420-8AF7-FBBA4EC6FF38}"/>
              </a:ext>
            </a:extLst>
          </p:cNvPr>
          <p:cNvSpPr>
            <a:spLocks noGrp="1"/>
          </p:cNvSpPr>
          <p:nvPr/>
        </p:nvSpPr>
        <p:spPr>
          <a:xfrm>
            <a:off x="6877050" y="2381250"/>
            <a:ext cx="1219200" cy="609600"/>
          </a:xfrm>
          <a:prstGeom prst="rect">
            <a:avLst/>
          </a:prstGeom>
          <a:solidFill>
            <a:srgbClr val="FFFFFF"/>
          </a:solidFill>
          <a:ln w="9525">
            <a:solidFill>
              <a:srgbClr val="DCE5E7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33" name="矩形 32">
            <a:extLst>
              <a:ext uri="{FF2B5EF4-FFF2-40B4-BE49-F238E27FC236}">
                <a16:creationId xmlns:a16="http://schemas.microsoft.com/office/drawing/2014/main" id="{EE80390C-B615-4211-86F5-2B60013100C1}"/>
              </a:ext>
            </a:extLst>
          </p:cNvPr>
          <p:cNvSpPr>
            <a:spLocks noGrp="1"/>
          </p:cNvSpPr>
          <p:nvPr/>
        </p:nvSpPr>
        <p:spPr>
          <a:xfrm>
            <a:off x="6877050" y="2381250"/>
            <a:ext cx="57150" cy="609600"/>
          </a:xfrm>
          <a:prstGeom prst="rect">
            <a:avLst/>
          </a:prstGeom>
          <a:solidFill>
            <a:srgbClr val="18C7A3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34" name="矩形 33">
            <a:extLst>
              <a:ext uri="{FF2B5EF4-FFF2-40B4-BE49-F238E27FC236}">
                <a16:creationId xmlns:a16="http://schemas.microsoft.com/office/drawing/2014/main" id="{5536FFA1-B315-45E1-BE78-CA9C4D503CEE}"/>
              </a:ext>
            </a:extLst>
          </p:cNvPr>
          <p:cNvSpPr>
            <a:spLocks noGrp="1"/>
          </p:cNvSpPr>
          <p:nvPr/>
        </p:nvSpPr>
        <p:spPr>
          <a:xfrm>
            <a:off x="7048500" y="2514600"/>
            <a:ext cx="876300" cy="2857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915" b="1">
                <a:solidFill>
                  <a:srgbClr val="17313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15" b="1">
                <a:solidFill>
                  <a:srgbClr val="17313B"/>
                </a:solidFill>
                <a:latin typeface="Microsoft YaHei"/>
                <a:ea typeface="Microsoft YaHei"/>
                <a:cs typeface="Microsoft YaHei"/>
              </a:rPr>
              <a:t>notifyWave()</a:t>
            </a:r>
          </a:p>
        </p:txBody>
      </p:sp>
      <p:sp>
        <p:nvSpPr>
          <p:cNvPr id="35" name="矩形 34">
            <a:extLst>
              <a:ext uri="{FF2B5EF4-FFF2-40B4-BE49-F238E27FC236}">
                <a16:creationId xmlns:a16="http://schemas.microsoft.com/office/drawing/2014/main" id="{68F1B100-4487-4509-927A-E9AFB266FD58}"/>
              </a:ext>
            </a:extLst>
          </p:cNvPr>
          <p:cNvSpPr>
            <a:spLocks noGrp="1"/>
          </p:cNvSpPr>
          <p:nvPr/>
        </p:nvSpPr>
        <p:spPr>
          <a:xfrm>
            <a:off x="7048500" y="2838450"/>
            <a:ext cx="876300" cy="571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810" b="0">
                <a:solidFill>
                  <a:srgbClr val="687A8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810" b="0">
                <a:solidFill>
                  <a:srgbClr val="687A84"/>
                </a:solidFill>
                <a:latin typeface="Microsoft YaHei"/>
                <a:ea typeface="Microsoft YaHei"/>
                <a:cs typeface="Microsoft YaHei"/>
              </a:rPr>
              <a:t>4-byte 包</a:t>
            </a:r>
          </a:p>
        </p:txBody>
      </p:sp>
      <p:sp>
        <p:nvSpPr>
          <p:cNvPr id="36" name="矩形 35">
            <a:extLst>
              <a:ext uri="{FF2B5EF4-FFF2-40B4-BE49-F238E27FC236}">
                <a16:creationId xmlns:a16="http://schemas.microsoft.com/office/drawing/2014/main" id="{901A5C0C-3D54-4965-9190-806BEA3E0AAD}"/>
              </a:ext>
            </a:extLst>
          </p:cNvPr>
          <p:cNvSpPr>
            <a:spLocks noGrp="1"/>
          </p:cNvSpPr>
          <p:nvPr/>
        </p:nvSpPr>
        <p:spPr>
          <a:xfrm>
            <a:off x="8086725" y="2686050"/>
            <a:ext cx="19050" cy="781050"/>
          </a:xfrm>
          <a:prstGeom prst="rect">
            <a:avLst/>
          </a:prstGeom>
          <a:solidFill>
            <a:srgbClr val="22A6C7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37" name="矩形 36">
            <a:extLst>
              <a:ext uri="{FF2B5EF4-FFF2-40B4-BE49-F238E27FC236}">
                <a16:creationId xmlns:a16="http://schemas.microsoft.com/office/drawing/2014/main" id="{6AC57076-CE93-48F7-AA9C-5BFB7295E061}"/>
              </a:ext>
            </a:extLst>
          </p:cNvPr>
          <p:cNvSpPr>
            <a:spLocks noGrp="1"/>
          </p:cNvSpPr>
          <p:nvPr/>
        </p:nvSpPr>
        <p:spPr>
          <a:xfrm>
            <a:off x="7981950" y="3381375"/>
            <a:ext cx="22860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ctr"/>
          <a:lstStyle/>
          <a:p>
            <a:pPr algn="ctr">
              <a:defRPr sz="1200" b="1">
                <a:solidFill>
                  <a:srgbClr val="22A6C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>
                <a:solidFill>
                  <a:srgbClr val="22A6C7"/>
                </a:solidFill>
                <a:latin typeface="Microsoft YaHei"/>
                <a:ea typeface="Microsoft YaHei"/>
                <a:cs typeface="Microsoft YaHei"/>
              </a:rPr>
              <a:t>v</a:t>
            </a:r>
          </a:p>
        </p:txBody>
      </p:sp>
      <p:sp>
        <p:nvSpPr>
          <p:cNvPr id="38" name="矩形 37">
            <a:extLst>
              <a:ext uri="{FF2B5EF4-FFF2-40B4-BE49-F238E27FC236}">
                <a16:creationId xmlns:a16="http://schemas.microsoft.com/office/drawing/2014/main" id="{F31E09BD-E0B1-4E47-B418-4C83F10E3094}"/>
              </a:ext>
            </a:extLst>
          </p:cNvPr>
          <p:cNvSpPr>
            <a:spLocks noGrp="1"/>
          </p:cNvSpPr>
          <p:nvPr/>
        </p:nvSpPr>
        <p:spPr>
          <a:xfrm>
            <a:off x="8420100" y="3162300"/>
            <a:ext cx="1219200" cy="609600"/>
          </a:xfrm>
          <a:prstGeom prst="rect">
            <a:avLst/>
          </a:prstGeom>
          <a:solidFill>
            <a:srgbClr val="FFFFFF"/>
          </a:solidFill>
          <a:ln w="9525">
            <a:solidFill>
              <a:srgbClr val="DCE5E7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39" name="矩形 38">
            <a:extLst>
              <a:ext uri="{FF2B5EF4-FFF2-40B4-BE49-F238E27FC236}">
                <a16:creationId xmlns:a16="http://schemas.microsoft.com/office/drawing/2014/main" id="{5DD586EA-0125-4E82-BFB7-9A919301CC7F}"/>
              </a:ext>
            </a:extLst>
          </p:cNvPr>
          <p:cNvSpPr>
            <a:spLocks noGrp="1"/>
          </p:cNvSpPr>
          <p:nvPr/>
        </p:nvSpPr>
        <p:spPr>
          <a:xfrm>
            <a:off x="8420100" y="3162300"/>
            <a:ext cx="57150" cy="609600"/>
          </a:xfrm>
          <a:prstGeom prst="rect">
            <a:avLst/>
          </a:prstGeom>
          <a:solidFill>
            <a:srgbClr val="18C7A3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40" name="矩形 39">
            <a:extLst>
              <a:ext uri="{FF2B5EF4-FFF2-40B4-BE49-F238E27FC236}">
                <a16:creationId xmlns:a16="http://schemas.microsoft.com/office/drawing/2014/main" id="{1AC3A720-61C8-4FB3-B3DD-4FC69D37CF46}"/>
              </a:ext>
            </a:extLst>
          </p:cNvPr>
          <p:cNvSpPr>
            <a:spLocks noGrp="1"/>
          </p:cNvSpPr>
          <p:nvPr/>
        </p:nvSpPr>
        <p:spPr>
          <a:xfrm>
            <a:off x="8591550" y="3295650"/>
            <a:ext cx="876300" cy="2857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915" b="1">
                <a:solidFill>
                  <a:srgbClr val="17313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15" b="1">
                <a:solidFill>
                  <a:srgbClr val="17313B"/>
                </a:solidFill>
                <a:latin typeface="Microsoft YaHei"/>
                <a:ea typeface="Microsoft YaHei"/>
                <a:cs typeface="Microsoft YaHei"/>
              </a:rPr>
              <a:t>avg ready</a:t>
            </a:r>
          </a:p>
        </p:txBody>
      </p:sp>
      <p:sp>
        <p:nvSpPr>
          <p:cNvPr id="41" name="矩形 40">
            <a:extLst>
              <a:ext uri="{FF2B5EF4-FFF2-40B4-BE49-F238E27FC236}">
                <a16:creationId xmlns:a16="http://schemas.microsoft.com/office/drawing/2014/main" id="{19AFA7F6-6024-42A0-AD98-30D312407ADF}"/>
              </a:ext>
            </a:extLst>
          </p:cNvPr>
          <p:cNvSpPr>
            <a:spLocks noGrp="1"/>
          </p:cNvSpPr>
          <p:nvPr/>
        </p:nvSpPr>
        <p:spPr>
          <a:xfrm>
            <a:off x="8591550" y="3619500"/>
            <a:ext cx="876300" cy="571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810" b="0">
                <a:solidFill>
                  <a:srgbClr val="687A8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810" b="0">
                <a:solidFill>
                  <a:srgbClr val="687A84"/>
                </a:solidFill>
                <a:latin typeface="Microsoft YaHei"/>
                <a:ea typeface="Microsoft YaHei"/>
                <a:cs typeface="Microsoft YaHei"/>
              </a:rPr>
              <a:t>平均值有效</a:t>
            </a:r>
          </a:p>
        </p:txBody>
      </p:sp>
      <p:sp>
        <p:nvSpPr>
          <p:cNvPr id="42" name="矩形 41">
            <a:extLst>
              <a:ext uri="{FF2B5EF4-FFF2-40B4-BE49-F238E27FC236}">
                <a16:creationId xmlns:a16="http://schemas.microsoft.com/office/drawing/2014/main" id="{1839C68C-075D-48C4-B066-8C608C93D716}"/>
              </a:ext>
            </a:extLst>
          </p:cNvPr>
          <p:cNvSpPr>
            <a:spLocks noGrp="1"/>
          </p:cNvSpPr>
          <p:nvPr/>
        </p:nvSpPr>
        <p:spPr>
          <a:xfrm>
            <a:off x="9629775" y="2686050"/>
            <a:ext cx="19050" cy="781050"/>
          </a:xfrm>
          <a:prstGeom prst="rect">
            <a:avLst/>
          </a:prstGeom>
          <a:solidFill>
            <a:srgbClr val="22A6C7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43" name="矩形 42">
            <a:extLst>
              <a:ext uri="{FF2B5EF4-FFF2-40B4-BE49-F238E27FC236}">
                <a16:creationId xmlns:a16="http://schemas.microsoft.com/office/drawing/2014/main" id="{6414FD66-ED0E-4AC1-976C-4A16621622D5}"/>
              </a:ext>
            </a:extLst>
          </p:cNvPr>
          <p:cNvSpPr>
            <a:spLocks noGrp="1"/>
          </p:cNvSpPr>
          <p:nvPr/>
        </p:nvSpPr>
        <p:spPr>
          <a:xfrm>
            <a:off x="9525000" y="2600325"/>
            <a:ext cx="22860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ctr"/>
          <a:lstStyle/>
          <a:p>
            <a:pPr algn="ctr">
              <a:defRPr sz="1200" b="1">
                <a:solidFill>
                  <a:srgbClr val="22A6C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>
                <a:solidFill>
                  <a:srgbClr val="22A6C7"/>
                </a:solidFill>
                <a:latin typeface="Microsoft YaHei"/>
                <a:ea typeface="Microsoft YaHei"/>
                <a:cs typeface="Microsoft YaHei"/>
              </a:rPr>
              <a:t>v</a:t>
            </a:r>
          </a:p>
        </p:txBody>
      </p:sp>
      <p:sp>
        <p:nvSpPr>
          <p:cNvPr id="44" name="矩形 43">
            <a:extLst>
              <a:ext uri="{FF2B5EF4-FFF2-40B4-BE49-F238E27FC236}">
                <a16:creationId xmlns:a16="http://schemas.microsoft.com/office/drawing/2014/main" id="{4CB9489C-C18A-41CB-B4AC-363AEAC59536}"/>
              </a:ext>
            </a:extLst>
          </p:cNvPr>
          <p:cNvSpPr>
            <a:spLocks noGrp="1"/>
          </p:cNvSpPr>
          <p:nvPr/>
        </p:nvSpPr>
        <p:spPr>
          <a:xfrm>
            <a:off x="9963150" y="2381250"/>
            <a:ext cx="1219200" cy="609600"/>
          </a:xfrm>
          <a:prstGeom prst="rect">
            <a:avLst/>
          </a:prstGeom>
          <a:solidFill>
            <a:srgbClr val="FFFFFF"/>
          </a:solidFill>
          <a:ln w="9525">
            <a:solidFill>
              <a:srgbClr val="DCE5E7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45" name="矩形 44">
            <a:extLst>
              <a:ext uri="{FF2B5EF4-FFF2-40B4-BE49-F238E27FC236}">
                <a16:creationId xmlns:a16="http://schemas.microsoft.com/office/drawing/2014/main" id="{F3329D61-4A29-45DE-AFDA-8D12B00B56BE}"/>
              </a:ext>
            </a:extLst>
          </p:cNvPr>
          <p:cNvSpPr>
            <a:spLocks noGrp="1"/>
          </p:cNvSpPr>
          <p:nvPr/>
        </p:nvSpPr>
        <p:spPr>
          <a:xfrm>
            <a:off x="9963150" y="2381250"/>
            <a:ext cx="57150" cy="609600"/>
          </a:xfrm>
          <a:prstGeom prst="rect">
            <a:avLst/>
          </a:prstGeom>
          <a:solidFill>
            <a:srgbClr val="18C7A3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46" name="矩形 45">
            <a:extLst>
              <a:ext uri="{FF2B5EF4-FFF2-40B4-BE49-F238E27FC236}">
                <a16:creationId xmlns:a16="http://schemas.microsoft.com/office/drawing/2014/main" id="{1C0DE271-23F1-4477-9DC7-88938C8AC04A}"/>
              </a:ext>
            </a:extLst>
          </p:cNvPr>
          <p:cNvSpPr>
            <a:spLocks noGrp="1"/>
          </p:cNvSpPr>
          <p:nvPr/>
        </p:nvSpPr>
        <p:spPr>
          <a:xfrm>
            <a:off x="10134600" y="2514600"/>
            <a:ext cx="876300" cy="2857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915" b="1">
                <a:solidFill>
                  <a:srgbClr val="17313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15" b="1">
                <a:solidFill>
                  <a:srgbClr val="17313B"/>
                </a:solidFill>
                <a:latin typeface="Microsoft YaHei"/>
                <a:ea typeface="Microsoft YaHei"/>
                <a:cs typeface="Microsoft YaHei"/>
              </a:rPr>
              <a:t>notifyMetrics()</a:t>
            </a:r>
          </a:p>
        </p:txBody>
      </p:sp>
      <p:sp>
        <p:nvSpPr>
          <p:cNvPr id="47" name="矩形 46">
            <a:extLst>
              <a:ext uri="{FF2B5EF4-FFF2-40B4-BE49-F238E27FC236}">
                <a16:creationId xmlns:a16="http://schemas.microsoft.com/office/drawing/2014/main" id="{33D79185-F122-46DD-BF28-B67C74AD07CB}"/>
              </a:ext>
            </a:extLst>
          </p:cNvPr>
          <p:cNvSpPr>
            <a:spLocks noGrp="1"/>
          </p:cNvSpPr>
          <p:nvPr/>
        </p:nvSpPr>
        <p:spPr>
          <a:xfrm>
            <a:off x="10134600" y="2838450"/>
            <a:ext cx="876300" cy="571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810" b="0">
                <a:solidFill>
                  <a:srgbClr val="687A8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810" b="0">
                <a:solidFill>
                  <a:srgbClr val="687A84"/>
                </a:solidFill>
                <a:latin typeface="Microsoft YaHei"/>
                <a:ea typeface="Microsoft YaHei"/>
                <a:cs typeface="Microsoft YaHei"/>
              </a:rPr>
              <a:t>6-byte 包</a:t>
            </a:r>
          </a:p>
        </p:txBody>
      </p:sp>
      <p:sp>
        <p:nvSpPr>
          <p:cNvPr id="48" name="矩形 47">
            <a:extLst>
              <a:ext uri="{FF2B5EF4-FFF2-40B4-BE49-F238E27FC236}">
                <a16:creationId xmlns:a16="http://schemas.microsoft.com/office/drawing/2014/main" id="{2204C2F6-73EB-41A8-B2C8-0A6E52114A45}"/>
              </a:ext>
            </a:extLst>
          </p:cNvPr>
          <p:cNvSpPr>
            <a:spLocks noGrp="1"/>
          </p:cNvSpPr>
          <p:nvPr/>
        </p:nvSpPr>
        <p:spPr>
          <a:xfrm>
            <a:off x="838200" y="4572000"/>
            <a:ext cx="4819650" cy="1047750"/>
          </a:xfrm>
          <a:prstGeom prst="rect">
            <a:avLst/>
          </a:prstGeom>
          <a:solidFill>
            <a:srgbClr val="0E1F28"/>
          </a:solidFill>
          <a:ln w="9525">
            <a:solidFill>
              <a:srgbClr val="1C3943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49" name="矩形 48">
            <a:extLst>
              <a:ext uri="{FF2B5EF4-FFF2-40B4-BE49-F238E27FC236}">
                <a16:creationId xmlns:a16="http://schemas.microsoft.com/office/drawing/2014/main" id="{8EA3F95D-9ACB-4459-A19D-79AB327F9DF3}"/>
              </a:ext>
            </a:extLst>
          </p:cNvPr>
          <p:cNvSpPr>
            <a:spLocks noGrp="1"/>
          </p:cNvSpPr>
          <p:nvPr/>
        </p:nvSpPr>
        <p:spPr>
          <a:xfrm>
            <a:off x="1009650" y="4686300"/>
            <a:ext cx="4476750" cy="16383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938" b="0">
                <a:solidFill>
                  <a:srgbClr val="EAF4F6"/>
                </a:solidFill>
                <a:latin typeface="Consolas"/>
                <a:ea typeface="Consolas"/>
                <a:cs typeface="Consolas"/>
              </a:defRPr>
            </a:pPr>
            <a:r>
              <a:rPr sz="938" b="0">
                <a:solidFill>
                  <a:srgbClr val="EAF4F6"/>
                </a:solidFill>
                <a:latin typeface="Consolas"/>
                <a:ea typeface="Consolas"/>
                <a:cs typeface="Consolas"/>
              </a:rPr>
              <a:t>if (PPGcount &gt;= 8) {</a:t>
            </a:r>
          </a:p>
        </p:txBody>
      </p:sp>
      <p:sp>
        <p:nvSpPr>
          <p:cNvPr id="50" name="矩形 49">
            <a:extLst>
              <a:ext uri="{FF2B5EF4-FFF2-40B4-BE49-F238E27FC236}">
                <a16:creationId xmlns:a16="http://schemas.microsoft.com/office/drawing/2014/main" id="{66FA9862-38BC-4700-9394-60EEAA6A7213}"/>
              </a:ext>
            </a:extLst>
          </p:cNvPr>
          <p:cNvSpPr>
            <a:spLocks noGrp="1"/>
          </p:cNvSpPr>
          <p:nvPr/>
        </p:nvSpPr>
        <p:spPr>
          <a:xfrm>
            <a:off x="1009650" y="4850130"/>
            <a:ext cx="4476750" cy="16383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938" b="0">
                <a:solidFill>
                  <a:srgbClr val="EAF4F6"/>
                </a:solidFill>
                <a:latin typeface="Consolas"/>
                <a:ea typeface="Consolas"/>
                <a:cs typeface="Consolas"/>
              </a:defRPr>
            </a:pPr>
            <a:r>
              <a:rPr sz="938" b="0">
                <a:solidFill>
                  <a:srgbClr val="EAF4F6"/>
                </a:solidFill>
                <a:latin typeface="Consolas"/>
                <a:ea typeface="Consolas"/>
                <a:cs typeface="Consolas"/>
              </a:rPr>
              <a:t>  int display_val = map(..., -500, 500, 0, 120);</a:t>
            </a:r>
          </a:p>
        </p:txBody>
      </p:sp>
      <p:sp>
        <p:nvSpPr>
          <p:cNvPr id="51" name="矩形 50">
            <a:extLst>
              <a:ext uri="{FF2B5EF4-FFF2-40B4-BE49-F238E27FC236}">
                <a16:creationId xmlns:a16="http://schemas.microsoft.com/office/drawing/2014/main" id="{764C2A45-EFCF-4AF2-B6F1-4D0B89C199E0}"/>
              </a:ext>
            </a:extLst>
          </p:cNvPr>
          <p:cNvSpPr>
            <a:spLocks noGrp="1"/>
          </p:cNvSpPr>
          <p:nvPr/>
        </p:nvSpPr>
        <p:spPr>
          <a:xfrm>
            <a:off x="1009650" y="5013960"/>
            <a:ext cx="4476750" cy="16383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938" b="0">
                <a:solidFill>
                  <a:srgbClr val="EAF4F6"/>
                </a:solidFill>
                <a:latin typeface="Consolas"/>
                <a:ea typeface="Consolas"/>
                <a:cs typeface="Consolas"/>
              </a:defRPr>
            </a:pPr>
            <a:r>
              <a:rPr sz="938" b="0">
                <a:solidFill>
                  <a:srgbClr val="EAF4F6"/>
                </a:solidFill>
                <a:latin typeface="Consolas"/>
                <a:ea typeface="Consolas"/>
                <a:cs typeface="Consolas"/>
              </a:rPr>
              <a:t>  Serial2.print("add s0.id,0," + String(display_val) + ...);</a:t>
            </a:r>
          </a:p>
        </p:txBody>
      </p:sp>
      <p:sp>
        <p:nvSpPr>
          <p:cNvPr id="52" name="矩形 51">
            <a:extLst>
              <a:ext uri="{FF2B5EF4-FFF2-40B4-BE49-F238E27FC236}">
                <a16:creationId xmlns:a16="http://schemas.microsoft.com/office/drawing/2014/main" id="{EE49C808-92E6-4E68-ACF1-5408A23853DB}"/>
              </a:ext>
            </a:extLst>
          </p:cNvPr>
          <p:cNvSpPr>
            <a:spLocks noGrp="1"/>
          </p:cNvSpPr>
          <p:nvPr/>
        </p:nvSpPr>
        <p:spPr>
          <a:xfrm>
            <a:off x="933450" y="5158740"/>
            <a:ext cx="4629150" cy="163830"/>
          </a:xfrm>
          <a:prstGeom prst="rect">
            <a:avLst/>
          </a:prstGeom>
          <a:solidFill>
            <a:srgbClr val="173A47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53" name="矩形 52">
            <a:extLst>
              <a:ext uri="{FF2B5EF4-FFF2-40B4-BE49-F238E27FC236}">
                <a16:creationId xmlns:a16="http://schemas.microsoft.com/office/drawing/2014/main" id="{192698A9-E024-4537-9D58-3BC50C69816E}"/>
              </a:ext>
            </a:extLst>
          </p:cNvPr>
          <p:cNvSpPr>
            <a:spLocks noGrp="1"/>
          </p:cNvSpPr>
          <p:nvPr/>
        </p:nvSpPr>
        <p:spPr>
          <a:xfrm>
            <a:off x="1009650" y="5177790"/>
            <a:ext cx="4476750" cy="16383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938" b="0">
                <a:solidFill>
                  <a:srgbClr val="EAF4F6"/>
                </a:solidFill>
                <a:latin typeface="Consolas"/>
                <a:ea typeface="Consolas"/>
                <a:cs typeface="Consolas"/>
              </a:defRPr>
            </a:pPr>
            <a:r>
              <a:rPr sz="938" b="0">
                <a:solidFill>
                  <a:srgbClr val="EAF4F6"/>
                </a:solidFill>
                <a:latin typeface="Consolas"/>
                <a:ea typeface="Consolas"/>
                <a:cs typeface="Consolas"/>
              </a:rPr>
              <a:t>  notifyWave(display_val, true);</a:t>
            </a:r>
          </a:p>
        </p:txBody>
      </p:sp>
      <p:sp>
        <p:nvSpPr>
          <p:cNvPr id="54" name="矩形 53">
            <a:extLst>
              <a:ext uri="{FF2B5EF4-FFF2-40B4-BE49-F238E27FC236}">
                <a16:creationId xmlns:a16="http://schemas.microsoft.com/office/drawing/2014/main" id="{AC96CCE0-6603-4CAA-BB15-39D9A55679BD}"/>
              </a:ext>
            </a:extLst>
          </p:cNvPr>
          <p:cNvSpPr>
            <a:spLocks noGrp="1"/>
          </p:cNvSpPr>
          <p:nvPr/>
        </p:nvSpPr>
        <p:spPr>
          <a:xfrm>
            <a:off x="1009650" y="5341620"/>
            <a:ext cx="4476750" cy="16383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938" b="0">
                <a:solidFill>
                  <a:srgbClr val="EAF4F6"/>
                </a:solidFill>
                <a:latin typeface="Consolas"/>
                <a:ea typeface="Consolas"/>
                <a:cs typeface="Consolas"/>
              </a:defRPr>
            </a:pPr>
            <a:r>
              <a:rPr sz="938" b="0">
                <a:solidFill>
                  <a:srgbClr val="EAF4F6"/>
                </a:solidFill>
                <a:latin typeface="Consolas"/>
                <a:ea typeface="Consolas"/>
                <a:cs typeface="Consolas"/>
              </a:rPr>
              <a:t>}</a:t>
            </a:r>
          </a:p>
        </p:txBody>
      </p:sp>
      <p:sp>
        <p:nvSpPr>
          <p:cNvPr id="55" name="矩形 54">
            <a:extLst>
              <a:ext uri="{FF2B5EF4-FFF2-40B4-BE49-F238E27FC236}">
                <a16:creationId xmlns:a16="http://schemas.microsoft.com/office/drawing/2014/main" id="{B3916630-E3E4-4354-8821-52C4348284A5}"/>
              </a:ext>
            </a:extLst>
          </p:cNvPr>
          <p:cNvSpPr>
            <a:spLocks noGrp="1"/>
          </p:cNvSpPr>
          <p:nvPr/>
        </p:nvSpPr>
        <p:spPr>
          <a:xfrm>
            <a:off x="6229350" y="4572000"/>
            <a:ext cx="4819650" cy="1047750"/>
          </a:xfrm>
          <a:prstGeom prst="rect">
            <a:avLst/>
          </a:prstGeom>
          <a:solidFill>
            <a:srgbClr val="0E1F28"/>
          </a:solidFill>
          <a:ln w="9525">
            <a:solidFill>
              <a:srgbClr val="1C3943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56" name="矩形 55">
            <a:extLst>
              <a:ext uri="{FF2B5EF4-FFF2-40B4-BE49-F238E27FC236}">
                <a16:creationId xmlns:a16="http://schemas.microsoft.com/office/drawing/2014/main" id="{FC4907D6-1B51-4043-B5FE-F15E218D01FE}"/>
              </a:ext>
            </a:extLst>
          </p:cNvPr>
          <p:cNvSpPr>
            <a:spLocks noGrp="1"/>
          </p:cNvSpPr>
          <p:nvPr/>
        </p:nvSpPr>
        <p:spPr>
          <a:xfrm>
            <a:off x="6400800" y="4686300"/>
            <a:ext cx="4476750" cy="16383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938" b="0">
                <a:solidFill>
                  <a:srgbClr val="EAF4F6"/>
                </a:solidFill>
                <a:latin typeface="Consolas"/>
                <a:ea typeface="Consolas"/>
                <a:cs typeface="Consolas"/>
              </a:defRPr>
            </a:pPr>
            <a:r>
              <a:rPr sz="938" b="0">
                <a:solidFill>
                  <a:srgbClr val="EAF4F6"/>
                </a:solidFill>
                <a:latin typeface="Consolas"/>
                <a:ea typeface="Consolas"/>
                <a:cs typeface="Consolas"/>
              </a:rPr>
              <a:t>if (averager_bpm.count() &gt;= kSampleThreshold) {</a:t>
            </a:r>
          </a:p>
        </p:txBody>
      </p:sp>
      <p:sp>
        <p:nvSpPr>
          <p:cNvPr id="57" name="矩形 56">
            <a:extLst>
              <a:ext uri="{FF2B5EF4-FFF2-40B4-BE49-F238E27FC236}">
                <a16:creationId xmlns:a16="http://schemas.microsoft.com/office/drawing/2014/main" id="{B4EA482D-4BDF-4939-A5E2-F76194100D89}"/>
              </a:ext>
            </a:extLst>
          </p:cNvPr>
          <p:cNvSpPr>
            <a:spLocks noGrp="1"/>
          </p:cNvSpPr>
          <p:nvPr/>
        </p:nvSpPr>
        <p:spPr>
          <a:xfrm>
            <a:off x="6400800" y="4850130"/>
            <a:ext cx="4476750" cy="16383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938" b="0">
                <a:solidFill>
                  <a:srgbClr val="EAF4F6"/>
                </a:solidFill>
                <a:latin typeface="Consolas"/>
                <a:ea typeface="Consolas"/>
                <a:cs typeface="Consolas"/>
              </a:defRPr>
            </a:pPr>
            <a:r>
              <a:rPr sz="938" b="0">
                <a:solidFill>
                  <a:srgbClr val="EAF4F6"/>
                </a:solidFill>
                <a:latin typeface="Consolas"/>
                <a:ea typeface="Consolas"/>
                <a:cs typeface="Consolas"/>
              </a:rPr>
              <a:t>  latestAverageBpm = average_bpm;</a:t>
            </a:r>
          </a:p>
        </p:txBody>
      </p:sp>
      <p:sp>
        <p:nvSpPr>
          <p:cNvPr id="58" name="矩形 57">
            <a:extLst>
              <a:ext uri="{FF2B5EF4-FFF2-40B4-BE49-F238E27FC236}">
                <a16:creationId xmlns:a16="http://schemas.microsoft.com/office/drawing/2014/main" id="{79C4653D-282D-4865-B7BD-82DCA81E8137}"/>
              </a:ext>
            </a:extLst>
          </p:cNvPr>
          <p:cNvSpPr>
            <a:spLocks noGrp="1"/>
          </p:cNvSpPr>
          <p:nvPr/>
        </p:nvSpPr>
        <p:spPr>
          <a:xfrm>
            <a:off x="6400800" y="5013960"/>
            <a:ext cx="4476750" cy="16383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938" b="0">
                <a:solidFill>
                  <a:srgbClr val="EAF4F6"/>
                </a:solidFill>
                <a:latin typeface="Consolas"/>
                <a:ea typeface="Consolas"/>
                <a:cs typeface="Consolas"/>
              </a:defRPr>
            </a:pPr>
            <a:r>
              <a:rPr sz="938" b="0">
                <a:solidFill>
                  <a:srgbClr val="EAF4F6"/>
                </a:solidFill>
                <a:latin typeface="Consolas"/>
                <a:ea typeface="Consolas"/>
                <a:cs typeface="Consolas"/>
              </a:rPr>
              <a:t>  latestAverageSpo2 = clampInt(average_spo2, 0, 100);</a:t>
            </a:r>
          </a:p>
        </p:txBody>
      </p:sp>
      <p:sp>
        <p:nvSpPr>
          <p:cNvPr id="59" name="矩形 58">
            <a:extLst>
              <a:ext uri="{FF2B5EF4-FFF2-40B4-BE49-F238E27FC236}">
                <a16:creationId xmlns:a16="http://schemas.microsoft.com/office/drawing/2014/main" id="{558BCA3B-83A6-432C-9314-4FE3DF69F90F}"/>
              </a:ext>
            </a:extLst>
          </p:cNvPr>
          <p:cNvSpPr>
            <a:spLocks noGrp="1"/>
          </p:cNvSpPr>
          <p:nvPr/>
        </p:nvSpPr>
        <p:spPr>
          <a:xfrm>
            <a:off x="6324600" y="5158740"/>
            <a:ext cx="4629150" cy="163830"/>
          </a:xfrm>
          <a:prstGeom prst="rect">
            <a:avLst/>
          </a:prstGeom>
          <a:solidFill>
            <a:srgbClr val="173A47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60" name="矩形 59">
            <a:extLst>
              <a:ext uri="{FF2B5EF4-FFF2-40B4-BE49-F238E27FC236}">
                <a16:creationId xmlns:a16="http://schemas.microsoft.com/office/drawing/2014/main" id="{3E83F2F8-083F-45FC-917E-D9D4D06ABAEA}"/>
              </a:ext>
            </a:extLst>
          </p:cNvPr>
          <p:cNvSpPr>
            <a:spLocks noGrp="1"/>
          </p:cNvSpPr>
          <p:nvPr/>
        </p:nvSpPr>
        <p:spPr>
          <a:xfrm>
            <a:off x="6400800" y="5177790"/>
            <a:ext cx="4476750" cy="16383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938" b="0">
                <a:solidFill>
                  <a:srgbClr val="EAF4F6"/>
                </a:solidFill>
                <a:latin typeface="Consolas"/>
                <a:ea typeface="Consolas"/>
                <a:cs typeface="Consolas"/>
              </a:defRPr>
            </a:pPr>
            <a:r>
              <a:rPr sz="938" b="0">
                <a:solidFill>
                  <a:srgbClr val="EAF4F6"/>
                </a:solidFill>
                <a:latin typeface="Consolas"/>
                <a:ea typeface="Consolas"/>
                <a:cs typeface="Consolas"/>
              </a:rPr>
              <a:t>  notifyMetrics(latestAverageBpm, latestAverageSpo2, true, true);</a:t>
            </a:r>
          </a:p>
        </p:txBody>
      </p:sp>
      <p:sp>
        <p:nvSpPr>
          <p:cNvPr id="61" name="矩形 60">
            <a:extLst>
              <a:ext uri="{FF2B5EF4-FFF2-40B4-BE49-F238E27FC236}">
                <a16:creationId xmlns:a16="http://schemas.microsoft.com/office/drawing/2014/main" id="{3AB240A6-5527-4FEC-865C-7F06A9E5600A}"/>
              </a:ext>
            </a:extLst>
          </p:cNvPr>
          <p:cNvSpPr>
            <a:spLocks noGrp="1"/>
          </p:cNvSpPr>
          <p:nvPr/>
        </p:nvSpPr>
        <p:spPr>
          <a:xfrm>
            <a:off x="6400800" y="5341620"/>
            <a:ext cx="4476750" cy="16383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938" b="0">
                <a:solidFill>
                  <a:srgbClr val="EAF4F6"/>
                </a:solidFill>
                <a:latin typeface="Consolas"/>
                <a:ea typeface="Consolas"/>
                <a:cs typeface="Consolas"/>
              </a:defRPr>
            </a:pPr>
            <a:r>
              <a:rPr sz="938" b="0">
                <a:solidFill>
                  <a:srgbClr val="EAF4F6"/>
                </a:solidFill>
                <a:latin typeface="Consolas"/>
                <a:ea typeface="Consolas"/>
                <a:cs typeface="Consolas"/>
              </a:rPr>
              <a:t>}</a:t>
            </a:r>
          </a:p>
        </p:txBody>
      </p:sp>
    </p:spTree>
    <p:extLst>
      <p:ext uri="{BB962C8B-B14F-4D97-AF65-F5344CB8AC3E}">
        <p14:creationId xmlns:p14="http://schemas.microsoft.com/office/powerpoint/2010/main" val="1345173123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" name="矩形 46">
            <a:extLst>
              <a:ext uri="{FF2B5EF4-FFF2-40B4-BE49-F238E27FC236}">
                <a16:creationId xmlns:a16="http://schemas.microsoft.com/office/drawing/2014/main" id="{4A2782E5-AF8A-44A2-A4F9-6F8A201DD96E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6F3EA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" name="矩形 1">
            <a:extLst>
              <a:ext uri="{FF2B5EF4-FFF2-40B4-BE49-F238E27FC236}">
                <a16:creationId xmlns:a16="http://schemas.microsoft.com/office/drawing/2014/main" id="{EFB25283-2A6B-465A-98BA-4EA5AB402FDE}"/>
              </a:ext>
            </a:extLst>
          </p:cNvPr>
          <p:cNvSpPr>
            <a:spLocks noGrp="1"/>
          </p:cNvSpPr>
          <p:nvPr/>
        </p:nvSpPr>
        <p:spPr>
          <a:xfrm>
            <a:off x="419100" y="323850"/>
            <a:ext cx="95250" cy="190500"/>
          </a:xfrm>
          <a:prstGeom prst="rect">
            <a:avLst/>
          </a:prstGeom>
          <a:solidFill>
            <a:srgbClr val="22A6C7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26676DF2-CF8D-41EC-B1D7-95223163F939}"/>
              </a:ext>
            </a:extLst>
          </p:cNvPr>
          <p:cNvSpPr>
            <a:spLocks noGrp="1"/>
          </p:cNvSpPr>
          <p:nvPr/>
        </p:nvSpPr>
        <p:spPr>
          <a:xfrm>
            <a:off x="590550" y="266700"/>
            <a:ext cx="4095750" cy="3238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ctr"/>
          <a:lstStyle/>
          <a:p>
            <a:pPr algn="l">
              <a:defRPr sz="1125" b="1">
                <a:solidFill>
                  <a:srgbClr val="687A8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1">
                <a:solidFill>
                  <a:srgbClr val="687A84"/>
                </a:solidFill>
                <a:latin typeface="Microsoft YaHei"/>
                <a:ea typeface="Microsoft YaHei"/>
                <a:cs typeface="Microsoft YaHei"/>
              </a:rPr>
              <a:t>MINI PROGRAM FLOW</a:t>
            </a:r>
          </a:p>
        </p:txBody>
      </p:sp>
      <p:sp>
        <p:nvSpPr>
          <p:cNvPr id="4" name="矩形 3">
            <a:extLst>
              <a:ext uri="{FF2B5EF4-FFF2-40B4-BE49-F238E27FC236}">
                <a16:creationId xmlns:a16="http://schemas.microsoft.com/office/drawing/2014/main" id="{BA980B87-94C6-449C-BF24-F188929373D1}"/>
              </a:ext>
            </a:extLst>
          </p:cNvPr>
          <p:cNvSpPr>
            <a:spLocks noGrp="1"/>
          </p:cNvSpPr>
          <p:nvPr/>
        </p:nvSpPr>
        <p:spPr>
          <a:xfrm>
            <a:off x="419100" y="685800"/>
            <a:ext cx="10763250" cy="7810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2400" b="1">
                <a:solidFill>
                  <a:srgbClr val="17313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400" b="1">
                <a:solidFill>
                  <a:srgbClr val="17313B"/>
                </a:solidFill>
                <a:latin typeface="Microsoft YaHei"/>
                <a:ea typeface="Microsoft YaHei"/>
                <a:cs typeface="Microsoft YaHei"/>
              </a:rPr>
              <a:t>小程序端是严格的 BLE 状态机：先发现，再连接，再订阅。</a:t>
            </a:r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74F068B0-1444-4575-9F33-9A468C2D67CA}"/>
              </a:ext>
            </a:extLst>
          </p:cNvPr>
          <p:cNvSpPr>
            <a:spLocks noGrp="1"/>
          </p:cNvSpPr>
          <p:nvPr/>
        </p:nvSpPr>
        <p:spPr>
          <a:xfrm>
            <a:off x="419100" y="6438900"/>
            <a:ext cx="8572500" cy="9525"/>
          </a:xfrm>
          <a:prstGeom prst="rect">
            <a:avLst/>
          </a:prstGeom>
          <a:solidFill>
            <a:srgbClr val="D6DEE1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6" name="矩形 5">
            <a:extLst>
              <a:ext uri="{FF2B5EF4-FFF2-40B4-BE49-F238E27FC236}">
                <a16:creationId xmlns:a16="http://schemas.microsoft.com/office/drawing/2014/main" id="{A692CC08-5962-4C8F-8450-D826531626CC}"/>
              </a:ext>
            </a:extLst>
          </p:cNvPr>
          <p:cNvSpPr>
            <a:spLocks noGrp="1"/>
          </p:cNvSpPr>
          <p:nvPr/>
        </p:nvSpPr>
        <p:spPr>
          <a:xfrm>
            <a:off x="419100" y="6515100"/>
            <a:ext cx="8572500" cy="1905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675" b="0">
                <a:solidFill>
                  <a:srgbClr val="7C8A9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675" b="0">
                <a:solidFill>
                  <a:srgbClr val="7C8A90"/>
                </a:solidFill>
                <a:latin typeface="Microsoft YaHei"/>
                <a:ea typeface="Microsoft YaHei"/>
                <a:cs typeface="Microsoft YaHei"/>
              </a:rPr>
              <a:t>Source: Arduino / WeChat Mini Program source code; WeChat Mini Program BLE API docs</a:t>
            </a:r>
          </a:p>
        </p:txBody>
      </p:sp>
      <p:sp>
        <p:nvSpPr>
          <p:cNvPr id="7" name="矩形 6">
            <a:extLst>
              <a:ext uri="{FF2B5EF4-FFF2-40B4-BE49-F238E27FC236}">
                <a16:creationId xmlns:a16="http://schemas.microsoft.com/office/drawing/2014/main" id="{E3BAC1DE-5B31-4679-86EA-510B87D3C143}"/>
              </a:ext>
            </a:extLst>
          </p:cNvPr>
          <p:cNvSpPr>
            <a:spLocks noGrp="1"/>
          </p:cNvSpPr>
          <p:nvPr/>
        </p:nvSpPr>
        <p:spPr>
          <a:xfrm>
            <a:off x="11334750" y="6496050"/>
            <a:ext cx="419100" cy="2095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r">
              <a:defRPr sz="825" b="0">
                <a:solidFill>
                  <a:srgbClr val="7C8A9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825" b="0">
                <a:solidFill>
                  <a:srgbClr val="7C8A90"/>
                </a:solidFill>
                <a:latin typeface="Microsoft YaHei"/>
                <a:ea typeface="Microsoft YaHei"/>
                <a:cs typeface="Microsoft YaHei"/>
              </a:rPr>
              <a:t>14</a:t>
            </a:r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7B9C50F9-A900-4582-B3B5-90C9939748A5}"/>
              </a:ext>
            </a:extLst>
          </p:cNvPr>
          <p:cNvSpPr>
            <a:spLocks noGrp="1"/>
          </p:cNvSpPr>
          <p:nvPr/>
        </p:nvSpPr>
        <p:spPr>
          <a:xfrm>
            <a:off x="742950" y="2133600"/>
            <a:ext cx="2152650" cy="800100"/>
          </a:xfrm>
          <a:prstGeom prst="rect">
            <a:avLst/>
          </a:prstGeom>
          <a:solidFill>
            <a:srgbClr val="FFFFFF"/>
          </a:solidFill>
          <a:ln w="9525">
            <a:solidFill>
              <a:srgbClr val="DCE5E7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6277FA12-FEE0-45C0-845F-8231B3614506}"/>
              </a:ext>
            </a:extLst>
          </p:cNvPr>
          <p:cNvSpPr>
            <a:spLocks noGrp="1"/>
          </p:cNvSpPr>
          <p:nvPr/>
        </p:nvSpPr>
        <p:spPr>
          <a:xfrm>
            <a:off x="742950" y="2133600"/>
            <a:ext cx="57150" cy="800100"/>
          </a:xfrm>
          <a:prstGeom prst="rect">
            <a:avLst/>
          </a:prstGeom>
          <a:solidFill>
            <a:srgbClr val="22A6C7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9B0FD6BA-67DA-401D-A631-6667D4F80D57}"/>
              </a:ext>
            </a:extLst>
          </p:cNvPr>
          <p:cNvSpPr>
            <a:spLocks noGrp="1"/>
          </p:cNvSpPr>
          <p:nvPr/>
        </p:nvSpPr>
        <p:spPr>
          <a:xfrm>
            <a:off x="914400" y="2266950"/>
            <a:ext cx="1809750" cy="2857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975" b="1">
                <a:solidFill>
                  <a:srgbClr val="17313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1">
                <a:solidFill>
                  <a:srgbClr val="17313B"/>
                </a:solidFill>
                <a:latin typeface="Microsoft YaHei"/>
                <a:ea typeface="Microsoft YaHei"/>
                <a:cs typeface="Microsoft YaHei"/>
              </a:rPr>
              <a:t>openBluetoothAdapter</a:t>
            </a:r>
          </a:p>
        </p:txBody>
      </p:sp>
      <p:sp>
        <p:nvSpPr>
          <p:cNvPr id="11" name="矩形 10">
            <a:extLst>
              <a:ext uri="{FF2B5EF4-FFF2-40B4-BE49-F238E27FC236}">
                <a16:creationId xmlns:a16="http://schemas.microsoft.com/office/drawing/2014/main" id="{F6EFC8AC-FC6D-444C-904F-C5B7F0780616}"/>
              </a:ext>
            </a:extLst>
          </p:cNvPr>
          <p:cNvSpPr>
            <a:spLocks noGrp="1"/>
          </p:cNvSpPr>
          <p:nvPr/>
        </p:nvSpPr>
        <p:spPr>
          <a:xfrm>
            <a:off x="914400" y="2590800"/>
            <a:ext cx="1809750" cy="2476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900" b="0">
                <a:solidFill>
                  <a:srgbClr val="687A8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0">
                <a:solidFill>
                  <a:srgbClr val="687A84"/>
                </a:solidFill>
                <a:latin typeface="Microsoft YaHei"/>
                <a:ea typeface="Microsoft YaHei"/>
                <a:cs typeface="Microsoft YaHei"/>
              </a:rPr>
              <a:t>初始化蓝牙模块</a:t>
            </a:r>
          </a:p>
        </p:txBody>
      </p:sp>
      <p:sp>
        <p:nvSpPr>
          <p:cNvPr id="12" name="矩形 11">
            <a:extLst>
              <a:ext uri="{FF2B5EF4-FFF2-40B4-BE49-F238E27FC236}">
                <a16:creationId xmlns:a16="http://schemas.microsoft.com/office/drawing/2014/main" id="{7CEE4D86-CA0D-4DE2-9E5E-CB1C0E269219}"/>
              </a:ext>
            </a:extLst>
          </p:cNvPr>
          <p:cNvSpPr>
            <a:spLocks noGrp="1"/>
          </p:cNvSpPr>
          <p:nvPr/>
        </p:nvSpPr>
        <p:spPr>
          <a:xfrm>
            <a:off x="2895600" y="2495550"/>
            <a:ext cx="476250" cy="19050"/>
          </a:xfrm>
          <a:prstGeom prst="rect">
            <a:avLst/>
          </a:prstGeom>
          <a:solidFill>
            <a:srgbClr val="22A6C7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3" name="矩形 12">
            <a:extLst>
              <a:ext uri="{FF2B5EF4-FFF2-40B4-BE49-F238E27FC236}">
                <a16:creationId xmlns:a16="http://schemas.microsoft.com/office/drawing/2014/main" id="{0084F3A0-5B16-4FDF-A37E-11A54AEE2F27}"/>
              </a:ext>
            </a:extLst>
          </p:cNvPr>
          <p:cNvSpPr>
            <a:spLocks noGrp="1"/>
          </p:cNvSpPr>
          <p:nvPr/>
        </p:nvSpPr>
        <p:spPr>
          <a:xfrm>
            <a:off x="3238500" y="2381250"/>
            <a:ext cx="247650" cy="2476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ctr"/>
          <a:lstStyle/>
          <a:p>
            <a:pPr algn="ctr">
              <a:defRPr sz="1275" b="1">
                <a:solidFill>
                  <a:srgbClr val="22A6C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1">
                <a:solidFill>
                  <a:srgbClr val="22A6C7"/>
                </a:solidFill>
                <a:latin typeface="Microsoft YaHei"/>
                <a:ea typeface="Microsoft YaHei"/>
                <a:cs typeface="Microsoft YaHei"/>
              </a:rPr>
              <a:t>&gt;</a:t>
            </a:r>
          </a:p>
        </p:txBody>
      </p:sp>
      <p:sp>
        <p:nvSpPr>
          <p:cNvPr id="14" name="矩形 13">
            <a:extLst>
              <a:ext uri="{FF2B5EF4-FFF2-40B4-BE49-F238E27FC236}">
                <a16:creationId xmlns:a16="http://schemas.microsoft.com/office/drawing/2014/main" id="{07C15C58-5D4F-4D30-9D36-1C2F792DB656}"/>
              </a:ext>
            </a:extLst>
          </p:cNvPr>
          <p:cNvSpPr>
            <a:spLocks noGrp="1"/>
          </p:cNvSpPr>
          <p:nvPr/>
        </p:nvSpPr>
        <p:spPr>
          <a:xfrm>
            <a:off x="3467100" y="2133600"/>
            <a:ext cx="2152650" cy="800100"/>
          </a:xfrm>
          <a:prstGeom prst="rect">
            <a:avLst/>
          </a:prstGeom>
          <a:solidFill>
            <a:srgbClr val="FFFFFF"/>
          </a:solidFill>
          <a:ln w="9525">
            <a:solidFill>
              <a:srgbClr val="DCE5E7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5" name="矩形 14">
            <a:extLst>
              <a:ext uri="{FF2B5EF4-FFF2-40B4-BE49-F238E27FC236}">
                <a16:creationId xmlns:a16="http://schemas.microsoft.com/office/drawing/2014/main" id="{82EF6058-EFE9-4B6F-A4FE-C4DF18583D2B}"/>
              </a:ext>
            </a:extLst>
          </p:cNvPr>
          <p:cNvSpPr>
            <a:spLocks noGrp="1"/>
          </p:cNvSpPr>
          <p:nvPr/>
        </p:nvSpPr>
        <p:spPr>
          <a:xfrm>
            <a:off x="3467100" y="2133600"/>
            <a:ext cx="57150" cy="800100"/>
          </a:xfrm>
          <a:prstGeom prst="rect">
            <a:avLst/>
          </a:prstGeom>
          <a:solidFill>
            <a:srgbClr val="22A6C7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6" name="矩形 15">
            <a:extLst>
              <a:ext uri="{FF2B5EF4-FFF2-40B4-BE49-F238E27FC236}">
                <a16:creationId xmlns:a16="http://schemas.microsoft.com/office/drawing/2014/main" id="{DD1D53DB-F27D-44EA-A94A-BD71A5D41986}"/>
              </a:ext>
            </a:extLst>
          </p:cNvPr>
          <p:cNvSpPr>
            <a:spLocks noGrp="1"/>
          </p:cNvSpPr>
          <p:nvPr/>
        </p:nvSpPr>
        <p:spPr>
          <a:xfrm>
            <a:off x="3638550" y="2266950"/>
            <a:ext cx="1809750" cy="2857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975" b="1">
                <a:solidFill>
                  <a:srgbClr val="17313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1">
                <a:solidFill>
                  <a:srgbClr val="17313B"/>
                </a:solidFill>
                <a:latin typeface="Microsoft YaHei"/>
                <a:ea typeface="Microsoft YaHei"/>
                <a:cs typeface="Microsoft YaHei"/>
              </a:rPr>
              <a:t>startDiscovery</a:t>
            </a:r>
          </a:p>
        </p:txBody>
      </p:sp>
      <p:sp>
        <p:nvSpPr>
          <p:cNvPr id="17" name="矩形 16">
            <a:extLst>
              <a:ext uri="{FF2B5EF4-FFF2-40B4-BE49-F238E27FC236}">
                <a16:creationId xmlns:a16="http://schemas.microsoft.com/office/drawing/2014/main" id="{15610BA1-9AF6-4C0A-B25E-4CDE5EC97C59}"/>
              </a:ext>
            </a:extLst>
          </p:cNvPr>
          <p:cNvSpPr>
            <a:spLocks noGrp="1"/>
          </p:cNvSpPr>
          <p:nvPr/>
        </p:nvSpPr>
        <p:spPr>
          <a:xfrm>
            <a:off x="3638550" y="2590800"/>
            <a:ext cx="1809750" cy="2476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900" b="0">
                <a:solidFill>
                  <a:srgbClr val="687A8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0">
                <a:solidFill>
                  <a:srgbClr val="687A84"/>
                </a:solidFill>
                <a:latin typeface="Microsoft YaHei"/>
                <a:ea typeface="Microsoft YaHei"/>
                <a:cs typeface="Microsoft YaHei"/>
              </a:rPr>
              <a:t>扫描 BLE 外设</a:t>
            </a:r>
          </a:p>
        </p:txBody>
      </p:sp>
      <p:sp>
        <p:nvSpPr>
          <p:cNvPr id="18" name="矩形 17">
            <a:extLst>
              <a:ext uri="{FF2B5EF4-FFF2-40B4-BE49-F238E27FC236}">
                <a16:creationId xmlns:a16="http://schemas.microsoft.com/office/drawing/2014/main" id="{40DB796B-4EA6-442B-814F-C74E33DF7090}"/>
              </a:ext>
            </a:extLst>
          </p:cNvPr>
          <p:cNvSpPr>
            <a:spLocks noGrp="1"/>
          </p:cNvSpPr>
          <p:nvPr/>
        </p:nvSpPr>
        <p:spPr>
          <a:xfrm>
            <a:off x="5619750" y="2495550"/>
            <a:ext cx="476250" cy="19050"/>
          </a:xfrm>
          <a:prstGeom prst="rect">
            <a:avLst/>
          </a:prstGeom>
          <a:solidFill>
            <a:srgbClr val="22A6C7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9" name="矩形 18">
            <a:extLst>
              <a:ext uri="{FF2B5EF4-FFF2-40B4-BE49-F238E27FC236}">
                <a16:creationId xmlns:a16="http://schemas.microsoft.com/office/drawing/2014/main" id="{0EA5991E-2D18-4E70-815E-C5056DE45C8B}"/>
              </a:ext>
            </a:extLst>
          </p:cNvPr>
          <p:cNvSpPr>
            <a:spLocks noGrp="1"/>
          </p:cNvSpPr>
          <p:nvPr/>
        </p:nvSpPr>
        <p:spPr>
          <a:xfrm>
            <a:off x="5962650" y="2381250"/>
            <a:ext cx="247650" cy="2476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ctr"/>
          <a:lstStyle/>
          <a:p>
            <a:pPr algn="ctr">
              <a:defRPr sz="1275" b="1">
                <a:solidFill>
                  <a:srgbClr val="22A6C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1">
                <a:solidFill>
                  <a:srgbClr val="22A6C7"/>
                </a:solidFill>
                <a:latin typeface="Microsoft YaHei"/>
                <a:ea typeface="Microsoft YaHei"/>
                <a:cs typeface="Microsoft YaHei"/>
              </a:rPr>
              <a:t>&gt;</a:t>
            </a:r>
          </a:p>
        </p:txBody>
      </p:sp>
      <p:sp>
        <p:nvSpPr>
          <p:cNvPr id="20" name="矩形 19">
            <a:extLst>
              <a:ext uri="{FF2B5EF4-FFF2-40B4-BE49-F238E27FC236}">
                <a16:creationId xmlns:a16="http://schemas.microsoft.com/office/drawing/2014/main" id="{F56AC378-847B-421E-BC68-AE2EAC9EB64C}"/>
              </a:ext>
            </a:extLst>
          </p:cNvPr>
          <p:cNvSpPr>
            <a:spLocks noGrp="1"/>
          </p:cNvSpPr>
          <p:nvPr/>
        </p:nvSpPr>
        <p:spPr>
          <a:xfrm>
            <a:off x="6191250" y="2133600"/>
            <a:ext cx="2152650" cy="800100"/>
          </a:xfrm>
          <a:prstGeom prst="rect">
            <a:avLst/>
          </a:prstGeom>
          <a:solidFill>
            <a:srgbClr val="FFFFFF"/>
          </a:solidFill>
          <a:ln w="9525">
            <a:solidFill>
              <a:srgbClr val="DCE5E7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1" name="矩形 20">
            <a:extLst>
              <a:ext uri="{FF2B5EF4-FFF2-40B4-BE49-F238E27FC236}">
                <a16:creationId xmlns:a16="http://schemas.microsoft.com/office/drawing/2014/main" id="{E02E5387-33A6-4560-B8CB-FEE695773E7E}"/>
              </a:ext>
            </a:extLst>
          </p:cNvPr>
          <p:cNvSpPr>
            <a:spLocks noGrp="1"/>
          </p:cNvSpPr>
          <p:nvPr/>
        </p:nvSpPr>
        <p:spPr>
          <a:xfrm>
            <a:off x="6191250" y="2133600"/>
            <a:ext cx="57150" cy="800100"/>
          </a:xfrm>
          <a:prstGeom prst="rect">
            <a:avLst/>
          </a:prstGeom>
          <a:solidFill>
            <a:srgbClr val="F2A23A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2" name="矩形 21">
            <a:extLst>
              <a:ext uri="{FF2B5EF4-FFF2-40B4-BE49-F238E27FC236}">
                <a16:creationId xmlns:a16="http://schemas.microsoft.com/office/drawing/2014/main" id="{95F0E391-3FC7-4E02-8468-AE33FAE7FA4F}"/>
              </a:ext>
            </a:extLst>
          </p:cNvPr>
          <p:cNvSpPr>
            <a:spLocks noGrp="1"/>
          </p:cNvSpPr>
          <p:nvPr/>
        </p:nvSpPr>
        <p:spPr>
          <a:xfrm>
            <a:off x="6362700" y="2266950"/>
            <a:ext cx="1809750" cy="2857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975" b="1">
                <a:solidFill>
                  <a:srgbClr val="17313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1">
                <a:solidFill>
                  <a:srgbClr val="17313B"/>
                </a:solidFill>
                <a:latin typeface="Microsoft YaHei"/>
                <a:ea typeface="Microsoft YaHei"/>
                <a:cs typeface="Microsoft YaHei"/>
              </a:rPr>
              <a:t>createConnection</a:t>
            </a:r>
          </a:p>
        </p:txBody>
      </p:sp>
      <p:sp>
        <p:nvSpPr>
          <p:cNvPr id="23" name="矩形 22">
            <a:extLst>
              <a:ext uri="{FF2B5EF4-FFF2-40B4-BE49-F238E27FC236}">
                <a16:creationId xmlns:a16="http://schemas.microsoft.com/office/drawing/2014/main" id="{F78C7F5C-5E34-4024-A713-A260E189DE20}"/>
              </a:ext>
            </a:extLst>
          </p:cNvPr>
          <p:cNvSpPr>
            <a:spLocks noGrp="1"/>
          </p:cNvSpPr>
          <p:nvPr/>
        </p:nvSpPr>
        <p:spPr>
          <a:xfrm>
            <a:off x="6362700" y="2590800"/>
            <a:ext cx="1809750" cy="2476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900" b="0">
                <a:solidFill>
                  <a:srgbClr val="687A8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0">
                <a:solidFill>
                  <a:srgbClr val="687A84"/>
                </a:solidFill>
                <a:latin typeface="Microsoft YaHei"/>
                <a:ea typeface="Microsoft YaHei"/>
                <a:cs typeface="Microsoft YaHei"/>
              </a:rPr>
              <a:t>连接 deviceId</a:t>
            </a:r>
          </a:p>
        </p:txBody>
      </p:sp>
      <p:sp>
        <p:nvSpPr>
          <p:cNvPr id="24" name="矩形 23">
            <a:extLst>
              <a:ext uri="{FF2B5EF4-FFF2-40B4-BE49-F238E27FC236}">
                <a16:creationId xmlns:a16="http://schemas.microsoft.com/office/drawing/2014/main" id="{C72EFA1B-6D36-4AEF-A404-6BC576CCA53B}"/>
              </a:ext>
            </a:extLst>
          </p:cNvPr>
          <p:cNvSpPr>
            <a:spLocks noGrp="1"/>
          </p:cNvSpPr>
          <p:nvPr/>
        </p:nvSpPr>
        <p:spPr>
          <a:xfrm>
            <a:off x="8343900" y="2495550"/>
            <a:ext cx="476250" cy="19050"/>
          </a:xfrm>
          <a:prstGeom prst="rect">
            <a:avLst/>
          </a:prstGeom>
          <a:solidFill>
            <a:srgbClr val="22A6C7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5" name="矩形 24">
            <a:extLst>
              <a:ext uri="{FF2B5EF4-FFF2-40B4-BE49-F238E27FC236}">
                <a16:creationId xmlns:a16="http://schemas.microsoft.com/office/drawing/2014/main" id="{90C13B6E-E78E-4D6C-9D48-2DACF4C4801A}"/>
              </a:ext>
            </a:extLst>
          </p:cNvPr>
          <p:cNvSpPr>
            <a:spLocks noGrp="1"/>
          </p:cNvSpPr>
          <p:nvPr/>
        </p:nvSpPr>
        <p:spPr>
          <a:xfrm>
            <a:off x="8686800" y="2381250"/>
            <a:ext cx="247650" cy="2476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ctr"/>
          <a:lstStyle/>
          <a:p>
            <a:pPr algn="ctr">
              <a:defRPr sz="1275" b="1">
                <a:solidFill>
                  <a:srgbClr val="22A6C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1">
                <a:solidFill>
                  <a:srgbClr val="22A6C7"/>
                </a:solidFill>
                <a:latin typeface="Microsoft YaHei"/>
                <a:ea typeface="Microsoft YaHei"/>
                <a:cs typeface="Microsoft YaHei"/>
              </a:rPr>
              <a:t>&gt;</a:t>
            </a:r>
          </a:p>
        </p:txBody>
      </p:sp>
      <p:sp>
        <p:nvSpPr>
          <p:cNvPr id="26" name="矩形 25">
            <a:extLst>
              <a:ext uri="{FF2B5EF4-FFF2-40B4-BE49-F238E27FC236}">
                <a16:creationId xmlns:a16="http://schemas.microsoft.com/office/drawing/2014/main" id="{EA46DFFB-03B5-4D15-B9BF-12230F9CEFD4}"/>
              </a:ext>
            </a:extLst>
          </p:cNvPr>
          <p:cNvSpPr>
            <a:spLocks noGrp="1"/>
          </p:cNvSpPr>
          <p:nvPr/>
        </p:nvSpPr>
        <p:spPr>
          <a:xfrm>
            <a:off x="8915400" y="2133600"/>
            <a:ext cx="2152650" cy="800100"/>
          </a:xfrm>
          <a:prstGeom prst="rect">
            <a:avLst/>
          </a:prstGeom>
          <a:solidFill>
            <a:srgbClr val="FFFFFF"/>
          </a:solidFill>
          <a:ln w="9525">
            <a:solidFill>
              <a:srgbClr val="DCE5E7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7" name="矩形 26">
            <a:extLst>
              <a:ext uri="{FF2B5EF4-FFF2-40B4-BE49-F238E27FC236}">
                <a16:creationId xmlns:a16="http://schemas.microsoft.com/office/drawing/2014/main" id="{FF6627DD-F551-4B1A-A039-B7520881FF0A}"/>
              </a:ext>
            </a:extLst>
          </p:cNvPr>
          <p:cNvSpPr>
            <a:spLocks noGrp="1"/>
          </p:cNvSpPr>
          <p:nvPr/>
        </p:nvSpPr>
        <p:spPr>
          <a:xfrm>
            <a:off x="8915400" y="2133600"/>
            <a:ext cx="57150" cy="800100"/>
          </a:xfrm>
          <a:prstGeom prst="rect">
            <a:avLst/>
          </a:prstGeom>
          <a:solidFill>
            <a:srgbClr val="F2A23A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8" name="矩形 27">
            <a:extLst>
              <a:ext uri="{FF2B5EF4-FFF2-40B4-BE49-F238E27FC236}">
                <a16:creationId xmlns:a16="http://schemas.microsoft.com/office/drawing/2014/main" id="{8978AB2D-9590-4AF7-AEAC-2BD705CF6CE4}"/>
              </a:ext>
            </a:extLst>
          </p:cNvPr>
          <p:cNvSpPr>
            <a:spLocks noGrp="1"/>
          </p:cNvSpPr>
          <p:nvPr/>
        </p:nvSpPr>
        <p:spPr>
          <a:xfrm>
            <a:off x="9086850" y="2266950"/>
            <a:ext cx="1809750" cy="2857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975" b="1">
                <a:solidFill>
                  <a:srgbClr val="17313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1">
                <a:solidFill>
                  <a:srgbClr val="17313B"/>
                </a:solidFill>
                <a:latin typeface="Microsoft YaHei"/>
                <a:ea typeface="Microsoft YaHei"/>
                <a:cs typeface="Microsoft YaHei"/>
              </a:rPr>
              <a:t>getServices</a:t>
            </a:r>
          </a:p>
        </p:txBody>
      </p:sp>
      <p:sp>
        <p:nvSpPr>
          <p:cNvPr id="29" name="矩形 28">
            <a:extLst>
              <a:ext uri="{FF2B5EF4-FFF2-40B4-BE49-F238E27FC236}">
                <a16:creationId xmlns:a16="http://schemas.microsoft.com/office/drawing/2014/main" id="{D1C630BF-4DF2-4038-B1BA-A615D355B4BE}"/>
              </a:ext>
            </a:extLst>
          </p:cNvPr>
          <p:cNvSpPr>
            <a:spLocks noGrp="1"/>
          </p:cNvSpPr>
          <p:nvPr/>
        </p:nvSpPr>
        <p:spPr>
          <a:xfrm>
            <a:off x="9086850" y="2590800"/>
            <a:ext cx="1809750" cy="2476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900" b="0">
                <a:solidFill>
                  <a:srgbClr val="687A8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0">
                <a:solidFill>
                  <a:srgbClr val="687A84"/>
                </a:solidFill>
                <a:latin typeface="Microsoft YaHei"/>
                <a:ea typeface="Microsoft YaHei"/>
                <a:cs typeface="Microsoft YaHei"/>
              </a:rPr>
              <a:t>找到 Service UUID</a:t>
            </a:r>
          </a:p>
        </p:txBody>
      </p:sp>
      <p:sp>
        <p:nvSpPr>
          <p:cNvPr id="30" name="矩形 29">
            <a:extLst>
              <a:ext uri="{FF2B5EF4-FFF2-40B4-BE49-F238E27FC236}">
                <a16:creationId xmlns:a16="http://schemas.microsoft.com/office/drawing/2014/main" id="{B94CCE0D-BF86-47D3-8700-36D44604FD2A}"/>
              </a:ext>
            </a:extLst>
          </p:cNvPr>
          <p:cNvSpPr>
            <a:spLocks noGrp="1"/>
          </p:cNvSpPr>
          <p:nvPr/>
        </p:nvSpPr>
        <p:spPr>
          <a:xfrm>
            <a:off x="6191250" y="3733800"/>
            <a:ext cx="2152650" cy="800100"/>
          </a:xfrm>
          <a:prstGeom prst="rect">
            <a:avLst/>
          </a:prstGeom>
          <a:solidFill>
            <a:srgbClr val="FFFFFF"/>
          </a:solidFill>
          <a:ln w="9525">
            <a:solidFill>
              <a:srgbClr val="DCE5E7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31" name="矩形 30">
            <a:extLst>
              <a:ext uri="{FF2B5EF4-FFF2-40B4-BE49-F238E27FC236}">
                <a16:creationId xmlns:a16="http://schemas.microsoft.com/office/drawing/2014/main" id="{9E28EC29-2CC3-488C-B170-509C31095688}"/>
              </a:ext>
            </a:extLst>
          </p:cNvPr>
          <p:cNvSpPr>
            <a:spLocks noGrp="1"/>
          </p:cNvSpPr>
          <p:nvPr/>
        </p:nvSpPr>
        <p:spPr>
          <a:xfrm>
            <a:off x="6191250" y="3733800"/>
            <a:ext cx="57150" cy="800100"/>
          </a:xfrm>
          <a:prstGeom prst="rect">
            <a:avLst/>
          </a:prstGeom>
          <a:solidFill>
            <a:srgbClr val="F2A23A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32" name="矩形 31">
            <a:extLst>
              <a:ext uri="{FF2B5EF4-FFF2-40B4-BE49-F238E27FC236}">
                <a16:creationId xmlns:a16="http://schemas.microsoft.com/office/drawing/2014/main" id="{9510B5DE-1825-4E34-9A2A-49094027E225}"/>
              </a:ext>
            </a:extLst>
          </p:cNvPr>
          <p:cNvSpPr>
            <a:spLocks noGrp="1"/>
          </p:cNvSpPr>
          <p:nvPr/>
        </p:nvSpPr>
        <p:spPr>
          <a:xfrm>
            <a:off x="6362700" y="3867150"/>
            <a:ext cx="1809750" cy="2857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975" b="1">
                <a:solidFill>
                  <a:srgbClr val="17313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1">
                <a:solidFill>
                  <a:srgbClr val="17313B"/>
                </a:solidFill>
                <a:latin typeface="Microsoft YaHei"/>
                <a:ea typeface="Microsoft YaHei"/>
                <a:cs typeface="Microsoft YaHei"/>
              </a:rPr>
              <a:t>getCharacteristics</a:t>
            </a:r>
          </a:p>
        </p:txBody>
      </p:sp>
      <p:sp>
        <p:nvSpPr>
          <p:cNvPr id="33" name="矩形 32">
            <a:extLst>
              <a:ext uri="{FF2B5EF4-FFF2-40B4-BE49-F238E27FC236}">
                <a16:creationId xmlns:a16="http://schemas.microsoft.com/office/drawing/2014/main" id="{B8750C13-9A27-4B88-86D7-50351783514D}"/>
              </a:ext>
            </a:extLst>
          </p:cNvPr>
          <p:cNvSpPr>
            <a:spLocks noGrp="1"/>
          </p:cNvSpPr>
          <p:nvPr/>
        </p:nvSpPr>
        <p:spPr>
          <a:xfrm>
            <a:off x="6362700" y="4191000"/>
            <a:ext cx="1809750" cy="2476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900" b="0">
                <a:solidFill>
                  <a:srgbClr val="687A8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0">
                <a:solidFill>
                  <a:srgbClr val="687A84"/>
                </a:solidFill>
                <a:latin typeface="Microsoft YaHei"/>
                <a:ea typeface="Microsoft YaHei"/>
                <a:cs typeface="Microsoft YaHei"/>
              </a:rPr>
              <a:t>找到 Wave / Metrics</a:t>
            </a:r>
          </a:p>
        </p:txBody>
      </p:sp>
      <p:sp>
        <p:nvSpPr>
          <p:cNvPr id="34" name="矩形 33">
            <a:extLst>
              <a:ext uri="{FF2B5EF4-FFF2-40B4-BE49-F238E27FC236}">
                <a16:creationId xmlns:a16="http://schemas.microsoft.com/office/drawing/2014/main" id="{1EB172C5-C459-47F1-BD48-2B404C9665D9}"/>
              </a:ext>
            </a:extLst>
          </p:cNvPr>
          <p:cNvSpPr>
            <a:spLocks noGrp="1"/>
          </p:cNvSpPr>
          <p:nvPr/>
        </p:nvSpPr>
        <p:spPr>
          <a:xfrm>
            <a:off x="3467100" y="3733800"/>
            <a:ext cx="2152650" cy="800100"/>
          </a:xfrm>
          <a:prstGeom prst="rect">
            <a:avLst/>
          </a:prstGeom>
          <a:solidFill>
            <a:srgbClr val="FFFFFF"/>
          </a:solidFill>
          <a:ln w="9525">
            <a:solidFill>
              <a:srgbClr val="DCE5E7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35" name="矩形 34">
            <a:extLst>
              <a:ext uri="{FF2B5EF4-FFF2-40B4-BE49-F238E27FC236}">
                <a16:creationId xmlns:a16="http://schemas.microsoft.com/office/drawing/2014/main" id="{524F1073-EDBD-4E62-8C62-0DAB3D2A0A12}"/>
              </a:ext>
            </a:extLst>
          </p:cNvPr>
          <p:cNvSpPr>
            <a:spLocks noGrp="1"/>
          </p:cNvSpPr>
          <p:nvPr/>
        </p:nvSpPr>
        <p:spPr>
          <a:xfrm>
            <a:off x="3467100" y="3733800"/>
            <a:ext cx="57150" cy="800100"/>
          </a:xfrm>
          <a:prstGeom prst="rect">
            <a:avLst/>
          </a:prstGeom>
          <a:solidFill>
            <a:srgbClr val="18C7A3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36" name="矩形 35">
            <a:extLst>
              <a:ext uri="{FF2B5EF4-FFF2-40B4-BE49-F238E27FC236}">
                <a16:creationId xmlns:a16="http://schemas.microsoft.com/office/drawing/2014/main" id="{23632ECF-9BD3-4676-B572-2549435A2835}"/>
              </a:ext>
            </a:extLst>
          </p:cNvPr>
          <p:cNvSpPr>
            <a:spLocks noGrp="1"/>
          </p:cNvSpPr>
          <p:nvPr/>
        </p:nvSpPr>
        <p:spPr>
          <a:xfrm>
            <a:off x="3638550" y="3867150"/>
            <a:ext cx="1809750" cy="2857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975" b="1">
                <a:solidFill>
                  <a:srgbClr val="17313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1">
                <a:solidFill>
                  <a:srgbClr val="17313B"/>
                </a:solidFill>
                <a:latin typeface="Microsoft YaHei"/>
                <a:ea typeface="Microsoft YaHei"/>
                <a:cs typeface="Microsoft YaHei"/>
              </a:rPr>
              <a:t>enableNotify</a:t>
            </a:r>
          </a:p>
        </p:txBody>
      </p:sp>
      <p:sp>
        <p:nvSpPr>
          <p:cNvPr id="37" name="矩形 36">
            <a:extLst>
              <a:ext uri="{FF2B5EF4-FFF2-40B4-BE49-F238E27FC236}">
                <a16:creationId xmlns:a16="http://schemas.microsoft.com/office/drawing/2014/main" id="{4930390F-DFA2-4401-9D3C-670F1DAEDBE7}"/>
              </a:ext>
            </a:extLst>
          </p:cNvPr>
          <p:cNvSpPr>
            <a:spLocks noGrp="1"/>
          </p:cNvSpPr>
          <p:nvPr/>
        </p:nvSpPr>
        <p:spPr>
          <a:xfrm>
            <a:off x="3638550" y="4191000"/>
            <a:ext cx="1809750" cy="2476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900" b="0">
                <a:solidFill>
                  <a:srgbClr val="687A8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0">
                <a:solidFill>
                  <a:srgbClr val="687A84"/>
                </a:solidFill>
                <a:latin typeface="Microsoft YaHei"/>
                <a:ea typeface="Microsoft YaHei"/>
                <a:cs typeface="Microsoft YaHei"/>
              </a:rPr>
              <a:t>启用 notification</a:t>
            </a:r>
          </a:p>
        </p:txBody>
      </p:sp>
      <p:sp>
        <p:nvSpPr>
          <p:cNvPr id="38" name="矩形 37">
            <a:extLst>
              <a:ext uri="{FF2B5EF4-FFF2-40B4-BE49-F238E27FC236}">
                <a16:creationId xmlns:a16="http://schemas.microsoft.com/office/drawing/2014/main" id="{245635F3-69D7-4802-B315-6742A81AC2D1}"/>
              </a:ext>
            </a:extLst>
          </p:cNvPr>
          <p:cNvSpPr>
            <a:spLocks noGrp="1"/>
          </p:cNvSpPr>
          <p:nvPr/>
        </p:nvSpPr>
        <p:spPr>
          <a:xfrm>
            <a:off x="742950" y="3733800"/>
            <a:ext cx="2152650" cy="800100"/>
          </a:xfrm>
          <a:prstGeom prst="rect">
            <a:avLst/>
          </a:prstGeom>
          <a:solidFill>
            <a:srgbClr val="FFFFFF"/>
          </a:solidFill>
          <a:ln w="9525">
            <a:solidFill>
              <a:srgbClr val="DCE5E7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39" name="矩形 38">
            <a:extLst>
              <a:ext uri="{FF2B5EF4-FFF2-40B4-BE49-F238E27FC236}">
                <a16:creationId xmlns:a16="http://schemas.microsoft.com/office/drawing/2014/main" id="{1C7877C7-032F-435E-9534-8AD30F3EA046}"/>
              </a:ext>
            </a:extLst>
          </p:cNvPr>
          <p:cNvSpPr>
            <a:spLocks noGrp="1"/>
          </p:cNvSpPr>
          <p:nvPr/>
        </p:nvSpPr>
        <p:spPr>
          <a:xfrm>
            <a:off x="742950" y="3733800"/>
            <a:ext cx="57150" cy="800100"/>
          </a:xfrm>
          <a:prstGeom prst="rect">
            <a:avLst/>
          </a:prstGeom>
          <a:solidFill>
            <a:srgbClr val="18C7A3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40" name="矩形 39">
            <a:extLst>
              <a:ext uri="{FF2B5EF4-FFF2-40B4-BE49-F238E27FC236}">
                <a16:creationId xmlns:a16="http://schemas.microsoft.com/office/drawing/2014/main" id="{FC0D42E8-1834-4A30-95C7-2C94EDCF49C6}"/>
              </a:ext>
            </a:extLst>
          </p:cNvPr>
          <p:cNvSpPr>
            <a:spLocks noGrp="1"/>
          </p:cNvSpPr>
          <p:nvPr/>
        </p:nvSpPr>
        <p:spPr>
          <a:xfrm>
            <a:off x="914400" y="3867150"/>
            <a:ext cx="1809750" cy="2857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975" b="1">
                <a:solidFill>
                  <a:srgbClr val="17313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1">
                <a:solidFill>
                  <a:srgbClr val="17313B"/>
                </a:solidFill>
                <a:latin typeface="Microsoft YaHei"/>
                <a:ea typeface="Microsoft YaHei"/>
                <a:cs typeface="Microsoft YaHei"/>
              </a:rPr>
              <a:t>onValueChange</a:t>
            </a:r>
          </a:p>
        </p:txBody>
      </p:sp>
      <p:sp>
        <p:nvSpPr>
          <p:cNvPr id="41" name="矩形 40">
            <a:extLst>
              <a:ext uri="{FF2B5EF4-FFF2-40B4-BE49-F238E27FC236}">
                <a16:creationId xmlns:a16="http://schemas.microsoft.com/office/drawing/2014/main" id="{56EE9EF8-0CF2-47A6-9D14-32207B414CAA}"/>
              </a:ext>
            </a:extLst>
          </p:cNvPr>
          <p:cNvSpPr>
            <a:spLocks noGrp="1"/>
          </p:cNvSpPr>
          <p:nvPr/>
        </p:nvSpPr>
        <p:spPr>
          <a:xfrm>
            <a:off x="914400" y="4191000"/>
            <a:ext cx="1809750" cy="2476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900" b="0">
                <a:solidFill>
                  <a:srgbClr val="687A8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0">
                <a:solidFill>
                  <a:srgbClr val="687A84"/>
                </a:solidFill>
                <a:latin typeface="Microsoft YaHei"/>
                <a:ea typeface="Microsoft YaHei"/>
                <a:cs typeface="Microsoft YaHei"/>
              </a:rPr>
              <a:t>接收 ArrayBuffer</a:t>
            </a:r>
          </a:p>
        </p:txBody>
      </p:sp>
      <p:sp>
        <p:nvSpPr>
          <p:cNvPr id="42" name="矩形 41">
            <a:extLst>
              <a:ext uri="{FF2B5EF4-FFF2-40B4-BE49-F238E27FC236}">
                <a16:creationId xmlns:a16="http://schemas.microsoft.com/office/drawing/2014/main" id="{40DF6565-AC11-430F-BA4D-F72833BA4DDA}"/>
              </a:ext>
            </a:extLst>
          </p:cNvPr>
          <p:cNvSpPr>
            <a:spLocks noGrp="1"/>
          </p:cNvSpPr>
          <p:nvPr/>
        </p:nvSpPr>
        <p:spPr>
          <a:xfrm>
            <a:off x="10239375" y="2876550"/>
            <a:ext cx="19050" cy="857250"/>
          </a:xfrm>
          <a:prstGeom prst="rect">
            <a:avLst/>
          </a:prstGeom>
          <a:solidFill>
            <a:srgbClr val="22A6C7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43" name="矩形 42">
            <a:extLst>
              <a:ext uri="{FF2B5EF4-FFF2-40B4-BE49-F238E27FC236}">
                <a16:creationId xmlns:a16="http://schemas.microsoft.com/office/drawing/2014/main" id="{2940CFA8-0095-4D32-ABA8-46B3F3FEB4B8}"/>
              </a:ext>
            </a:extLst>
          </p:cNvPr>
          <p:cNvSpPr>
            <a:spLocks noGrp="1"/>
          </p:cNvSpPr>
          <p:nvPr/>
        </p:nvSpPr>
        <p:spPr>
          <a:xfrm>
            <a:off x="10134600" y="3648075"/>
            <a:ext cx="22860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ctr"/>
          <a:lstStyle/>
          <a:p>
            <a:pPr algn="ctr">
              <a:defRPr sz="1200" b="1">
                <a:solidFill>
                  <a:srgbClr val="22A6C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>
                <a:solidFill>
                  <a:srgbClr val="22A6C7"/>
                </a:solidFill>
                <a:latin typeface="Microsoft YaHei"/>
                <a:ea typeface="Microsoft YaHei"/>
                <a:cs typeface="Microsoft YaHei"/>
              </a:rPr>
              <a:t>v</a:t>
            </a:r>
          </a:p>
        </p:txBody>
      </p:sp>
      <p:sp>
        <p:nvSpPr>
          <p:cNvPr id="44" name="矩形 43">
            <a:extLst>
              <a:ext uri="{FF2B5EF4-FFF2-40B4-BE49-F238E27FC236}">
                <a16:creationId xmlns:a16="http://schemas.microsoft.com/office/drawing/2014/main" id="{0A51147D-A6F9-4660-89DF-015DD5952719}"/>
              </a:ext>
            </a:extLst>
          </p:cNvPr>
          <p:cNvSpPr>
            <a:spLocks noGrp="1"/>
          </p:cNvSpPr>
          <p:nvPr/>
        </p:nvSpPr>
        <p:spPr>
          <a:xfrm>
            <a:off x="8343900" y="4095750"/>
            <a:ext cx="571500" cy="19050"/>
          </a:xfrm>
          <a:prstGeom prst="rect">
            <a:avLst/>
          </a:prstGeom>
          <a:solidFill>
            <a:srgbClr val="22A6C7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45" name="矩形 44">
            <a:extLst>
              <a:ext uri="{FF2B5EF4-FFF2-40B4-BE49-F238E27FC236}">
                <a16:creationId xmlns:a16="http://schemas.microsoft.com/office/drawing/2014/main" id="{7D7EC41A-6389-42E3-B77B-7B34A4C49AC9}"/>
              </a:ext>
            </a:extLst>
          </p:cNvPr>
          <p:cNvSpPr>
            <a:spLocks noGrp="1"/>
          </p:cNvSpPr>
          <p:nvPr/>
        </p:nvSpPr>
        <p:spPr>
          <a:xfrm>
            <a:off x="5619750" y="4095750"/>
            <a:ext cx="571500" cy="19050"/>
          </a:xfrm>
          <a:prstGeom prst="rect">
            <a:avLst/>
          </a:prstGeom>
          <a:solidFill>
            <a:srgbClr val="22A6C7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46" name="矩形 45">
            <a:extLst>
              <a:ext uri="{FF2B5EF4-FFF2-40B4-BE49-F238E27FC236}">
                <a16:creationId xmlns:a16="http://schemas.microsoft.com/office/drawing/2014/main" id="{9DE3767F-951C-42B7-9B50-D4C4ABA28258}"/>
              </a:ext>
            </a:extLst>
          </p:cNvPr>
          <p:cNvSpPr>
            <a:spLocks noGrp="1"/>
          </p:cNvSpPr>
          <p:nvPr/>
        </p:nvSpPr>
        <p:spPr>
          <a:xfrm>
            <a:off x="1162050" y="5391150"/>
            <a:ext cx="9906000" cy="3810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ctr">
              <a:defRPr sz="1275" b="1">
                <a:solidFill>
                  <a:srgbClr val="17313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1">
                <a:solidFill>
                  <a:srgbClr val="17313B"/>
                </a:solidFill>
                <a:latin typeface="Microsoft YaHei"/>
                <a:ea typeface="Microsoft YaHei"/>
                <a:cs typeface="Microsoft YaHei"/>
              </a:rPr>
              <a:t>代码锚点：startScan() -&gt; connectDevice() -&gt; discoverServices() -&gt; discoverCharacteristics() -&gt; subscribeNotifications()</a:t>
            </a:r>
          </a:p>
        </p:txBody>
      </p:sp>
    </p:spTree>
    <p:extLst>
      <p:ext uri="{BB962C8B-B14F-4D97-AF65-F5344CB8AC3E}">
        <p14:creationId xmlns:p14="http://schemas.microsoft.com/office/powerpoint/2010/main" val="781067960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" name="矩形 62">
            <a:extLst>
              <a:ext uri="{FF2B5EF4-FFF2-40B4-BE49-F238E27FC236}">
                <a16:creationId xmlns:a16="http://schemas.microsoft.com/office/drawing/2014/main" id="{067BE3C4-EE4A-4E49-AF31-E13F826586A7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6F3EA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" name="矩形 1">
            <a:extLst>
              <a:ext uri="{FF2B5EF4-FFF2-40B4-BE49-F238E27FC236}">
                <a16:creationId xmlns:a16="http://schemas.microsoft.com/office/drawing/2014/main" id="{8F3C28D0-332A-4C6E-8E59-E3ECF607EDF1}"/>
              </a:ext>
            </a:extLst>
          </p:cNvPr>
          <p:cNvSpPr>
            <a:spLocks noGrp="1"/>
          </p:cNvSpPr>
          <p:nvPr/>
        </p:nvSpPr>
        <p:spPr>
          <a:xfrm>
            <a:off x="419100" y="323850"/>
            <a:ext cx="95250" cy="190500"/>
          </a:xfrm>
          <a:prstGeom prst="rect">
            <a:avLst/>
          </a:prstGeom>
          <a:solidFill>
            <a:srgbClr val="22A6C7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37A30C86-DAF2-45AE-9D36-E8C1618B75A1}"/>
              </a:ext>
            </a:extLst>
          </p:cNvPr>
          <p:cNvSpPr>
            <a:spLocks noGrp="1"/>
          </p:cNvSpPr>
          <p:nvPr/>
        </p:nvSpPr>
        <p:spPr>
          <a:xfrm>
            <a:off x="590550" y="266700"/>
            <a:ext cx="4095750" cy="3238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ctr"/>
          <a:lstStyle/>
          <a:p>
            <a:pPr algn="l">
              <a:defRPr sz="1125" b="1">
                <a:solidFill>
                  <a:srgbClr val="687A8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1">
                <a:solidFill>
                  <a:srgbClr val="687A84"/>
                </a:solidFill>
                <a:latin typeface="Microsoft YaHei"/>
                <a:ea typeface="Microsoft YaHei"/>
                <a:cs typeface="Microsoft YaHei"/>
              </a:rPr>
              <a:t>MINI PROGRAM CODE</a:t>
            </a:r>
          </a:p>
        </p:txBody>
      </p:sp>
      <p:sp>
        <p:nvSpPr>
          <p:cNvPr id="4" name="矩形 3">
            <a:extLst>
              <a:ext uri="{FF2B5EF4-FFF2-40B4-BE49-F238E27FC236}">
                <a16:creationId xmlns:a16="http://schemas.microsoft.com/office/drawing/2014/main" id="{B7D2E63F-DA39-4696-9E30-40193DEA4E56}"/>
              </a:ext>
            </a:extLst>
          </p:cNvPr>
          <p:cNvSpPr>
            <a:spLocks noGrp="1"/>
          </p:cNvSpPr>
          <p:nvPr/>
        </p:nvSpPr>
        <p:spPr>
          <a:xfrm>
            <a:off x="419100" y="685800"/>
            <a:ext cx="10763250" cy="7810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2400" b="1">
                <a:solidFill>
                  <a:srgbClr val="17313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400" b="1">
                <a:solidFill>
                  <a:srgbClr val="17313B"/>
                </a:solidFill>
                <a:latin typeface="Microsoft YaHei"/>
                <a:ea typeface="Microsoft YaHei"/>
                <a:cs typeface="Microsoft YaHei"/>
              </a:rPr>
              <a:t>小程序把 notify 的 ArrayBuffer 解析成 UI 状态和波形数组。</a:t>
            </a:r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1D31A0F0-891F-41D3-8318-78C336922207}"/>
              </a:ext>
            </a:extLst>
          </p:cNvPr>
          <p:cNvSpPr>
            <a:spLocks noGrp="1"/>
          </p:cNvSpPr>
          <p:nvPr/>
        </p:nvSpPr>
        <p:spPr>
          <a:xfrm>
            <a:off x="419100" y="6438900"/>
            <a:ext cx="8572500" cy="9525"/>
          </a:xfrm>
          <a:prstGeom prst="rect">
            <a:avLst/>
          </a:prstGeom>
          <a:solidFill>
            <a:srgbClr val="D6DEE1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6" name="矩形 5">
            <a:extLst>
              <a:ext uri="{FF2B5EF4-FFF2-40B4-BE49-F238E27FC236}">
                <a16:creationId xmlns:a16="http://schemas.microsoft.com/office/drawing/2014/main" id="{D791E756-5C75-4B22-AF43-35673C821B1A}"/>
              </a:ext>
            </a:extLst>
          </p:cNvPr>
          <p:cNvSpPr>
            <a:spLocks noGrp="1"/>
          </p:cNvSpPr>
          <p:nvPr/>
        </p:nvSpPr>
        <p:spPr>
          <a:xfrm>
            <a:off x="419100" y="6515100"/>
            <a:ext cx="8572500" cy="1905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675" b="0">
                <a:solidFill>
                  <a:srgbClr val="7C8A9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675" b="0">
                <a:solidFill>
                  <a:srgbClr val="7C8A90"/>
                </a:solidFill>
                <a:latin typeface="Microsoft YaHei"/>
                <a:ea typeface="Microsoft YaHei"/>
                <a:cs typeface="Microsoft YaHei"/>
              </a:rPr>
              <a:t>Source: Arduino / WeChat Mini Program source code; WeChat Mini Program BLE API docs</a:t>
            </a:r>
          </a:p>
        </p:txBody>
      </p:sp>
      <p:sp>
        <p:nvSpPr>
          <p:cNvPr id="7" name="矩形 6">
            <a:extLst>
              <a:ext uri="{FF2B5EF4-FFF2-40B4-BE49-F238E27FC236}">
                <a16:creationId xmlns:a16="http://schemas.microsoft.com/office/drawing/2014/main" id="{C8886AC8-1DE2-42CB-94AB-20B58EF1474F}"/>
              </a:ext>
            </a:extLst>
          </p:cNvPr>
          <p:cNvSpPr>
            <a:spLocks noGrp="1"/>
          </p:cNvSpPr>
          <p:nvPr/>
        </p:nvSpPr>
        <p:spPr>
          <a:xfrm>
            <a:off x="11334750" y="6496050"/>
            <a:ext cx="419100" cy="2095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r">
              <a:defRPr sz="825" b="0">
                <a:solidFill>
                  <a:srgbClr val="7C8A9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825" b="0">
                <a:solidFill>
                  <a:srgbClr val="7C8A90"/>
                </a:solidFill>
                <a:latin typeface="Microsoft YaHei"/>
                <a:ea typeface="Microsoft YaHei"/>
                <a:cs typeface="Microsoft YaHei"/>
              </a:rPr>
              <a:t>15</a:t>
            </a:r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17453252-21C8-4E5B-A96E-7DC210436AEF}"/>
              </a:ext>
            </a:extLst>
          </p:cNvPr>
          <p:cNvSpPr>
            <a:spLocks noGrp="1"/>
          </p:cNvSpPr>
          <p:nvPr/>
        </p:nvSpPr>
        <p:spPr>
          <a:xfrm>
            <a:off x="628650" y="2057400"/>
            <a:ext cx="4953000" cy="1676400"/>
          </a:xfrm>
          <a:prstGeom prst="rect">
            <a:avLst/>
          </a:prstGeom>
          <a:solidFill>
            <a:srgbClr val="0E1F28"/>
          </a:solidFill>
          <a:ln w="9525">
            <a:solidFill>
              <a:srgbClr val="1C3943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39CFF28E-05D5-4B83-9F5B-D5D2D368C15A}"/>
              </a:ext>
            </a:extLst>
          </p:cNvPr>
          <p:cNvSpPr>
            <a:spLocks noGrp="1"/>
          </p:cNvSpPr>
          <p:nvPr/>
        </p:nvSpPr>
        <p:spPr>
          <a:xfrm>
            <a:off x="800100" y="2171700"/>
            <a:ext cx="4610100" cy="160867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938" b="0">
                <a:solidFill>
                  <a:srgbClr val="EAF4F6"/>
                </a:solidFill>
                <a:latin typeface="Consolas"/>
                <a:ea typeface="Consolas"/>
                <a:cs typeface="Consolas"/>
              </a:defRPr>
            </a:pPr>
            <a:r>
              <a:rPr sz="938" b="0">
                <a:solidFill>
                  <a:srgbClr val="EAF4F6"/>
                </a:solidFill>
                <a:latin typeface="Consolas"/>
                <a:ea typeface="Consolas"/>
                <a:cs typeface="Consolas"/>
              </a:rPr>
              <a:t>handleBleValueChange(result) {</a:t>
            </a:r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F644BF27-7B60-41B0-AD2B-4B5336066785}"/>
              </a:ext>
            </a:extLst>
          </p:cNvPr>
          <p:cNvSpPr>
            <a:spLocks noGrp="1"/>
          </p:cNvSpPr>
          <p:nvPr/>
        </p:nvSpPr>
        <p:spPr>
          <a:xfrm>
            <a:off x="800100" y="2332567"/>
            <a:ext cx="4610100" cy="160867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938" b="0">
                <a:solidFill>
                  <a:srgbClr val="EAF4F6"/>
                </a:solidFill>
                <a:latin typeface="Consolas"/>
                <a:ea typeface="Consolas"/>
                <a:cs typeface="Consolas"/>
              </a:defRPr>
            </a:pPr>
            <a:r>
              <a:rPr sz="938" b="0">
                <a:solidFill>
                  <a:srgbClr val="EAF4F6"/>
                </a:solidFill>
                <a:latin typeface="Consolas"/>
                <a:ea typeface="Consolas"/>
                <a:cs typeface="Consolas"/>
              </a:rPr>
              <a:t>  const id = normalizeUuid(result.characteristicId)</a:t>
            </a:r>
          </a:p>
        </p:txBody>
      </p:sp>
      <p:sp>
        <p:nvSpPr>
          <p:cNvPr id="11" name="矩形 10">
            <a:extLst>
              <a:ext uri="{FF2B5EF4-FFF2-40B4-BE49-F238E27FC236}">
                <a16:creationId xmlns:a16="http://schemas.microsoft.com/office/drawing/2014/main" id="{F79B116A-A0EF-4AC0-9964-FF4795812AEA}"/>
              </a:ext>
            </a:extLst>
          </p:cNvPr>
          <p:cNvSpPr>
            <a:spLocks noGrp="1"/>
          </p:cNvSpPr>
          <p:nvPr/>
        </p:nvSpPr>
        <p:spPr>
          <a:xfrm>
            <a:off x="723900" y="2474383"/>
            <a:ext cx="4762500" cy="160867"/>
          </a:xfrm>
          <a:prstGeom prst="rect">
            <a:avLst/>
          </a:prstGeom>
          <a:solidFill>
            <a:srgbClr val="173A47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2" name="矩形 11">
            <a:extLst>
              <a:ext uri="{FF2B5EF4-FFF2-40B4-BE49-F238E27FC236}">
                <a16:creationId xmlns:a16="http://schemas.microsoft.com/office/drawing/2014/main" id="{17CDCB2E-C425-407E-BBD7-8EC49E04408B}"/>
              </a:ext>
            </a:extLst>
          </p:cNvPr>
          <p:cNvSpPr>
            <a:spLocks noGrp="1"/>
          </p:cNvSpPr>
          <p:nvPr/>
        </p:nvSpPr>
        <p:spPr>
          <a:xfrm>
            <a:off x="800100" y="2493433"/>
            <a:ext cx="4610100" cy="160867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938" b="0">
                <a:solidFill>
                  <a:srgbClr val="EAF4F6"/>
                </a:solidFill>
                <a:latin typeface="Consolas"/>
                <a:ea typeface="Consolas"/>
                <a:cs typeface="Consolas"/>
              </a:defRPr>
            </a:pPr>
            <a:r>
              <a:rPr sz="938" b="0">
                <a:solidFill>
                  <a:srgbClr val="EAF4F6"/>
                </a:solidFill>
                <a:latin typeface="Consolas"/>
                <a:ea typeface="Consolas"/>
                <a:cs typeface="Consolas"/>
              </a:rPr>
              <a:t>  const view = new DataView(result.value)</a:t>
            </a:r>
          </a:p>
        </p:txBody>
      </p:sp>
      <p:sp>
        <p:nvSpPr>
          <p:cNvPr id="13" name="矩形 12">
            <a:extLst>
              <a:ext uri="{FF2B5EF4-FFF2-40B4-BE49-F238E27FC236}">
                <a16:creationId xmlns:a16="http://schemas.microsoft.com/office/drawing/2014/main" id="{DF520DAA-3832-4A50-B63C-035603C163F7}"/>
              </a:ext>
            </a:extLst>
          </p:cNvPr>
          <p:cNvSpPr>
            <a:spLocks noGrp="1"/>
          </p:cNvSpPr>
          <p:nvPr/>
        </p:nvSpPr>
        <p:spPr>
          <a:xfrm>
            <a:off x="723900" y="2635250"/>
            <a:ext cx="4762500" cy="160867"/>
          </a:xfrm>
          <a:prstGeom prst="rect">
            <a:avLst/>
          </a:prstGeom>
          <a:solidFill>
            <a:srgbClr val="173A47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4" name="矩形 13">
            <a:extLst>
              <a:ext uri="{FF2B5EF4-FFF2-40B4-BE49-F238E27FC236}">
                <a16:creationId xmlns:a16="http://schemas.microsoft.com/office/drawing/2014/main" id="{4C9706DA-9579-4ED6-8F40-B07512528FC2}"/>
              </a:ext>
            </a:extLst>
          </p:cNvPr>
          <p:cNvSpPr>
            <a:spLocks noGrp="1"/>
          </p:cNvSpPr>
          <p:nvPr/>
        </p:nvSpPr>
        <p:spPr>
          <a:xfrm>
            <a:off x="800100" y="2654300"/>
            <a:ext cx="4610100" cy="160867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938" b="0">
                <a:solidFill>
                  <a:srgbClr val="EAF4F6"/>
                </a:solidFill>
                <a:latin typeface="Consolas"/>
                <a:ea typeface="Consolas"/>
                <a:cs typeface="Consolas"/>
              </a:defRPr>
            </a:pPr>
            <a:r>
              <a:rPr sz="938" b="0">
                <a:solidFill>
                  <a:srgbClr val="EAF4F6"/>
                </a:solidFill>
                <a:latin typeface="Consolas"/>
                <a:ea typeface="Consolas"/>
                <a:cs typeface="Consolas"/>
              </a:rPr>
              <a:t>  if (id === WAVE_CHARACTERISTIC_UUID) {</a:t>
            </a:r>
          </a:p>
        </p:txBody>
      </p:sp>
      <p:sp>
        <p:nvSpPr>
          <p:cNvPr id="15" name="矩形 14">
            <a:extLst>
              <a:ext uri="{FF2B5EF4-FFF2-40B4-BE49-F238E27FC236}">
                <a16:creationId xmlns:a16="http://schemas.microsoft.com/office/drawing/2014/main" id="{CD3D64A7-9BB7-495E-B8BD-1517EBF526E6}"/>
              </a:ext>
            </a:extLst>
          </p:cNvPr>
          <p:cNvSpPr>
            <a:spLocks noGrp="1"/>
          </p:cNvSpPr>
          <p:nvPr/>
        </p:nvSpPr>
        <p:spPr>
          <a:xfrm>
            <a:off x="800100" y="2815167"/>
            <a:ext cx="4610100" cy="160867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938" b="0">
                <a:solidFill>
                  <a:srgbClr val="EAF4F6"/>
                </a:solidFill>
                <a:latin typeface="Consolas"/>
                <a:ea typeface="Consolas"/>
                <a:cs typeface="Consolas"/>
              </a:defRPr>
            </a:pPr>
            <a:r>
              <a:rPr sz="938" b="0">
                <a:solidFill>
                  <a:srgbClr val="EAF4F6"/>
                </a:solidFill>
                <a:latin typeface="Consolas"/>
                <a:ea typeface="Consolas"/>
                <a:cs typeface="Consolas"/>
              </a:rPr>
              <a:t>    this.handleWavePacket(view)</a:t>
            </a:r>
          </a:p>
        </p:txBody>
      </p:sp>
      <p:sp>
        <p:nvSpPr>
          <p:cNvPr id="16" name="矩形 15">
            <a:extLst>
              <a:ext uri="{FF2B5EF4-FFF2-40B4-BE49-F238E27FC236}">
                <a16:creationId xmlns:a16="http://schemas.microsoft.com/office/drawing/2014/main" id="{FDE7961A-25D1-42C4-91AF-1B3F06458536}"/>
              </a:ext>
            </a:extLst>
          </p:cNvPr>
          <p:cNvSpPr>
            <a:spLocks noGrp="1"/>
          </p:cNvSpPr>
          <p:nvPr/>
        </p:nvSpPr>
        <p:spPr>
          <a:xfrm>
            <a:off x="723900" y="2956983"/>
            <a:ext cx="4762500" cy="160867"/>
          </a:xfrm>
          <a:prstGeom prst="rect">
            <a:avLst/>
          </a:prstGeom>
          <a:solidFill>
            <a:srgbClr val="173A47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7" name="矩形 16">
            <a:extLst>
              <a:ext uri="{FF2B5EF4-FFF2-40B4-BE49-F238E27FC236}">
                <a16:creationId xmlns:a16="http://schemas.microsoft.com/office/drawing/2014/main" id="{69E45AB9-9C61-4F8D-B0E9-CD7386DFCC15}"/>
              </a:ext>
            </a:extLst>
          </p:cNvPr>
          <p:cNvSpPr>
            <a:spLocks noGrp="1"/>
          </p:cNvSpPr>
          <p:nvPr/>
        </p:nvSpPr>
        <p:spPr>
          <a:xfrm>
            <a:off x="800100" y="2976033"/>
            <a:ext cx="4610100" cy="160867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938" b="0">
                <a:solidFill>
                  <a:srgbClr val="EAF4F6"/>
                </a:solidFill>
                <a:latin typeface="Consolas"/>
                <a:ea typeface="Consolas"/>
                <a:cs typeface="Consolas"/>
              </a:defRPr>
            </a:pPr>
            <a:r>
              <a:rPr sz="938" b="0">
                <a:solidFill>
                  <a:srgbClr val="EAF4F6"/>
                </a:solidFill>
                <a:latin typeface="Consolas"/>
                <a:ea typeface="Consolas"/>
                <a:cs typeface="Consolas"/>
              </a:rPr>
              <a:t>  } else if (id === METRICS_CHARACTERISTIC_UUID) {</a:t>
            </a:r>
          </a:p>
        </p:txBody>
      </p:sp>
      <p:sp>
        <p:nvSpPr>
          <p:cNvPr id="18" name="矩形 17">
            <a:extLst>
              <a:ext uri="{FF2B5EF4-FFF2-40B4-BE49-F238E27FC236}">
                <a16:creationId xmlns:a16="http://schemas.microsoft.com/office/drawing/2014/main" id="{30B702E1-96EE-4F33-94E7-0A04DC331A1F}"/>
              </a:ext>
            </a:extLst>
          </p:cNvPr>
          <p:cNvSpPr>
            <a:spLocks noGrp="1"/>
          </p:cNvSpPr>
          <p:nvPr/>
        </p:nvSpPr>
        <p:spPr>
          <a:xfrm>
            <a:off x="800100" y="3136900"/>
            <a:ext cx="4610100" cy="160867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938" b="0">
                <a:solidFill>
                  <a:srgbClr val="EAF4F6"/>
                </a:solidFill>
                <a:latin typeface="Consolas"/>
                <a:ea typeface="Consolas"/>
                <a:cs typeface="Consolas"/>
              </a:defRPr>
            </a:pPr>
            <a:r>
              <a:rPr sz="938" b="0">
                <a:solidFill>
                  <a:srgbClr val="EAF4F6"/>
                </a:solidFill>
                <a:latin typeface="Consolas"/>
                <a:ea typeface="Consolas"/>
                <a:cs typeface="Consolas"/>
              </a:rPr>
              <a:t>    this.handleMetricsPacket(view)</a:t>
            </a:r>
          </a:p>
        </p:txBody>
      </p:sp>
      <p:sp>
        <p:nvSpPr>
          <p:cNvPr id="19" name="矩形 18">
            <a:extLst>
              <a:ext uri="{FF2B5EF4-FFF2-40B4-BE49-F238E27FC236}">
                <a16:creationId xmlns:a16="http://schemas.microsoft.com/office/drawing/2014/main" id="{740D83FD-D144-4F3B-A461-EA1CA0624B93}"/>
              </a:ext>
            </a:extLst>
          </p:cNvPr>
          <p:cNvSpPr>
            <a:spLocks noGrp="1"/>
          </p:cNvSpPr>
          <p:nvPr/>
        </p:nvSpPr>
        <p:spPr>
          <a:xfrm>
            <a:off x="800100" y="3297767"/>
            <a:ext cx="4610100" cy="160867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938" b="0">
                <a:solidFill>
                  <a:srgbClr val="EAF4F6"/>
                </a:solidFill>
                <a:latin typeface="Consolas"/>
                <a:ea typeface="Consolas"/>
                <a:cs typeface="Consolas"/>
              </a:defRPr>
            </a:pPr>
            <a:r>
              <a:rPr sz="938" b="0">
                <a:solidFill>
                  <a:srgbClr val="EAF4F6"/>
                </a:solidFill>
                <a:latin typeface="Consolas"/>
                <a:ea typeface="Consolas"/>
                <a:cs typeface="Consolas"/>
              </a:rPr>
              <a:t>  }</a:t>
            </a:r>
          </a:p>
        </p:txBody>
      </p:sp>
      <p:sp>
        <p:nvSpPr>
          <p:cNvPr id="20" name="矩形 19">
            <a:extLst>
              <a:ext uri="{FF2B5EF4-FFF2-40B4-BE49-F238E27FC236}">
                <a16:creationId xmlns:a16="http://schemas.microsoft.com/office/drawing/2014/main" id="{EF1C6CC8-AFB5-4B84-B325-5C1FD804262C}"/>
              </a:ext>
            </a:extLst>
          </p:cNvPr>
          <p:cNvSpPr>
            <a:spLocks noGrp="1"/>
          </p:cNvSpPr>
          <p:nvPr/>
        </p:nvSpPr>
        <p:spPr>
          <a:xfrm>
            <a:off x="800100" y="3458633"/>
            <a:ext cx="4610100" cy="160867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938" b="0">
                <a:solidFill>
                  <a:srgbClr val="EAF4F6"/>
                </a:solidFill>
                <a:latin typeface="Consolas"/>
                <a:ea typeface="Consolas"/>
                <a:cs typeface="Consolas"/>
              </a:defRPr>
            </a:pPr>
            <a:r>
              <a:rPr sz="938" b="0">
                <a:solidFill>
                  <a:srgbClr val="EAF4F6"/>
                </a:solidFill>
                <a:latin typeface="Consolas"/>
                <a:ea typeface="Consolas"/>
                <a:cs typeface="Consolas"/>
              </a:rPr>
              <a:t>}</a:t>
            </a:r>
          </a:p>
        </p:txBody>
      </p:sp>
      <p:sp>
        <p:nvSpPr>
          <p:cNvPr id="21" name="矩形 20">
            <a:extLst>
              <a:ext uri="{FF2B5EF4-FFF2-40B4-BE49-F238E27FC236}">
                <a16:creationId xmlns:a16="http://schemas.microsoft.com/office/drawing/2014/main" id="{1FDA48FE-1C31-4ED2-9ECC-72229C1B45C8}"/>
              </a:ext>
            </a:extLst>
          </p:cNvPr>
          <p:cNvSpPr>
            <a:spLocks noGrp="1"/>
          </p:cNvSpPr>
          <p:nvPr/>
        </p:nvSpPr>
        <p:spPr>
          <a:xfrm>
            <a:off x="628650" y="4076700"/>
            <a:ext cx="4953000" cy="1143000"/>
          </a:xfrm>
          <a:prstGeom prst="rect">
            <a:avLst/>
          </a:prstGeom>
          <a:solidFill>
            <a:srgbClr val="0E1F28"/>
          </a:solidFill>
          <a:ln w="9525">
            <a:solidFill>
              <a:srgbClr val="1C3943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2" name="矩形 21">
            <a:extLst>
              <a:ext uri="{FF2B5EF4-FFF2-40B4-BE49-F238E27FC236}">
                <a16:creationId xmlns:a16="http://schemas.microsoft.com/office/drawing/2014/main" id="{6F7D1BE0-21A1-44FD-9099-720361023B7A}"/>
              </a:ext>
            </a:extLst>
          </p:cNvPr>
          <p:cNvSpPr>
            <a:spLocks noGrp="1"/>
          </p:cNvSpPr>
          <p:nvPr/>
        </p:nvSpPr>
        <p:spPr>
          <a:xfrm>
            <a:off x="800100" y="4191000"/>
            <a:ext cx="4610100" cy="2095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938" b="0">
                <a:solidFill>
                  <a:srgbClr val="EAF4F6"/>
                </a:solidFill>
                <a:latin typeface="Consolas"/>
                <a:ea typeface="Consolas"/>
                <a:cs typeface="Consolas"/>
              </a:defRPr>
            </a:pPr>
            <a:r>
              <a:rPr sz="938" b="0">
                <a:solidFill>
                  <a:srgbClr val="EAF4F6"/>
                </a:solidFill>
                <a:latin typeface="Consolas"/>
                <a:ea typeface="Consolas"/>
                <a:cs typeface="Consolas"/>
              </a:rPr>
              <a:t>wavePoints.shift()</a:t>
            </a:r>
          </a:p>
        </p:txBody>
      </p:sp>
      <p:sp>
        <p:nvSpPr>
          <p:cNvPr id="23" name="矩形 22">
            <a:extLst>
              <a:ext uri="{FF2B5EF4-FFF2-40B4-BE49-F238E27FC236}">
                <a16:creationId xmlns:a16="http://schemas.microsoft.com/office/drawing/2014/main" id="{1A1A855E-063C-4AE6-9B62-A2D977BD9BB3}"/>
              </a:ext>
            </a:extLst>
          </p:cNvPr>
          <p:cNvSpPr>
            <a:spLocks noGrp="1"/>
          </p:cNvSpPr>
          <p:nvPr/>
        </p:nvSpPr>
        <p:spPr>
          <a:xfrm>
            <a:off x="723900" y="4381500"/>
            <a:ext cx="4762500" cy="209550"/>
          </a:xfrm>
          <a:prstGeom prst="rect">
            <a:avLst/>
          </a:prstGeom>
          <a:solidFill>
            <a:srgbClr val="173A47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4" name="矩形 23">
            <a:extLst>
              <a:ext uri="{FF2B5EF4-FFF2-40B4-BE49-F238E27FC236}">
                <a16:creationId xmlns:a16="http://schemas.microsoft.com/office/drawing/2014/main" id="{7D17485E-F620-4FB0-8405-302F6B216885}"/>
              </a:ext>
            </a:extLst>
          </p:cNvPr>
          <p:cNvSpPr>
            <a:spLocks noGrp="1"/>
          </p:cNvSpPr>
          <p:nvPr/>
        </p:nvSpPr>
        <p:spPr>
          <a:xfrm>
            <a:off x="800100" y="4400550"/>
            <a:ext cx="4610100" cy="2095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938" b="0">
                <a:solidFill>
                  <a:srgbClr val="EAF4F6"/>
                </a:solidFill>
                <a:latin typeface="Consolas"/>
                <a:ea typeface="Consolas"/>
                <a:cs typeface="Consolas"/>
              </a:defRPr>
            </a:pPr>
            <a:r>
              <a:rPr sz="938" b="0">
                <a:solidFill>
                  <a:srgbClr val="EAF4F6"/>
                </a:solidFill>
                <a:latin typeface="Consolas"/>
                <a:ea typeface="Consolas"/>
                <a:cs typeface="Consolas"/>
              </a:rPr>
              <a:t>wavePoints.push(waveValue)</a:t>
            </a:r>
          </a:p>
        </p:txBody>
      </p:sp>
      <p:sp>
        <p:nvSpPr>
          <p:cNvPr id="25" name="矩形 24">
            <a:extLst>
              <a:ext uri="{FF2B5EF4-FFF2-40B4-BE49-F238E27FC236}">
                <a16:creationId xmlns:a16="http://schemas.microsoft.com/office/drawing/2014/main" id="{B623B0F2-AAD4-42CB-AFE4-2B8BAC15C746}"/>
              </a:ext>
            </a:extLst>
          </p:cNvPr>
          <p:cNvSpPr>
            <a:spLocks noGrp="1"/>
          </p:cNvSpPr>
          <p:nvPr/>
        </p:nvSpPr>
        <p:spPr>
          <a:xfrm>
            <a:off x="723900" y="4591050"/>
            <a:ext cx="4762500" cy="209550"/>
          </a:xfrm>
          <a:prstGeom prst="rect">
            <a:avLst/>
          </a:prstGeom>
          <a:solidFill>
            <a:srgbClr val="173A47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6" name="矩形 25">
            <a:extLst>
              <a:ext uri="{FF2B5EF4-FFF2-40B4-BE49-F238E27FC236}">
                <a16:creationId xmlns:a16="http://schemas.microsoft.com/office/drawing/2014/main" id="{E3D59A7E-C6C8-4C9E-966B-AB6606A67A02}"/>
              </a:ext>
            </a:extLst>
          </p:cNvPr>
          <p:cNvSpPr>
            <a:spLocks noGrp="1"/>
          </p:cNvSpPr>
          <p:nvPr/>
        </p:nvSpPr>
        <p:spPr>
          <a:xfrm>
            <a:off x="800100" y="4610100"/>
            <a:ext cx="4610100" cy="2095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938" b="0">
                <a:solidFill>
                  <a:srgbClr val="EAF4F6"/>
                </a:solidFill>
                <a:latin typeface="Consolas"/>
                <a:ea typeface="Consolas"/>
                <a:cs typeface="Consolas"/>
              </a:defRPr>
            </a:pPr>
            <a:r>
              <a:rPr sz="938" b="0">
                <a:solidFill>
                  <a:srgbClr val="EAF4F6"/>
                </a:solidFill>
                <a:latin typeface="Consolas"/>
                <a:ea typeface="Consolas"/>
                <a:cs typeface="Consolas"/>
              </a:rPr>
              <a:t>this.drawWave()</a:t>
            </a:r>
          </a:p>
        </p:txBody>
      </p:sp>
      <p:sp>
        <p:nvSpPr>
          <p:cNvPr id="27" name="矩形 26">
            <a:extLst>
              <a:ext uri="{FF2B5EF4-FFF2-40B4-BE49-F238E27FC236}">
                <a16:creationId xmlns:a16="http://schemas.microsoft.com/office/drawing/2014/main" id="{EE49E5C8-7294-480E-A9CC-0BE45623558E}"/>
              </a:ext>
            </a:extLst>
          </p:cNvPr>
          <p:cNvSpPr>
            <a:spLocks noGrp="1"/>
          </p:cNvSpPr>
          <p:nvPr/>
        </p:nvSpPr>
        <p:spPr>
          <a:xfrm>
            <a:off x="800100" y="4819650"/>
            <a:ext cx="4610100" cy="2095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938" b="0">
                <a:solidFill>
                  <a:srgbClr val="EAF4F6"/>
                </a:solidFill>
                <a:latin typeface="Consolas"/>
                <a:ea typeface="Consolas"/>
                <a:cs typeface="Consolas"/>
              </a:defRPr>
            </a:pPr>
            <a:r>
              <a:rPr sz="938" b="0">
                <a:solidFill>
                  <a:srgbClr val="EAF4F6"/>
                </a:solidFill>
                <a:latin typeface="Consolas"/>
                <a:ea typeface="Consolas"/>
                <a:cs typeface="Consolas"/>
              </a:rPr>
              <a:t>ctx.lineTo(x, y) // Canvas curve</a:t>
            </a:r>
          </a:p>
        </p:txBody>
      </p:sp>
      <p:sp>
        <p:nvSpPr>
          <p:cNvPr id="28" name="矩形 27">
            <a:extLst>
              <a:ext uri="{FF2B5EF4-FFF2-40B4-BE49-F238E27FC236}">
                <a16:creationId xmlns:a16="http://schemas.microsoft.com/office/drawing/2014/main" id="{1A001277-D4BD-400B-BEF3-7D5F4BBB037B}"/>
              </a:ext>
            </a:extLst>
          </p:cNvPr>
          <p:cNvSpPr>
            <a:spLocks noGrp="1"/>
          </p:cNvSpPr>
          <p:nvPr/>
        </p:nvSpPr>
        <p:spPr>
          <a:xfrm>
            <a:off x="6153150" y="2171700"/>
            <a:ext cx="2190750" cy="1047750"/>
          </a:xfrm>
          <a:prstGeom prst="rect">
            <a:avLst/>
          </a:prstGeom>
          <a:solidFill>
            <a:srgbClr val="FFFFFF"/>
          </a:solidFill>
          <a:ln w="9525">
            <a:solidFill>
              <a:srgbClr val="DCE5E7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9" name="矩形 28">
            <a:extLst>
              <a:ext uri="{FF2B5EF4-FFF2-40B4-BE49-F238E27FC236}">
                <a16:creationId xmlns:a16="http://schemas.microsoft.com/office/drawing/2014/main" id="{145A621C-12EB-4545-8827-D8F8DCBDB6E5}"/>
              </a:ext>
            </a:extLst>
          </p:cNvPr>
          <p:cNvSpPr>
            <a:spLocks noGrp="1"/>
          </p:cNvSpPr>
          <p:nvPr/>
        </p:nvSpPr>
        <p:spPr>
          <a:xfrm>
            <a:off x="6153150" y="2171700"/>
            <a:ext cx="57150" cy="1047750"/>
          </a:xfrm>
          <a:prstGeom prst="rect">
            <a:avLst/>
          </a:prstGeom>
          <a:solidFill>
            <a:srgbClr val="22A6C7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30" name="矩形 29">
            <a:extLst>
              <a:ext uri="{FF2B5EF4-FFF2-40B4-BE49-F238E27FC236}">
                <a16:creationId xmlns:a16="http://schemas.microsoft.com/office/drawing/2014/main" id="{E8641F96-A7D7-451B-836E-9EFDFE4E59E0}"/>
              </a:ext>
            </a:extLst>
          </p:cNvPr>
          <p:cNvSpPr>
            <a:spLocks noGrp="1"/>
          </p:cNvSpPr>
          <p:nvPr/>
        </p:nvSpPr>
        <p:spPr>
          <a:xfrm>
            <a:off x="6324600" y="2305050"/>
            <a:ext cx="1847850" cy="2857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350" b="1">
                <a:solidFill>
                  <a:srgbClr val="17313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17313B"/>
                </a:solidFill>
                <a:latin typeface="Microsoft YaHei"/>
                <a:ea typeface="Microsoft YaHei"/>
                <a:cs typeface="Microsoft YaHei"/>
              </a:rPr>
              <a:t>Wave parser</a:t>
            </a:r>
          </a:p>
        </p:txBody>
      </p:sp>
      <p:sp>
        <p:nvSpPr>
          <p:cNvPr id="31" name="矩形 30">
            <a:extLst>
              <a:ext uri="{FF2B5EF4-FFF2-40B4-BE49-F238E27FC236}">
                <a16:creationId xmlns:a16="http://schemas.microsoft.com/office/drawing/2014/main" id="{D5D63403-20D8-441D-B760-1AC86544FD22}"/>
              </a:ext>
            </a:extLst>
          </p:cNvPr>
          <p:cNvSpPr>
            <a:spLocks noGrp="1"/>
          </p:cNvSpPr>
          <p:nvPr/>
        </p:nvSpPr>
        <p:spPr>
          <a:xfrm>
            <a:off x="6324600" y="2628900"/>
            <a:ext cx="1847850" cy="4953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013" b="0">
                <a:solidFill>
                  <a:srgbClr val="687A8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13" b="0">
                <a:solidFill>
                  <a:srgbClr val="687A84"/>
                </a:solidFill>
                <a:latin typeface="Microsoft YaHei"/>
                <a:ea typeface="Microsoft YaHei"/>
                <a:cs typeface="Microsoft YaHei"/>
              </a:rPr>
              <a:t>type=0x01</a:t>
            </a:r>
          </a:p>
          <a:p>
            <a:pPr algn="l">
              <a:defRPr sz="1013" b="0">
                <a:solidFill>
                  <a:srgbClr val="687A8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13" b="0">
                <a:solidFill>
                  <a:srgbClr val="687A84"/>
                </a:solidFill>
                <a:latin typeface="Microsoft YaHei"/>
                <a:ea typeface="Microsoft YaHei"/>
                <a:cs typeface="Microsoft YaHei"/>
              </a:rPr>
              <a:t>byte2 -&gt; waveValue</a:t>
            </a:r>
          </a:p>
          <a:p>
            <a:pPr algn="l">
              <a:defRPr sz="1013" b="0">
                <a:solidFill>
                  <a:srgbClr val="687A8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13" b="0">
                <a:solidFill>
                  <a:srgbClr val="687A84"/>
                </a:solidFill>
                <a:latin typeface="Microsoft YaHei"/>
                <a:ea typeface="Microsoft YaHei"/>
                <a:cs typeface="Microsoft YaHei"/>
              </a:rPr>
              <a:t>byte3 bit0 -&gt; finger</a:t>
            </a:r>
          </a:p>
        </p:txBody>
      </p:sp>
      <p:sp>
        <p:nvSpPr>
          <p:cNvPr id="32" name="矩形 31">
            <a:extLst>
              <a:ext uri="{FF2B5EF4-FFF2-40B4-BE49-F238E27FC236}">
                <a16:creationId xmlns:a16="http://schemas.microsoft.com/office/drawing/2014/main" id="{10630B08-1636-40C9-ACE0-963D5F3BF0AA}"/>
              </a:ext>
            </a:extLst>
          </p:cNvPr>
          <p:cNvSpPr>
            <a:spLocks noGrp="1"/>
          </p:cNvSpPr>
          <p:nvPr/>
        </p:nvSpPr>
        <p:spPr>
          <a:xfrm>
            <a:off x="8667750" y="2171700"/>
            <a:ext cx="2190750" cy="1047750"/>
          </a:xfrm>
          <a:prstGeom prst="rect">
            <a:avLst/>
          </a:prstGeom>
          <a:solidFill>
            <a:srgbClr val="FFFFFF"/>
          </a:solidFill>
          <a:ln w="9525">
            <a:solidFill>
              <a:srgbClr val="DCE5E7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33" name="矩形 32">
            <a:extLst>
              <a:ext uri="{FF2B5EF4-FFF2-40B4-BE49-F238E27FC236}">
                <a16:creationId xmlns:a16="http://schemas.microsoft.com/office/drawing/2014/main" id="{0529D194-9F97-4534-A532-EF5E628DC019}"/>
              </a:ext>
            </a:extLst>
          </p:cNvPr>
          <p:cNvSpPr>
            <a:spLocks noGrp="1"/>
          </p:cNvSpPr>
          <p:nvPr/>
        </p:nvSpPr>
        <p:spPr>
          <a:xfrm>
            <a:off x="8667750" y="2171700"/>
            <a:ext cx="57150" cy="1047750"/>
          </a:xfrm>
          <a:prstGeom prst="rect">
            <a:avLst/>
          </a:prstGeom>
          <a:solidFill>
            <a:srgbClr val="18C7A3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34" name="矩形 33">
            <a:extLst>
              <a:ext uri="{FF2B5EF4-FFF2-40B4-BE49-F238E27FC236}">
                <a16:creationId xmlns:a16="http://schemas.microsoft.com/office/drawing/2014/main" id="{3D0AA029-4C84-402D-9A11-832804607180}"/>
              </a:ext>
            </a:extLst>
          </p:cNvPr>
          <p:cNvSpPr>
            <a:spLocks noGrp="1"/>
          </p:cNvSpPr>
          <p:nvPr/>
        </p:nvSpPr>
        <p:spPr>
          <a:xfrm>
            <a:off x="8839200" y="2305050"/>
            <a:ext cx="1847850" cy="2857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350" b="1">
                <a:solidFill>
                  <a:srgbClr val="17313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17313B"/>
                </a:solidFill>
                <a:latin typeface="Microsoft YaHei"/>
                <a:ea typeface="Microsoft YaHei"/>
                <a:cs typeface="Microsoft YaHei"/>
              </a:rPr>
              <a:t>Metrics parser</a:t>
            </a:r>
          </a:p>
        </p:txBody>
      </p:sp>
      <p:sp>
        <p:nvSpPr>
          <p:cNvPr id="35" name="矩形 34">
            <a:extLst>
              <a:ext uri="{FF2B5EF4-FFF2-40B4-BE49-F238E27FC236}">
                <a16:creationId xmlns:a16="http://schemas.microsoft.com/office/drawing/2014/main" id="{E627B382-D802-4030-8775-3079E402E133}"/>
              </a:ext>
            </a:extLst>
          </p:cNvPr>
          <p:cNvSpPr>
            <a:spLocks noGrp="1"/>
          </p:cNvSpPr>
          <p:nvPr/>
        </p:nvSpPr>
        <p:spPr>
          <a:xfrm>
            <a:off x="8839200" y="2628900"/>
            <a:ext cx="1847850" cy="4953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013" b="0">
                <a:solidFill>
                  <a:srgbClr val="687A8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13" b="0">
                <a:solidFill>
                  <a:srgbClr val="687A84"/>
                </a:solidFill>
                <a:latin typeface="Microsoft YaHei"/>
                <a:ea typeface="Microsoft YaHei"/>
                <a:cs typeface="Microsoft YaHei"/>
              </a:rPr>
              <a:t>type=0x02</a:t>
            </a:r>
          </a:p>
          <a:p>
            <a:pPr algn="l">
              <a:defRPr sz="1013" b="0">
                <a:solidFill>
                  <a:srgbClr val="687A8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13" b="0">
                <a:solidFill>
                  <a:srgbClr val="687A84"/>
                </a:solidFill>
                <a:latin typeface="Microsoft YaHei"/>
                <a:ea typeface="Microsoft YaHei"/>
                <a:cs typeface="Microsoft YaHei"/>
              </a:rPr>
              <a:t>bytes1-2 -&gt; bpm</a:t>
            </a:r>
          </a:p>
          <a:p>
            <a:pPr algn="l">
              <a:defRPr sz="1013" b="0">
                <a:solidFill>
                  <a:srgbClr val="687A8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13" b="0">
                <a:solidFill>
                  <a:srgbClr val="687A84"/>
                </a:solidFill>
                <a:latin typeface="Microsoft YaHei"/>
                <a:ea typeface="Microsoft YaHei"/>
                <a:cs typeface="Microsoft YaHei"/>
              </a:rPr>
              <a:t>byte3 -&gt; spo2</a:t>
            </a:r>
          </a:p>
        </p:txBody>
      </p:sp>
      <p:sp>
        <p:nvSpPr>
          <p:cNvPr id="36" name="矩形 35">
            <a:extLst>
              <a:ext uri="{FF2B5EF4-FFF2-40B4-BE49-F238E27FC236}">
                <a16:creationId xmlns:a16="http://schemas.microsoft.com/office/drawing/2014/main" id="{2A0055CA-35AF-44AD-A07A-A101E78559E7}"/>
              </a:ext>
            </a:extLst>
          </p:cNvPr>
          <p:cNvSpPr>
            <a:spLocks noGrp="1"/>
          </p:cNvSpPr>
          <p:nvPr/>
        </p:nvSpPr>
        <p:spPr>
          <a:xfrm>
            <a:off x="8343900" y="2695575"/>
            <a:ext cx="323850" cy="19050"/>
          </a:xfrm>
          <a:prstGeom prst="rect">
            <a:avLst/>
          </a:prstGeom>
          <a:solidFill>
            <a:srgbClr val="22A6C7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37" name="矩形 36">
            <a:extLst>
              <a:ext uri="{FF2B5EF4-FFF2-40B4-BE49-F238E27FC236}">
                <a16:creationId xmlns:a16="http://schemas.microsoft.com/office/drawing/2014/main" id="{CC4836CA-1649-45D4-A611-3617AB513C4D}"/>
              </a:ext>
            </a:extLst>
          </p:cNvPr>
          <p:cNvSpPr>
            <a:spLocks noGrp="1"/>
          </p:cNvSpPr>
          <p:nvPr/>
        </p:nvSpPr>
        <p:spPr>
          <a:xfrm>
            <a:off x="8534400" y="2581275"/>
            <a:ext cx="247650" cy="2476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ctr"/>
          <a:lstStyle/>
          <a:p>
            <a:pPr algn="ctr">
              <a:defRPr sz="1275" b="1">
                <a:solidFill>
                  <a:srgbClr val="22A6C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1">
                <a:solidFill>
                  <a:srgbClr val="22A6C7"/>
                </a:solidFill>
                <a:latin typeface="Microsoft YaHei"/>
                <a:ea typeface="Microsoft YaHei"/>
                <a:cs typeface="Microsoft YaHei"/>
              </a:rPr>
              <a:t>&gt;</a:t>
            </a:r>
          </a:p>
        </p:txBody>
      </p:sp>
      <p:sp>
        <p:nvSpPr>
          <p:cNvPr id="38" name="矩形 37">
            <a:extLst>
              <a:ext uri="{FF2B5EF4-FFF2-40B4-BE49-F238E27FC236}">
                <a16:creationId xmlns:a16="http://schemas.microsoft.com/office/drawing/2014/main" id="{38BD9B67-A13F-4982-A4FE-83E47D5ED1E8}"/>
              </a:ext>
            </a:extLst>
          </p:cNvPr>
          <p:cNvSpPr>
            <a:spLocks noGrp="1"/>
          </p:cNvSpPr>
          <p:nvPr/>
        </p:nvSpPr>
        <p:spPr>
          <a:xfrm>
            <a:off x="7296150" y="3676650"/>
            <a:ext cx="2190750" cy="2381250"/>
          </a:xfrm>
          <a:prstGeom prst="rect">
            <a:avLst/>
          </a:prstGeom>
          <a:solidFill>
            <a:srgbClr val="101B21"/>
          </a:solidFill>
          <a:ln w="9525">
            <a:solidFill>
              <a:srgbClr val="101B21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39" name="矩形 38">
            <a:extLst>
              <a:ext uri="{FF2B5EF4-FFF2-40B4-BE49-F238E27FC236}">
                <a16:creationId xmlns:a16="http://schemas.microsoft.com/office/drawing/2014/main" id="{F8ECE0F3-E45E-46AD-BFF5-5A4E25A210ED}"/>
              </a:ext>
            </a:extLst>
          </p:cNvPr>
          <p:cNvSpPr>
            <a:spLocks noGrp="1"/>
          </p:cNvSpPr>
          <p:nvPr/>
        </p:nvSpPr>
        <p:spPr>
          <a:xfrm>
            <a:off x="7391400" y="3867150"/>
            <a:ext cx="2000250" cy="2000250"/>
          </a:xfrm>
          <a:prstGeom prst="rect">
            <a:avLst/>
          </a:prstGeom>
          <a:solidFill>
            <a:srgbClr val="F7FBFC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40" name="矩形 39">
            <a:extLst>
              <a:ext uri="{FF2B5EF4-FFF2-40B4-BE49-F238E27FC236}">
                <a16:creationId xmlns:a16="http://schemas.microsoft.com/office/drawing/2014/main" id="{C5B5A22D-2520-4AC4-9789-5B531CAD000E}"/>
              </a:ext>
            </a:extLst>
          </p:cNvPr>
          <p:cNvSpPr>
            <a:spLocks noGrp="1"/>
          </p:cNvSpPr>
          <p:nvPr/>
        </p:nvSpPr>
        <p:spPr>
          <a:xfrm>
            <a:off x="7391400" y="3867150"/>
            <a:ext cx="2000250" cy="457200"/>
          </a:xfrm>
          <a:prstGeom prst="rect">
            <a:avLst/>
          </a:prstGeom>
          <a:solidFill>
            <a:srgbClr val="18C7A3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41" name="矩形 40">
            <a:extLst>
              <a:ext uri="{FF2B5EF4-FFF2-40B4-BE49-F238E27FC236}">
                <a16:creationId xmlns:a16="http://schemas.microsoft.com/office/drawing/2014/main" id="{B6B863CA-E6F1-4540-BD16-6F69C2AA1A4F}"/>
              </a:ext>
            </a:extLst>
          </p:cNvPr>
          <p:cNvSpPr>
            <a:spLocks noGrp="1"/>
          </p:cNvSpPr>
          <p:nvPr/>
        </p:nvSpPr>
        <p:spPr>
          <a:xfrm>
            <a:off x="7505700" y="3981450"/>
            <a:ext cx="1771650" cy="2095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ctr">
              <a:defRPr sz="97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脉搏血氧仪</a:t>
            </a:r>
          </a:p>
        </p:txBody>
      </p:sp>
      <p:sp>
        <p:nvSpPr>
          <p:cNvPr id="42" name="矩形 41">
            <a:extLst>
              <a:ext uri="{FF2B5EF4-FFF2-40B4-BE49-F238E27FC236}">
                <a16:creationId xmlns:a16="http://schemas.microsoft.com/office/drawing/2014/main" id="{D04F3C6A-8674-4255-8699-8C28D2FE72F8}"/>
              </a:ext>
            </a:extLst>
          </p:cNvPr>
          <p:cNvSpPr>
            <a:spLocks noGrp="1"/>
          </p:cNvSpPr>
          <p:nvPr/>
        </p:nvSpPr>
        <p:spPr>
          <a:xfrm>
            <a:off x="7562850" y="4495800"/>
            <a:ext cx="800100" cy="2476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ctr">
              <a:defRPr sz="900" b="0">
                <a:solidFill>
                  <a:srgbClr val="687A8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0">
                <a:solidFill>
                  <a:srgbClr val="687A84"/>
                </a:solidFill>
                <a:latin typeface="Microsoft YaHei"/>
                <a:ea typeface="Microsoft YaHei"/>
                <a:cs typeface="Microsoft YaHei"/>
              </a:rPr>
              <a:t>SpO2</a:t>
            </a:r>
          </a:p>
        </p:txBody>
      </p:sp>
      <p:sp>
        <p:nvSpPr>
          <p:cNvPr id="43" name="矩形 42">
            <a:extLst>
              <a:ext uri="{FF2B5EF4-FFF2-40B4-BE49-F238E27FC236}">
                <a16:creationId xmlns:a16="http://schemas.microsoft.com/office/drawing/2014/main" id="{9B873D18-D77C-4A42-A039-363D921BBA30}"/>
              </a:ext>
            </a:extLst>
          </p:cNvPr>
          <p:cNvSpPr>
            <a:spLocks noGrp="1"/>
          </p:cNvSpPr>
          <p:nvPr/>
        </p:nvSpPr>
        <p:spPr>
          <a:xfrm>
            <a:off x="8458200" y="4495800"/>
            <a:ext cx="800100" cy="2476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ctr">
              <a:defRPr sz="900" b="0">
                <a:solidFill>
                  <a:srgbClr val="687A8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0">
                <a:solidFill>
                  <a:srgbClr val="687A84"/>
                </a:solidFill>
                <a:latin typeface="Microsoft YaHei"/>
                <a:ea typeface="Microsoft YaHei"/>
                <a:cs typeface="Microsoft YaHei"/>
              </a:rPr>
              <a:t>HR</a:t>
            </a:r>
          </a:p>
        </p:txBody>
      </p:sp>
      <p:sp>
        <p:nvSpPr>
          <p:cNvPr id="44" name="矩形 43">
            <a:extLst>
              <a:ext uri="{FF2B5EF4-FFF2-40B4-BE49-F238E27FC236}">
                <a16:creationId xmlns:a16="http://schemas.microsoft.com/office/drawing/2014/main" id="{61463347-FFFB-49C6-9143-F45A2FEACDBD}"/>
              </a:ext>
            </a:extLst>
          </p:cNvPr>
          <p:cNvSpPr>
            <a:spLocks noGrp="1"/>
          </p:cNvSpPr>
          <p:nvPr/>
        </p:nvSpPr>
        <p:spPr>
          <a:xfrm>
            <a:off x="7562850" y="4752975"/>
            <a:ext cx="800100" cy="4000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ctr">
              <a:defRPr sz="2100" b="1">
                <a:solidFill>
                  <a:srgbClr val="22A6C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1">
                <a:solidFill>
                  <a:srgbClr val="22A6C7"/>
                </a:solidFill>
                <a:latin typeface="Microsoft YaHei"/>
                <a:ea typeface="Microsoft YaHei"/>
                <a:cs typeface="Microsoft YaHei"/>
              </a:rPr>
              <a:t>97</a:t>
            </a:r>
          </a:p>
        </p:txBody>
      </p:sp>
      <p:sp>
        <p:nvSpPr>
          <p:cNvPr id="45" name="矩形 44">
            <a:extLst>
              <a:ext uri="{FF2B5EF4-FFF2-40B4-BE49-F238E27FC236}">
                <a16:creationId xmlns:a16="http://schemas.microsoft.com/office/drawing/2014/main" id="{923320C5-E32C-4568-9743-8B3E1D55E57B}"/>
              </a:ext>
            </a:extLst>
          </p:cNvPr>
          <p:cNvSpPr>
            <a:spLocks noGrp="1"/>
          </p:cNvSpPr>
          <p:nvPr/>
        </p:nvSpPr>
        <p:spPr>
          <a:xfrm>
            <a:off x="8458200" y="4752975"/>
            <a:ext cx="800100" cy="4000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ctr">
              <a:defRPr sz="2100" b="1">
                <a:solidFill>
                  <a:srgbClr val="18C7A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1">
                <a:solidFill>
                  <a:srgbClr val="18C7A3"/>
                </a:solidFill>
                <a:latin typeface="Microsoft YaHei"/>
                <a:ea typeface="Microsoft YaHei"/>
                <a:cs typeface="Microsoft YaHei"/>
              </a:rPr>
              <a:t>82</a:t>
            </a:r>
          </a:p>
        </p:txBody>
      </p:sp>
      <p:sp>
        <p:nvSpPr>
          <p:cNvPr id="46" name="矩形 45">
            <a:extLst>
              <a:ext uri="{FF2B5EF4-FFF2-40B4-BE49-F238E27FC236}">
                <a16:creationId xmlns:a16="http://schemas.microsoft.com/office/drawing/2014/main" id="{75DF5789-AEA7-4A51-8CCC-DF06E71A8F2F}"/>
              </a:ext>
            </a:extLst>
          </p:cNvPr>
          <p:cNvSpPr>
            <a:spLocks noGrp="1"/>
          </p:cNvSpPr>
          <p:nvPr/>
        </p:nvSpPr>
        <p:spPr>
          <a:xfrm>
            <a:off x="7562850" y="5772150"/>
            <a:ext cx="1657350" cy="9525"/>
          </a:xfrm>
          <a:prstGeom prst="rect">
            <a:avLst/>
          </a:prstGeom>
          <a:solidFill>
            <a:srgbClr val="D6E3E7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47" name="矩形 46">
            <a:extLst>
              <a:ext uri="{FF2B5EF4-FFF2-40B4-BE49-F238E27FC236}">
                <a16:creationId xmlns:a16="http://schemas.microsoft.com/office/drawing/2014/main" id="{6740E1FA-B3F2-4A71-A7D0-BE3EBA4DF1FD}"/>
              </a:ext>
            </a:extLst>
          </p:cNvPr>
          <p:cNvSpPr>
            <a:spLocks noGrp="1"/>
          </p:cNvSpPr>
          <p:nvPr/>
        </p:nvSpPr>
        <p:spPr>
          <a:xfrm>
            <a:off x="7658100" y="5829300"/>
            <a:ext cx="28575" cy="95250"/>
          </a:xfrm>
          <a:prstGeom prst="rect">
            <a:avLst/>
          </a:prstGeom>
          <a:solidFill>
            <a:srgbClr val="22A6C7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48" name="矩形 47">
            <a:extLst>
              <a:ext uri="{FF2B5EF4-FFF2-40B4-BE49-F238E27FC236}">
                <a16:creationId xmlns:a16="http://schemas.microsoft.com/office/drawing/2014/main" id="{DA08E6F4-5048-4EF2-8D6A-CDDA1FC9F560}"/>
              </a:ext>
            </a:extLst>
          </p:cNvPr>
          <p:cNvSpPr>
            <a:spLocks noGrp="1"/>
          </p:cNvSpPr>
          <p:nvPr/>
        </p:nvSpPr>
        <p:spPr>
          <a:xfrm>
            <a:off x="7755890" y="5505450"/>
            <a:ext cx="28575" cy="419100"/>
          </a:xfrm>
          <a:prstGeom prst="rect">
            <a:avLst/>
          </a:prstGeom>
          <a:solidFill>
            <a:srgbClr val="22A6C7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49" name="矩形 48">
            <a:extLst>
              <a:ext uri="{FF2B5EF4-FFF2-40B4-BE49-F238E27FC236}">
                <a16:creationId xmlns:a16="http://schemas.microsoft.com/office/drawing/2014/main" id="{79DD78CF-6A66-4785-BF88-2B5E35245804}"/>
              </a:ext>
            </a:extLst>
          </p:cNvPr>
          <p:cNvSpPr>
            <a:spLocks noGrp="1"/>
          </p:cNvSpPr>
          <p:nvPr/>
        </p:nvSpPr>
        <p:spPr>
          <a:xfrm>
            <a:off x="7853680" y="5753100"/>
            <a:ext cx="28575" cy="171450"/>
          </a:xfrm>
          <a:prstGeom prst="rect">
            <a:avLst/>
          </a:prstGeom>
          <a:solidFill>
            <a:srgbClr val="22A6C7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50" name="矩形 49">
            <a:extLst>
              <a:ext uri="{FF2B5EF4-FFF2-40B4-BE49-F238E27FC236}">
                <a16:creationId xmlns:a16="http://schemas.microsoft.com/office/drawing/2014/main" id="{DD6A87EA-C3E1-4E6D-92D1-C02671EB24DC}"/>
              </a:ext>
            </a:extLst>
          </p:cNvPr>
          <p:cNvSpPr>
            <a:spLocks noGrp="1"/>
          </p:cNvSpPr>
          <p:nvPr/>
        </p:nvSpPr>
        <p:spPr>
          <a:xfrm>
            <a:off x="7951470" y="5314950"/>
            <a:ext cx="28575" cy="609600"/>
          </a:xfrm>
          <a:prstGeom prst="rect">
            <a:avLst/>
          </a:prstGeom>
          <a:solidFill>
            <a:srgbClr val="22A6C7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51" name="矩形 50">
            <a:extLst>
              <a:ext uri="{FF2B5EF4-FFF2-40B4-BE49-F238E27FC236}">
                <a16:creationId xmlns:a16="http://schemas.microsoft.com/office/drawing/2014/main" id="{23F4E5E4-1DAB-4E3F-97AC-B8852AD02E76}"/>
              </a:ext>
            </a:extLst>
          </p:cNvPr>
          <p:cNvSpPr>
            <a:spLocks noGrp="1"/>
          </p:cNvSpPr>
          <p:nvPr/>
        </p:nvSpPr>
        <p:spPr>
          <a:xfrm>
            <a:off x="8049260" y="5676900"/>
            <a:ext cx="28575" cy="247650"/>
          </a:xfrm>
          <a:prstGeom prst="rect">
            <a:avLst/>
          </a:prstGeom>
          <a:solidFill>
            <a:srgbClr val="22A6C7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52" name="矩形 51">
            <a:extLst>
              <a:ext uri="{FF2B5EF4-FFF2-40B4-BE49-F238E27FC236}">
                <a16:creationId xmlns:a16="http://schemas.microsoft.com/office/drawing/2014/main" id="{AA5AFFA2-F24B-4891-ABC6-D42EA2C9FF9B}"/>
              </a:ext>
            </a:extLst>
          </p:cNvPr>
          <p:cNvSpPr>
            <a:spLocks noGrp="1"/>
          </p:cNvSpPr>
          <p:nvPr/>
        </p:nvSpPr>
        <p:spPr>
          <a:xfrm>
            <a:off x="8147050" y="5238750"/>
            <a:ext cx="28575" cy="685800"/>
          </a:xfrm>
          <a:prstGeom prst="rect">
            <a:avLst/>
          </a:prstGeom>
          <a:solidFill>
            <a:srgbClr val="22A6C7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53" name="矩形 52">
            <a:extLst>
              <a:ext uri="{FF2B5EF4-FFF2-40B4-BE49-F238E27FC236}">
                <a16:creationId xmlns:a16="http://schemas.microsoft.com/office/drawing/2014/main" id="{C4FD1810-7047-4727-8E7C-04C94C7653DD}"/>
              </a:ext>
            </a:extLst>
          </p:cNvPr>
          <p:cNvSpPr>
            <a:spLocks noGrp="1"/>
          </p:cNvSpPr>
          <p:nvPr/>
        </p:nvSpPr>
        <p:spPr>
          <a:xfrm>
            <a:off x="8244840" y="5715000"/>
            <a:ext cx="28575" cy="209550"/>
          </a:xfrm>
          <a:prstGeom prst="rect">
            <a:avLst/>
          </a:prstGeom>
          <a:solidFill>
            <a:srgbClr val="22A6C7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54" name="矩形 53">
            <a:extLst>
              <a:ext uri="{FF2B5EF4-FFF2-40B4-BE49-F238E27FC236}">
                <a16:creationId xmlns:a16="http://schemas.microsoft.com/office/drawing/2014/main" id="{DC24A5B7-2F3B-4A41-AC1C-CB7AA5F01A96}"/>
              </a:ext>
            </a:extLst>
          </p:cNvPr>
          <p:cNvSpPr>
            <a:spLocks noGrp="1"/>
          </p:cNvSpPr>
          <p:nvPr/>
        </p:nvSpPr>
        <p:spPr>
          <a:xfrm>
            <a:off x="8342630" y="5372100"/>
            <a:ext cx="28575" cy="552450"/>
          </a:xfrm>
          <a:prstGeom prst="rect">
            <a:avLst/>
          </a:prstGeom>
          <a:solidFill>
            <a:srgbClr val="22A6C7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55" name="矩形 54">
            <a:extLst>
              <a:ext uri="{FF2B5EF4-FFF2-40B4-BE49-F238E27FC236}">
                <a16:creationId xmlns:a16="http://schemas.microsoft.com/office/drawing/2014/main" id="{F8EE2A75-CD29-4A42-BD59-E954150D1938}"/>
              </a:ext>
            </a:extLst>
          </p:cNvPr>
          <p:cNvSpPr>
            <a:spLocks noGrp="1"/>
          </p:cNvSpPr>
          <p:nvPr/>
        </p:nvSpPr>
        <p:spPr>
          <a:xfrm>
            <a:off x="8440420" y="5619750"/>
            <a:ext cx="28575" cy="304800"/>
          </a:xfrm>
          <a:prstGeom prst="rect">
            <a:avLst/>
          </a:prstGeom>
          <a:solidFill>
            <a:srgbClr val="22A6C7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56" name="矩形 55">
            <a:extLst>
              <a:ext uri="{FF2B5EF4-FFF2-40B4-BE49-F238E27FC236}">
                <a16:creationId xmlns:a16="http://schemas.microsoft.com/office/drawing/2014/main" id="{0D53D001-B7D6-405D-AEB7-9D45BB9C64E2}"/>
              </a:ext>
            </a:extLst>
          </p:cNvPr>
          <p:cNvSpPr>
            <a:spLocks noGrp="1"/>
          </p:cNvSpPr>
          <p:nvPr/>
        </p:nvSpPr>
        <p:spPr>
          <a:xfrm>
            <a:off x="8538210" y="5295900"/>
            <a:ext cx="28575" cy="628650"/>
          </a:xfrm>
          <a:prstGeom prst="rect">
            <a:avLst/>
          </a:prstGeom>
          <a:solidFill>
            <a:srgbClr val="22A6C7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57" name="矩形 56">
            <a:extLst>
              <a:ext uri="{FF2B5EF4-FFF2-40B4-BE49-F238E27FC236}">
                <a16:creationId xmlns:a16="http://schemas.microsoft.com/office/drawing/2014/main" id="{B2839C8D-59EF-421E-B289-2AC71C5C3BC2}"/>
              </a:ext>
            </a:extLst>
          </p:cNvPr>
          <p:cNvSpPr>
            <a:spLocks noGrp="1"/>
          </p:cNvSpPr>
          <p:nvPr/>
        </p:nvSpPr>
        <p:spPr>
          <a:xfrm>
            <a:off x="8636000" y="5695950"/>
            <a:ext cx="28575" cy="228600"/>
          </a:xfrm>
          <a:prstGeom prst="rect">
            <a:avLst/>
          </a:prstGeom>
          <a:solidFill>
            <a:srgbClr val="22A6C7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58" name="矩形 57">
            <a:extLst>
              <a:ext uri="{FF2B5EF4-FFF2-40B4-BE49-F238E27FC236}">
                <a16:creationId xmlns:a16="http://schemas.microsoft.com/office/drawing/2014/main" id="{BD3BAAFA-A17E-4ABE-9C3E-D8B63CFE76D9}"/>
              </a:ext>
            </a:extLst>
          </p:cNvPr>
          <p:cNvSpPr>
            <a:spLocks noGrp="1"/>
          </p:cNvSpPr>
          <p:nvPr/>
        </p:nvSpPr>
        <p:spPr>
          <a:xfrm>
            <a:off x="8733790" y="5410200"/>
            <a:ext cx="28575" cy="514350"/>
          </a:xfrm>
          <a:prstGeom prst="rect">
            <a:avLst/>
          </a:prstGeom>
          <a:solidFill>
            <a:srgbClr val="22A6C7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59" name="矩形 58">
            <a:extLst>
              <a:ext uri="{FF2B5EF4-FFF2-40B4-BE49-F238E27FC236}">
                <a16:creationId xmlns:a16="http://schemas.microsoft.com/office/drawing/2014/main" id="{B6153135-C454-4107-9B4E-0F0019EF6AE7}"/>
              </a:ext>
            </a:extLst>
          </p:cNvPr>
          <p:cNvSpPr>
            <a:spLocks noGrp="1"/>
          </p:cNvSpPr>
          <p:nvPr/>
        </p:nvSpPr>
        <p:spPr>
          <a:xfrm>
            <a:off x="8831580" y="5638800"/>
            <a:ext cx="28575" cy="285750"/>
          </a:xfrm>
          <a:prstGeom prst="rect">
            <a:avLst/>
          </a:prstGeom>
          <a:solidFill>
            <a:srgbClr val="22A6C7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60" name="矩形 59">
            <a:extLst>
              <a:ext uri="{FF2B5EF4-FFF2-40B4-BE49-F238E27FC236}">
                <a16:creationId xmlns:a16="http://schemas.microsoft.com/office/drawing/2014/main" id="{5E0E036B-9FAD-43BE-8365-32D44B6142F2}"/>
              </a:ext>
            </a:extLst>
          </p:cNvPr>
          <p:cNvSpPr>
            <a:spLocks noGrp="1"/>
          </p:cNvSpPr>
          <p:nvPr/>
        </p:nvSpPr>
        <p:spPr>
          <a:xfrm>
            <a:off x="8929370" y="5276850"/>
            <a:ext cx="28575" cy="647700"/>
          </a:xfrm>
          <a:prstGeom prst="rect">
            <a:avLst/>
          </a:prstGeom>
          <a:solidFill>
            <a:srgbClr val="22A6C7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61" name="矩形 60">
            <a:extLst>
              <a:ext uri="{FF2B5EF4-FFF2-40B4-BE49-F238E27FC236}">
                <a16:creationId xmlns:a16="http://schemas.microsoft.com/office/drawing/2014/main" id="{747E82DC-B452-45AC-A3E9-ACD6CEC0E78E}"/>
              </a:ext>
            </a:extLst>
          </p:cNvPr>
          <p:cNvSpPr>
            <a:spLocks noGrp="1"/>
          </p:cNvSpPr>
          <p:nvPr/>
        </p:nvSpPr>
        <p:spPr>
          <a:xfrm>
            <a:off x="9027160" y="5734050"/>
            <a:ext cx="28575" cy="190500"/>
          </a:xfrm>
          <a:prstGeom prst="rect">
            <a:avLst/>
          </a:prstGeom>
          <a:solidFill>
            <a:srgbClr val="22A6C7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62" name="矩形 61">
            <a:extLst>
              <a:ext uri="{FF2B5EF4-FFF2-40B4-BE49-F238E27FC236}">
                <a16:creationId xmlns:a16="http://schemas.microsoft.com/office/drawing/2014/main" id="{066AC299-1EF0-4897-9FE7-47A1DBA1A7B2}"/>
              </a:ext>
            </a:extLst>
          </p:cNvPr>
          <p:cNvSpPr>
            <a:spLocks noGrp="1"/>
          </p:cNvSpPr>
          <p:nvPr/>
        </p:nvSpPr>
        <p:spPr>
          <a:xfrm>
            <a:off x="9810750" y="4114800"/>
            <a:ext cx="1238250" cy="8001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350" b="1">
                <a:solidFill>
                  <a:srgbClr val="17313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17313B"/>
                </a:solidFill>
                <a:latin typeface="Microsoft YaHei"/>
                <a:ea typeface="Microsoft YaHei"/>
                <a:cs typeface="Microsoft YaHei"/>
              </a:rPr>
              <a:t>核心观念：小程序不计算心率，只负责连接、解析、显示。</a:t>
            </a:r>
          </a:p>
        </p:txBody>
      </p:sp>
    </p:spTree>
    <p:extLst>
      <p:ext uri="{BB962C8B-B14F-4D97-AF65-F5344CB8AC3E}">
        <p14:creationId xmlns:p14="http://schemas.microsoft.com/office/powerpoint/2010/main" val="119209715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矩形 23">
            <a:extLst>
              <a:ext uri="{FF2B5EF4-FFF2-40B4-BE49-F238E27FC236}">
                <a16:creationId xmlns:a16="http://schemas.microsoft.com/office/drawing/2014/main" id="{E39BCB6C-7B67-4FEA-BE6A-7DC3D69CA28F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6F3EA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" name="矩形 1">
            <a:extLst>
              <a:ext uri="{FF2B5EF4-FFF2-40B4-BE49-F238E27FC236}">
                <a16:creationId xmlns:a16="http://schemas.microsoft.com/office/drawing/2014/main" id="{D838BEFB-88EA-47F7-9847-235BAE5E4C7E}"/>
              </a:ext>
            </a:extLst>
          </p:cNvPr>
          <p:cNvSpPr>
            <a:spLocks noGrp="1"/>
          </p:cNvSpPr>
          <p:nvPr/>
        </p:nvSpPr>
        <p:spPr>
          <a:xfrm>
            <a:off x="419100" y="323850"/>
            <a:ext cx="95250" cy="190500"/>
          </a:xfrm>
          <a:prstGeom prst="rect">
            <a:avLst/>
          </a:prstGeom>
          <a:solidFill>
            <a:srgbClr val="22A6C7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AA02C2CB-DF25-435C-83F9-736FE0FD9C58}"/>
              </a:ext>
            </a:extLst>
          </p:cNvPr>
          <p:cNvSpPr>
            <a:spLocks noGrp="1"/>
          </p:cNvSpPr>
          <p:nvPr/>
        </p:nvSpPr>
        <p:spPr>
          <a:xfrm>
            <a:off x="590550" y="266700"/>
            <a:ext cx="4095750" cy="3238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ctr"/>
          <a:lstStyle/>
          <a:p>
            <a:pPr algn="l">
              <a:defRPr sz="1125" b="1">
                <a:solidFill>
                  <a:srgbClr val="687A8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1">
                <a:solidFill>
                  <a:srgbClr val="687A84"/>
                </a:solidFill>
                <a:latin typeface="Microsoft YaHei"/>
                <a:ea typeface="Microsoft YaHei"/>
                <a:cs typeface="Microsoft YaHei"/>
              </a:rPr>
              <a:t>CLASSROOM SCALE</a:t>
            </a:r>
          </a:p>
        </p:txBody>
      </p:sp>
      <p:sp>
        <p:nvSpPr>
          <p:cNvPr id="4" name="矩形 3">
            <a:extLst>
              <a:ext uri="{FF2B5EF4-FFF2-40B4-BE49-F238E27FC236}">
                <a16:creationId xmlns:a16="http://schemas.microsoft.com/office/drawing/2014/main" id="{1E031836-2CD2-417C-B353-67340F018AC5}"/>
              </a:ext>
            </a:extLst>
          </p:cNvPr>
          <p:cNvSpPr>
            <a:spLocks noGrp="1"/>
          </p:cNvSpPr>
          <p:nvPr/>
        </p:nvSpPr>
        <p:spPr>
          <a:xfrm>
            <a:off x="419100" y="685800"/>
            <a:ext cx="10763250" cy="7810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2400" b="1">
                <a:solidFill>
                  <a:srgbClr val="17313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400" b="1">
                <a:solidFill>
                  <a:srgbClr val="17313B"/>
                </a:solidFill>
                <a:latin typeface="Microsoft YaHei"/>
                <a:ea typeface="Microsoft YaHei"/>
                <a:cs typeface="Microsoft YaHei"/>
              </a:rPr>
              <a:t>14 个小组同时运行时，要分清“账号归属”和“蓝牙隔离”。</a:t>
            </a:r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3B01FE5A-67D3-4149-AFA1-E70AB2741AC5}"/>
              </a:ext>
            </a:extLst>
          </p:cNvPr>
          <p:cNvSpPr>
            <a:spLocks noGrp="1"/>
          </p:cNvSpPr>
          <p:nvPr/>
        </p:nvSpPr>
        <p:spPr>
          <a:xfrm>
            <a:off x="419100" y="6438900"/>
            <a:ext cx="8572500" cy="9525"/>
          </a:xfrm>
          <a:prstGeom prst="rect">
            <a:avLst/>
          </a:prstGeom>
          <a:solidFill>
            <a:srgbClr val="D6DEE1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6" name="矩形 5">
            <a:extLst>
              <a:ext uri="{FF2B5EF4-FFF2-40B4-BE49-F238E27FC236}">
                <a16:creationId xmlns:a16="http://schemas.microsoft.com/office/drawing/2014/main" id="{C5CEFC4E-3875-4D35-8AEF-27436B1276E7}"/>
              </a:ext>
            </a:extLst>
          </p:cNvPr>
          <p:cNvSpPr>
            <a:spLocks noGrp="1"/>
          </p:cNvSpPr>
          <p:nvPr/>
        </p:nvSpPr>
        <p:spPr>
          <a:xfrm>
            <a:off x="419100" y="6515100"/>
            <a:ext cx="8572500" cy="1905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675" b="0">
                <a:solidFill>
                  <a:srgbClr val="7C8A9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675" b="0">
                <a:solidFill>
                  <a:srgbClr val="7C8A90"/>
                </a:solidFill>
                <a:latin typeface="Microsoft YaHei"/>
                <a:ea typeface="Microsoft YaHei"/>
                <a:cs typeface="Microsoft YaHei"/>
              </a:rPr>
              <a:t>Source: Arduino / WeChat Mini Program source code; WeChat Mini Program BLE API docs</a:t>
            </a:r>
          </a:p>
        </p:txBody>
      </p:sp>
      <p:sp>
        <p:nvSpPr>
          <p:cNvPr id="7" name="矩形 6">
            <a:extLst>
              <a:ext uri="{FF2B5EF4-FFF2-40B4-BE49-F238E27FC236}">
                <a16:creationId xmlns:a16="http://schemas.microsoft.com/office/drawing/2014/main" id="{F83CB481-4BCA-4B11-88C4-5A67215C3D81}"/>
              </a:ext>
            </a:extLst>
          </p:cNvPr>
          <p:cNvSpPr>
            <a:spLocks noGrp="1"/>
          </p:cNvSpPr>
          <p:nvPr/>
        </p:nvSpPr>
        <p:spPr>
          <a:xfrm>
            <a:off x="11334750" y="6496050"/>
            <a:ext cx="419100" cy="2095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r">
              <a:defRPr sz="825" b="0">
                <a:solidFill>
                  <a:srgbClr val="7C8A9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825" b="0">
                <a:solidFill>
                  <a:srgbClr val="7C8A90"/>
                </a:solidFill>
                <a:latin typeface="Microsoft YaHei"/>
                <a:ea typeface="Microsoft YaHei"/>
                <a:cs typeface="Microsoft YaHei"/>
              </a:rPr>
              <a:t>16</a:t>
            </a:r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795B6830-2FFA-458F-A00B-0BFC5A054719}"/>
              </a:ext>
            </a:extLst>
          </p:cNvPr>
          <p:cNvSpPr>
            <a:spLocks noGrp="1"/>
          </p:cNvSpPr>
          <p:nvPr/>
        </p:nvSpPr>
        <p:spPr>
          <a:xfrm>
            <a:off x="1047750" y="2266950"/>
            <a:ext cx="2667000" cy="1104900"/>
          </a:xfrm>
          <a:prstGeom prst="rect">
            <a:avLst/>
          </a:prstGeom>
          <a:solidFill>
            <a:srgbClr val="FFFFFF"/>
          </a:solidFill>
          <a:ln w="9525">
            <a:solidFill>
              <a:srgbClr val="DCE5E7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FA789BA8-9990-46FF-9592-5A1B6C141396}"/>
              </a:ext>
            </a:extLst>
          </p:cNvPr>
          <p:cNvSpPr>
            <a:spLocks noGrp="1"/>
          </p:cNvSpPr>
          <p:nvPr/>
        </p:nvSpPr>
        <p:spPr>
          <a:xfrm>
            <a:off x="1047750" y="2266950"/>
            <a:ext cx="57150" cy="1104900"/>
          </a:xfrm>
          <a:prstGeom prst="rect">
            <a:avLst/>
          </a:prstGeom>
          <a:solidFill>
            <a:srgbClr val="18C7A3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FC51EF87-2C93-4741-8FC0-64E4C734844A}"/>
              </a:ext>
            </a:extLst>
          </p:cNvPr>
          <p:cNvSpPr>
            <a:spLocks noGrp="1"/>
          </p:cNvSpPr>
          <p:nvPr/>
        </p:nvSpPr>
        <p:spPr>
          <a:xfrm>
            <a:off x="1219200" y="2400300"/>
            <a:ext cx="2324100" cy="2857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350" b="1">
                <a:solidFill>
                  <a:srgbClr val="17313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17313B"/>
                </a:solidFill>
                <a:latin typeface="Microsoft YaHei"/>
                <a:ea typeface="Microsoft YaHei"/>
                <a:cs typeface="Microsoft YaHei"/>
              </a:rPr>
              <a:t>AppID</a:t>
            </a:r>
          </a:p>
        </p:txBody>
      </p:sp>
      <p:sp>
        <p:nvSpPr>
          <p:cNvPr id="11" name="矩形 10">
            <a:extLst>
              <a:ext uri="{FF2B5EF4-FFF2-40B4-BE49-F238E27FC236}">
                <a16:creationId xmlns:a16="http://schemas.microsoft.com/office/drawing/2014/main" id="{A915A474-1EF8-4EC7-9CFC-BA87CCA7BD24}"/>
              </a:ext>
            </a:extLst>
          </p:cNvPr>
          <p:cNvSpPr>
            <a:spLocks noGrp="1"/>
          </p:cNvSpPr>
          <p:nvPr/>
        </p:nvSpPr>
        <p:spPr>
          <a:xfrm>
            <a:off x="1219200" y="2724150"/>
            <a:ext cx="2324100" cy="5524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088" b="0">
                <a:solidFill>
                  <a:srgbClr val="687A8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88" b="0">
                <a:solidFill>
                  <a:srgbClr val="687A84"/>
                </a:solidFill>
                <a:latin typeface="Microsoft YaHei"/>
                <a:ea typeface="Microsoft YaHei"/>
                <a:cs typeface="Microsoft YaHei"/>
              </a:rPr>
              <a:t>决定小程序属于谁。</a:t>
            </a:r>
          </a:p>
          <a:p>
            <a:pPr algn="l">
              <a:defRPr sz="1088" b="0">
                <a:solidFill>
                  <a:srgbClr val="687A8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88" b="0">
                <a:solidFill>
                  <a:srgbClr val="687A84"/>
                </a:solidFill>
                <a:latin typeface="Microsoft YaHei"/>
                <a:ea typeface="Microsoft YaHei"/>
                <a:cs typeface="Microsoft YaHei"/>
              </a:rPr>
              <a:t>每组注册自己的小程序或使用测试号。</a:t>
            </a:r>
          </a:p>
        </p:txBody>
      </p:sp>
      <p:sp>
        <p:nvSpPr>
          <p:cNvPr id="12" name="矩形 11">
            <a:extLst>
              <a:ext uri="{FF2B5EF4-FFF2-40B4-BE49-F238E27FC236}">
                <a16:creationId xmlns:a16="http://schemas.microsoft.com/office/drawing/2014/main" id="{63836822-5083-43C0-9364-00B31B5C3127}"/>
              </a:ext>
            </a:extLst>
          </p:cNvPr>
          <p:cNvSpPr>
            <a:spLocks noGrp="1"/>
          </p:cNvSpPr>
          <p:nvPr/>
        </p:nvSpPr>
        <p:spPr>
          <a:xfrm>
            <a:off x="4762500" y="2266950"/>
            <a:ext cx="2667000" cy="1104900"/>
          </a:xfrm>
          <a:prstGeom prst="rect">
            <a:avLst/>
          </a:prstGeom>
          <a:solidFill>
            <a:srgbClr val="FFFFFF"/>
          </a:solidFill>
          <a:ln w="9525">
            <a:solidFill>
              <a:srgbClr val="DCE5E7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3" name="矩形 12">
            <a:extLst>
              <a:ext uri="{FF2B5EF4-FFF2-40B4-BE49-F238E27FC236}">
                <a16:creationId xmlns:a16="http://schemas.microsoft.com/office/drawing/2014/main" id="{A5D56ED8-F764-4258-BBEE-D6559DF38F8E}"/>
              </a:ext>
            </a:extLst>
          </p:cNvPr>
          <p:cNvSpPr>
            <a:spLocks noGrp="1"/>
          </p:cNvSpPr>
          <p:nvPr/>
        </p:nvSpPr>
        <p:spPr>
          <a:xfrm>
            <a:off x="4762500" y="2266950"/>
            <a:ext cx="57150" cy="1104900"/>
          </a:xfrm>
          <a:prstGeom prst="rect">
            <a:avLst/>
          </a:prstGeom>
          <a:solidFill>
            <a:srgbClr val="F2A23A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4" name="矩形 13">
            <a:extLst>
              <a:ext uri="{FF2B5EF4-FFF2-40B4-BE49-F238E27FC236}">
                <a16:creationId xmlns:a16="http://schemas.microsoft.com/office/drawing/2014/main" id="{F866E6DF-3D04-463B-A67B-8C9B04753D7F}"/>
              </a:ext>
            </a:extLst>
          </p:cNvPr>
          <p:cNvSpPr>
            <a:spLocks noGrp="1"/>
          </p:cNvSpPr>
          <p:nvPr/>
        </p:nvSpPr>
        <p:spPr>
          <a:xfrm>
            <a:off x="4933950" y="2400300"/>
            <a:ext cx="2324100" cy="2857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350" b="1">
                <a:solidFill>
                  <a:srgbClr val="17313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17313B"/>
                </a:solidFill>
                <a:latin typeface="Microsoft YaHei"/>
                <a:ea typeface="Microsoft YaHei"/>
                <a:cs typeface="Microsoft YaHei"/>
              </a:rPr>
              <a:t>BLE name</a:t>
            </a:r>
          </a:p>
        </p:txBody>
      </p:sp>
      <p:sp>
        <p:nvSpPr>
          <p:cNvPr id="15" name="矩形 14">
            <a:extLst>
              <a:ext uri="{FF2B5EF4-FFF2-40B4-BE49-F238E27FC236}">
                <a16:creationId xmlns:a16="http://schemas.microsoft.com/office/drawing/2014/main" id="{FC56CA02-2A6C-42B0-B7C2-AC498F7CB52F}"/>
              </a:ext>
            </a:extLst>
          </p:cNvPr>
          <p:cNvSpPr>
            <a:spLocks noGrp="1"/>
          </p:cNvSpPr>
          <p:nvPr/>
        </p:nvSpPr>
        <p:spPr>
          <a:xfrm>
            <a:off x="4933950" y="2724150"/>
            <a:ext cx="2324100" cy="5524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088" b="0">
                <a:solidFill>
                  <a:srgbClr val="687A8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88" b="0">
                <a:solidFill>
                  <a:srgbClr val="687A84"/>
                </a:solidFill>
                <a:latin typeface="Microsoft YaHei"/>
                <a:ea typeface="Microsoft YaHei"/>
                <a:cs typeface="Microsoft YaHei"/>
              </a:rPr>
              <a:t>让学生肉眼识别周围哪台设备。</a:t>
            </a:r>
          </a:p>
          <a:p>
            <a:pPr algn="l">
              <a:defRPr sz="1088" b="0">
                <a:solidFill>
                  <a:srgbClr val="687A8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88" b="0">
                <a:solidFill>
                  <a:srgbClr val="687A84"/>
                </a:solidFill>
                <a:latin typeface="Microsoft YaHei"/>
                <a:ea typeface="Microsoft YaHei"/>
                <a:cs typeface="Microsoft YaHei"/>
              </a:rPr>
              <a:t>例如 ESP32-PulseOX-G03。</a:t>
            </a:r>
          </a:p>
        </p:txBody>
      </p:sp>
      <p:sp>
        <p:nvSpPr>
          <p:cNvPr id="16" name="矩形 15">
            <a:extLst>
              <a:ext uri="{FF2B5EF4-FFF2-40B4-BE49-F238E27FC236}">
                <a16:creationId xmlns:a16="http://schemas.microsoft.com/office/drawing/2014/main" id="{BBDAE2C5-6774-4AC3-9B9F-6A0C962623E1}"/>
              </a:ext>
            </a:extLst>
          </p:cNvPr>
          <p:cNvSpPr>
            <a:spLocks noGrp="1"/>
          </p:cNvSpPr>
          <p:nvPr/>
        </p:nvSpPr>
        <p:spPr>
          <a:xfrm>
            <a:off x="8477250" y="2266950"/>
            <a:ext cx="2667000" cy="1104900"/>
          </a:xfrm>
          <a:prstGeom prst="rect">
            <a:avLst/>
          </a:prstGeom>
          <a:solidFill>
            <a:srgbClr val="FFFFFF"/>
          </a:solidFill>
          <a:ln w="9525">
            <a:solidFill>
              <a:srgbClr val="DCE5E7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7" name="矩形 16">
            <a:extLst>
              <a:ext uri="{FF2B5EF4-FFF2-40B4-BE49-F238E27FC236}">
                <a16:creationId xmlns:a16="http://schemas.microsoft.com/office/drawing/2014/main" id="{2BEAC4C1-B719-4481-83BF-E684B7E7DEAE}"/>
              </a:ext>
            </a:extLst>
          </p:cNvPr>
          <p:cNvSpPr>
            <a:spLocks noGrp="1"/>
          </p:cNvSpPr>
          <p:nvPr/>
        </p:nvSpPr>
        <p:spPr>
          <a:xfrm>
            <a:off x="8477250" y="2266950"/>
            <a:ext cx="57150" cy="1104900"/>
          </a:xfrm>
          <a:prstGeom prst="rect">
            <a:avLst/>
          </a:prstGeom>
          <a:solidFill>
            <a:srgbClr val="22A6C7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8" name="矩形 17">
            <a:extLst>
              <a:ext uri="{FF2B5EF4-FFF2-40B4-BE49-F238E27FC236}">
                <a16:creationId xmlns:a16="http://schemas.microsoft.com/office/drawing/2014/main" id="{17A2C86B-BA50-4FE4-BC20-7C1580934E83}"/>
              </a:ext>
            </a:extLst>
          </p:cNvPr>
          <p:cNvSpPr>
            <a:spLocks noGrp="1"/>
          </p:cNvSpPr>
          <p:nvPr/>
        </p:nvSpPr>
        <p:spPr>
          <a:xfrm>
            <a:off x="8648700" y="2400300"/>
            <a:ext cx="2324100" cy="2857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350" b="1">
                <a:solidFill>
                  <a:srgbClr val="17313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17313B"/>
                </a:solidFill>
                <a:latin typeface="Microsoft YaHei"/>
                <a:ea typeface="Microsoft YaHei"/>
                <a:cs typeface="Microsoft YaHei"/>
              </a:rPr>
              <a:t>BLE UUIDs</a:t>
            </a:r>
          </a:p>
        </p:txBody>
      </p:sp>
      <p:sp>
        <p:nvSpPr>
          <p:cNvPr id="19" name="矩形 18">
            <a:extLst>
              <a:ext uri="{FF2B5EF4-FFF2-40B4-BE49-F238E27FC236}">
                <a16:creationId xmlns:a16="http://schemas.microsoft.com/office/drawing/2014/main" id="{315BB7CE-28AF-4D1F-87E2-79EBF204EBC6}"/>
              </a:ext>
            </a:extLst>
          </p:cNvPr>
          <p:cNvSpPr>
            <a:spLocks noGrp="1"/>
          </p:cNvSpPr>
          <p:nvPr/>
        </p:nvSpPr>
        <p:spPr>
          <a:xfrm>
            <a:off x="8648700" y="2724150"/>
            <a:ext cx="2324100" cy="5524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088" b="0">
                <a:solidFill>
                  <a:srgbClr val="687A8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88" b="0">
                <a:solidFill>
                  <a:srgbClr val="687A84"/>
                </a:solidFill>
                <a:latin typeface="Microsoft YaHei"/>
                <a:ea typeface="Microsoft YaHei"/>
                <a:cs typeface="Microsoft YaHei"/>
              </a:rPr>
              <a:t>让程序精确连接到本组服务。</a:t>
            </a:r>
          </a:p>
          <a:p>
            <a:pPr algn="l">
              <a:defRPr sz="1088" b="0">
                <a:solidFill>
                  <a:srgbClr val="687A8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88" b="0">
                <a:solidFill>
                  <a:srgbClr val="687A84"/>
                </a:solidFill>
                <a:latin typeface="Microsoft YaHei"/>
                <a:ea typeface="Microsoft YaHei"/>
                <a:cs typeface="Microsoft YaHei"/>
              </a:rPr>
              <a:t>Service / Wave / Metrics 都要唯一。</a:t>
            </a:r>
          </a:p>
        </p:txBody>
      </p:sp>
      <p:sp>
        <p:nvSpPr>
          <p:cNvPr id="20" name="矩形 19">
            <a:extLst>
              <a:ext uri="{FF2B5EF4-FFF2-40B4-BE49-F238E27FC236}">
                <a16:creationId xmlns:a16="http://schemas.microsoft.com/office/drawing/2014/main" id="{67A47D3B-B180-4B45-B17A-FC4C2F34BB48}"/>
              </a:ext>
            </a:extLst>
          </p:cNvPr>
          <p:cNvSpPr>
            <a:spLocks noGrp="1"/>
          </p:cNvSpPr>
          <p:nvPr/>
        </p:nvSpPr>
        <p:spPr>
          <a:xfrm>
            <a:off x="1390650" y="4248150"/>
            <a:ext cx="9429750" cy="781050"/>
          </a:xfrm>
          <a:prstGeom prst="rect">
            <a:avLst/>
          </a:prstGeom>
          <a:solidFill>
            <a:srgbClr val="FFFFFF"/>
          </a:solidFill>
          <a:ln w="9525">
            <a:solidFill>
              <a:srgbClr val="DCE5E7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1" name="矩形 20">
            <a:extLst>
              <a:ext uri="{FF2B5EF4-FFF2-40B4-BE49-F238E27FC236}">
                <a16:creationId xmlns:a16="http://schemas.microsoft.com/office/drawing/2014/main" id="{0314CA47-C926-4587-B67A-3C1AFD3378A1}"/>
              </a:ext>
            </a:extLst>
          </p:cNvPr>
          <p:cNvSpPr>
            <a:spLocks noGrp="1"/>
          </p:cNvSpPr>
          <p:nvPr/>
        </p:nvSpPr>
        <p:spPr>
          <a:xfrm>
            <a:off x="1676400" y="4476750"/>
            <a:ext cx="8858250" cy="3048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125" b="0">
                <a:solidFill>
                  <a:srgbClr val="687A84"/>
                </a:solidFill>
                <a:latin typeface="Consolas"/>
                <a:ea typeface="Consolas"/>
                <a:cs typeface="Consolas"/>
              </a:defRPr>
            </a:pPr>
            <a:r>
              <a:rPr sz="1125" b="0">
                <a:solidFill>
                  <a:srgbClr val="687A84"/>
                </a:solidFill>
                <a:latin typeface="Consolas"/>
                <a:ea typeface="Consolas"/>
                <a:cs typeface="Consolas"/>
              </a:rPr>
              <a:t>G03 示例： DEVICE_NAME = ESP32-PulseOX-G03    SERVICE = 7D6E0301-...    WAVE = 7D6E0302-...    METRICS = 7D6E0303-...</a:t>
            </a:r>
          </a:p>
        </p:txBody>
      </p:sp>
      <p:sp>
        <p:nvSpPr>
          <p:cNvPr id="22" name="矩形 21">
            <a:extLst>
              <a:ext uri="{FF2B5EF4-FFF2-40B4-BE49-F238E27FC236}">
                <a16:creationId xmlns:a16="http://schemas.microsoft.com/office/drawing/2014/main" id="{2E2F9F4D-1EB1-4D91-BDC5-3D1BE25F8B0E}"/>
              </a:ext>
            </a:extLst>
          </p:cNvPr>
          <p:cNvSpPr>
            <a:spLocks noGrp="1"/>
          </p:cNvSpPr>
          <p:nvPr/>
        </p:nvSpPr>
        <p:spPr>
          <a:xfrm>
            <a:off x="4095750" y="5429250"/>
            <a:ext cx="4000500" cy="323850"/>
          </a:xfrm>
          <a:prstGeom prst="rect">
            <a:avLst/>
          </a:prstGeom>
          <a:solidFill>
            <a:srgbClr val="FFF1EF"/>
          </a:solidFill>
          <a:ln w="13335">
            <a:solidFill>
              <a:srgbClr val="D9514E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3" name="矩形 22">
            <a:extLst>
              <a:ext uri="{FF2B5EF4-FFF2-40B4-BE49-F238E27FC236}">
                <a16:creationId xmlns:a16="http://schemas.microsoft.com/office/drawing/2014/main" id="{7C5C9BE5-84A6-43F9-A091-CA9C497382C5}"/>
              </a:ext>
            </a:extLst>
          </p:cNvPr>
          <p:cNvSpPr>
            <a:spLocks noGrp="1"/>
          </p:cNvSpPr>
          <p:nvPr/>
        </p:nvSpPr>
        <p:spPr>
          <a:xfrm>
            <a:off x="4191000" y="5476875"/>
            <a:ext cx="381000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ctr"/>
          <a:lstStyle/>
          <a:p>
            <a:pPr algn="ctr">
              <a:defRPr sz="1013" b="1">
                <a:solidFill>
                  <a:srgbClr val="D9514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13" b="1">
                <a:solidFill>
                  <a:srgbClr val="D9514E"/>
                </a:solidFill>
                <a:latin typeface="Microsoft YaHei"/>
                <a:ea typeface="Microsoft YaHei"/>
                <a:cs typeface="Microsoft YaHei"/>
              </a:rPr>
              <a:t>Arduino 端和小程序端必须使用同一组值</a:t>
            </a:r>
          </a:p>
        </p:txBody>
      </p:sp>
    </p:spTree>
    <p:extLst>
      <p:ext uri="{BB962C8B-B14F-4D97-AF65-F5344CB8AC3E}">
        <p14:creationId xmlns:p14="http://schemas.microsoft.com/office/powerpoint/2010/main" val="1798558811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矩形 32">
            <a:extLst>
              <a:ext uri="{FF2B5EF4-FFF2-40B4-BE49-F238E27FC236}">
                <a16:creationId xmlns:a16="http://schemas.microsoft.com/office/drawing/2014/main" id="{9AD6207D-DAA0-4B19-B0ED-0EBA344FA741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6F3EA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" name="矩形 1">
            <a:extLst>
              <a:ext uri="{FF2B5EF4-FFF2-40B4-BE49-F238E27FC236}">
                <a16:creationId xmlns:a16="http://schemas.microsoft.com/office/drawing/2014/main" id="{D0CEE8B2-122D-4AFC-92A0-29EECA982B9E}"/>
              </a:ext>
            </a:extLst>
          </p:cNvPr>
          <p:cNvSpPr>
            <a:spLocks noGrp="1"/>
          </p:cNvSpPr>
          <p:nvPr/>
        </p:nvSpPr>
        <p:spPr>
          <a:xfrm>
            <a:off x="419100" y="323850"/>
            <a:ext cx="95250" cy="190500"/>
          </a:xfrm>
          <a:prstGeom prst="rect">
            <a:avLst/>
          </a:prstGeom>
          <a:solidFill>
            <a:srgbClr val="22A6C7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E6E5CDF5-0992-4C1B-8103-2CF4FA7316D2}"/>
              </a:ext>
            </a:extLst>
          </p:cNvPr>
          <p:cNvSpPr>
            <a:spLocks noGrp="1"/>
          </p:cNvSpPr>
          <p:nvPr/>
        </p:nvSpPr>
        <p:spPr>
          <a:xfrm>
            <a:off x="590550" y="266700"/>
            <a:ext cx="4095750" cy="3238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ctr"/>
          <a:lstStyle/>
          <a:p>
            <a:pPr algn="l">
              <a:defRPr sz="1125" b="1">
                <a:solidFill>
                  <a:srgbClr val="687A8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1">
                <a:solidFill>
                  <a:srgbClr val="687A84"/>
                </a:solidFill>
                <a:latin typeface="Microsoft YaHei"/>
                <a:ea typeface="Microsoft YaHei"/>
                <a:cs typeface="Microsoft YaHei"/>
              </a:rPr>
              <a:t>DEBUGGING MAP</a:t>
            </a:r>
          </a:p>
        </p:txBody>
      </p:sp>
      <p:sp>
        <p:nvSpPr>
          <p:cNvPr id="4" name="矩形 3">
            <a:extLst>
              <a:ext uri="{FF2B5EF4-FFF2-40B4-BE49-F238E27FC236}">
                <a16:creationId xmlns:a16="http://schemas.microsoft.com/office/drawing/2014/main" id="{F6A7E5C5-6B15-46D3-9021-13797A3B255D}"/>
              </a:ext>
            </a:extLst>
          </p:cNvPr>
          <p:cNvSpPr>
            <a:spLocks noGrp="1"/>
          </p:cNvSpPr>
          <p:nvPr/>
        </p:nvSpPr>
        <p:spPr>
          <a:xfrm>
            <a:off x="419100" y="685800"/>
            <a:ext cx="10763250" cy="7810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2400" b="1">
                <a:solidFill>
                  <a:srgbClr val="17313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400" b="1">
                <a:solidFill>
                  <a:srgbClr val="17313B"/>
                </a:solidFill>
                <a:latin typeface="Microsoft YaHei"/>
                <a:ea typeface="Microsoft YaHei"/>
                <a:cs typeface="Microsoft YaHei"/>
              </a:rPr>
              <a:t>调试时不要猜，按通信链路逐层定位。</a:t>
            </a:r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96AA9070-BF92-4B4D-A172-8127318F320C}"/>
              </a:ext>
            </a:extLst>
          </p:cNvPr>
          <p:cNvSpPr>
            <a:spLocks noGrp="1"/>
          </p:cNvSpPr>
          <p:nvPr/>
        </p:nvSpPr>
        <p:spPr>
          <a:xfrm>
            <a:off x="419100" y="6438900"/>
            <a:ext cx="8572500" cy="9525"/>
          </a:xfrm>
          <a:prstGeom prst="rect">
            <a:avLst/>
          </a:prstGeom>
          <a:solidFill>
            <a:srgbClr val="D6DEE1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6" name="矩形 5">
            <a:extLst>
              <a:ext uri="{FF2B5EF4-FFF2-40B4-BE49-F238E27FC236}">
                <a16:creationId xmlns:a16="http://schemas.microsoft.com/office/drawing/2014/main" id="{138B0910-53B0-4199-92B3-4D9499BBA841}"/>
              </a:ext>
            </a:extLst>
          </p:cNvPr>
          <p:cNvSpPr>
            <a:spLocks noGrp="1"/>
          </p:cNvSpPr>
          <p:nvPr/>
        </p:nvSpPr>
        <p:spPr>
          <a:xfrm>
            <a:off x="419100" y="6515100"/>
            <a:ext cx="8572500" cy="1905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675" b="0">
                <a:solidFill>
                  <a:srgbClr val="7C8A9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675" b="0">
                <a:solidFill>
                  <a:srgbClr val="7C8A90"/>
                </a:solidFill>
                <a:latin typeface="Microsoft YaHei"/>
                <a:ea typeface="Microsoft YaHei"/>
                <a:cs typeface="Microsoft YaHei"/>
              </a:rPr>
              <a:t>Source: Arduino / WeChat Mini Program source code; WeChat Mini Program BLE API docs</a:t>
            </a:r>
          </a:p>
        </p:txBody>
      </p:sp>
      <p:sp>
        <p:nvSpPr>
          <p:cNvPr id="7" name="矩形 6">
            <a:extLst>
              <a:ext uri="{FF2B5EF4-FFF2-40B4-BE49-F238E27FC236}">
                <a16:creationId xmlns:a16="http://schemas.microsoft.com/office/drawing/2014/main" id="{08D70ED2-8523-47F4-B036-E65A73F42CD5}"/>
              </a:ext>
            </a:extLst>
          </p:cNvPr>
          <p:cNvSpPr>
            <a:spLocks noGrp="1"/>
          </p:cNvSpPr>
          <p:nvPr/>
        </p:nvSpPr>
        <p:spPr>
          <a:xfrm>
            <a:off x="11334750" y="6496050"/>
            <a:ext cx="419100" cy="2095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r">
              <a:defRPr sz="825" b="0">
                <a:solidFill>
                  <a:srgbClr val="7C8A9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825" b="0">
                <a:solidFill>
                  <a:srgbClr val="7C8A90"/>
                </a:solidFill>
                <a:latin typeface="Microsoft YaHei"/>
                <a:ea typeface="Microsoft YaHei"/>
                <a:cs typeface="Microsoft YaHei"/>
              </a:rPr>
              <a:t>17</a:t>
            </a:r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3479AA31-CBF3-488B-9A12-1CC3038D8C81}"/>
              </a:ext>
            </a:extLst>
          </p:cNvPr>
          <p:cNvSpPr>
            <a:spLocks noGrp="1"/>
          </p:cNvSpPr>
          <p:nvPr/>
        </p:nvSpPr>
        <p:spPr>
          <a:xfrm>
            <a:off x="952500" y="2095500"/>
            <a:ext cx="4762500" cy="723900"/>
          </a:xfrm>
          <a:prstGeom prst="rect">
            <a:avLst/>
          </a:prstGeom>
          <a:solidFill>
            <a:srgbClr val="FFFFFF"/>
          </a:solidFill>
          <a:ln w="9525">
            <a:solidFill>
              <a:srgbClr val="DCE5E7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5596993D-8E70-4070-B662-4A01A1B6AFF6}"/>
              </a:ext>
            </a:extLst>
          </p:cNvPr>
          <p:cNvSpPr>
            <a:spLocks noGrp="1"/>
          </p:cNvSpPr>
          <p:nvPr/>
        </p:nvSpPr>
        <p:spPr>
          <a:xfrm>
            <a:off x="952500" y="2095500"/>
            <a:ext cx="57150" cy="723900"/>
          </a:xfrm>
          <a:prstGeom prst="rect">
            <a:avLst/>
          </a:prstGeom>
          <a:solidFill>
            <a:srgbClr val="F2A23A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B0613701-6087-436A-BD95-6F03A6B017ED}"/>
              </a:ext>
            </a:extLst>
          </p:cNvPr>
          <p:cNvSpPr>
            <a:spLocks noGrp="1"/>
          </p:cNvSpPr>
          <p:nvPr/>
        </p:nvSpPr>
        <p:spPr>
          <a:xfrm>
            <a:off x="1123950" y="2228850"/>
            <a:ext cx="4419600" cy="2857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125" b="1">
                <a:solidFill>
                  <a:srgbClr val="17313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1">
                <a:solidFill>
                  <a:srgbClr val="17313B"/>
                </a:solidFill>
                <a:latin typeface="Microsoft YaHei"/>
                <a:ea typeface="Microsoft YaHei"/>
                <a:cs typeface="Microsoft YaHei"/>
              </a:rPr>
              <a:t>1. ESP32 广播</a:t>
            </a:r>
          </a:p>
        </p:txBody>
      </p:sp>
      <p:sp>
        <p:nvSpPr>
          <p:cNvPr id="11" name="矩形 10">
            <a:extLst>
              <a:ext uri="{FF2B5EF4-FFF2-40B4-BE49-F238E27FC236}">
                <a16:creationId xmlns:a16="http://schemas.microsoft.com/office/drawing/2014/main" id="{9ADD6E83-53DC-44EE-B816-CA172F5D9A38}"/>
              </a:ext>
            </a:extLst>
          </p:cNvPr>
          <p:cNvSpPr>
            <a:spLocks noGrp="1"/>
          </p:cNvSpPr>
          <p:nvPr/>
        </p:nvSpPr>
        <p:spPr>
          <a:xfrm>
            <a:off x="1123950" y="2552700"/>
            <a:ext cx="4419600" cy="1714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938" b="0">
                <a:solidFill>
                  <a:srgbClr val="687A8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38" b="0">
                <a:solidFill>
                  <a:srgbClr val="687A84"/>
                </a:solidFill>
                <a:latin typeface="Microsoft YaHei"/>
                <a:ea typeface="Microsoft YaHei"/>
                <a:cs typeface="Microsoft YaHei"/>
              </a:rPr>
              <a:t>串口监视器看 advertising；nRF Connect 能否看到设备名</a:t>
            </a:r>
          </a:p>
        </p:txBody>
      </p:sp>
      <p:sp>
        <p:nvSpPr>
          <p:cNvPr id="12" name="矩形 11">
            <a:extLst>
              <a:ext uri="{FF2B5EF4-FFF2-40B4-BE49-F238E27FC236}">
                <a16:creationId xmlns:a16="http://schemas.microsoft.com/office/drawing/2014/main" id="{68A7166B-735C-4BB3-8CB0-5039D811A0B3}"/>
              </a:ext>
            </a:extLst>
          </p:cNvPr>
          <p:cNvSpPr>
            <a:spLocks noGrp="1"/>
          </p:cNvSpPr>
          <p:nvPr/>
        </p:nvSpPr>
        <p:spPr>
          <a:xfrm>
            <a:off x="6477000" y="2095500"/>
            <a:ext cx="4762500" cy="723900"/>
          </a:xfrm>
          <a:prstGeom prst="rect">
            <a:avLst/>
          </a:prstGeom>
          <a:solidFill>
            <a:srgbClr val="FFFFFF"/>
          </a:solidFill>
          <a:ln w="9525">
            <a:solidFill>
              <a:srgbClr val="DCE5E7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3" name="矩形 12">
            <a:extLst>
              <a:ext uri="{FF2B5EF4-FFF2-40B4-BE49-F238E27FC236}">
                <a16:creationId xmlns:a16="http://schemas.microsoft.com/office/drawing/2014/main" id="{171684B6-8E70-47BC-810F-7945D2208655}"/>
              </a:ext>
            </a:extLst>
          </p:cNvPr>
          <p:cNvSpPr>
            <a:spLocks noGrp="1"/>
          </p:cNvSpPr>
          <p:nvPr/>
        </p:nvSpPr>
        <p:spPr>
          <a:xfrm>
            <a:off x="6477000" y="2095500"/>
            <a:ext cx="57150" cy="723900"/>
          </a:xfrm>
          <a:prstGeom prst="rect">
            <a:avLst/>
          </a:prstGeom>
          <a:solidFill>
            <a:srgbClr val="18C7A3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4" name="矩形 13">
            <a:extLst>
              <a:ext uri="{FF2B5EF4-FFF2-40B4-BE49-F238E27FC236}">
                <a16:creationId xmlns:a16="http://schemas.microsoft.com/office/drawing/2014/main" id="{8AAB52DC-526A-4C7E-977D-E15A95D8C152}"/>
              </a:ext>
            </a:extLst>
          </p:cNvPr>
          <p:cNvSpPr>
            <a:spLocks noGrp="1"/>
          </p:cNvSpPr>
          <p:nvPr/>
        </p:nvSpPr>
        <p:spPr>
          <a:xfrm>
            <a:off x="6648450" y="2228850"/>
            <a:ext cx="4419600" cy="2857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125" b="1">
                <a:solidFill>
                  <a:srgbClr val="17313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1">
                <a:solidFill>
                  <a:srgbClr val="17313B"/>
                </a:solidFill>
                <a:latin typeface="Microsoft YaHei"/>
                <a:ea typeface="Microsoft YaHei"/>
                <a:cs typeface="Microsoft YaHei"/>
              </a:rPr>
              <a:t>2. 手机权限</a:t>
            </a:r>
          </a:p>
        </p:txBody>
      </p:sp>
      <p:sp>
        <p:nvSpPr>
          <p:cNvPr id="15" name="矩形 14">
            <a:extLst>
              <a:ext uri="{FF2B5EF4-FFF2-40B4-BE49-F238E27FC236}">
                <a16:creationId xmlns:a16="http://schemas.microsoft.com/office/drawing/2014/main" id="{FDDFCE41-E4C9-4584-BDEE-3BA1C94057EB}"/>
              </a:ext>
            </a:extLst>
          </p:cNvPr>
          <p:cNvSpPr>
            <a:spLocks noGrp="1"/>
          </p:cNvSpPr>
          <p:nvPr/>
        </p:nvSpPr>
        <p:spPr>
          <a:xfrm>
            <a:off x="6648450" y="2552700"/>
            <a:ext cx="4419600" cy="1714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938" b="0">
                <a:solidFill>
                  <a:srgbClr val="687A8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38" b="0">
                <a:solidFill>
                  <a:srgbClr val="687A84"/>
                </a:solidFill>
                <a:latin typeface="Microsoft YaHei"/>
                <a:ea typeface="Microsoft YaHei"/>
                <a:cs typeface="Microsoft YaHei"/>
              </a:rPr>
              <a:t>Android 检查定位/附近设备权限；iOS 检查蓝牙开关</a:t>
            </a:r>
          </a:p>
        </p:txBody>
      </p:sp>
      <p:sp>
        <p:nvSpPr>
          <p:cNvPr id="16" name="矩形 15">
            <a:extLst>
              <a:ext uri="{FF2B5EF4-FFF2-40B4-BE49-F238E27FC236}">
                <a16:creationId xmlns:a16="http://schemas.microsoft.com/office/drawing/2014/main" id="{F6E3685E-4827-4965-8164-D098E0474934}"/>
              </a:ext>
            </a:extLst>
          </p:cNvPr>
          <p:cNvSpPr>
            <a:spLocks noGrp="1"/>
          </p:cNvSpPr>
          <p:nvPr/>
        </p:nvSpPr>
        <p:spPr>
          <a:xfrm>
            <a:off x="952500" y="3219450"/>
            <a:ext cx="4762500" cy="723900"/>
          </a:xfrm>
          <a:prstGeom prst="rect">
            <a:avLst/>
          </a:prstGeom>
          <a:solidFill>
            <a:srgbClr val="FFFFFF"/>
          </a:solidFill>
          <a:ln w="9525">
            <a:solidFill>
              <a:srgbClr val="DCE5E7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7" name="矩形 16">
            <a:extLst>
              <a:ext uri="{FF2B5EF4-FFF2-40B4-BE49-F238E27FC236}">
                <a16:creationId xmlns:a16="http://schemas.microsoft.com/office/drawing/2014/main" id="{773C25B1-2DD1-43FA-8691-C58CE94E48E2}"/>
              </a:ext>
            </a:extLst>
          </p:cNvPr>
          <p:cNvSpPr>
            <a:spLocks noGrp="1"/>
          </p:cNvSpPr>
          <p:nvPr/>
        </p:nvSpPr>
        <p:spPr>
          <a:xfrm>
            <a:off x="952500" y="3219450"/>
            <a:ext cx="57150" cy="723900"/>
          </a:xfrm>
          <a:prstGeom prst="rect">
            <a:avLst/>
          </a:prstGeom>
          <a:solidFill>
            <a:srgbClr val="22A6C7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8" name="矩形 17">
            <a:extLst>
              <a:ext uri="{FF2B5EF4-FFF2-40B4-BE49-F238E27FC236}">
                <a16:creationId xmlns:a16="http://schemas.microsoft.com/office/drawing/2014/main" id="{8AFC841A-BB55-4DCC-A300-8BEC66DE6326}"/>
              </a:ext>
            </a:extLst>
          </p:cNvPr>
          <p:cNvSpPr>
            <a:spLocks noGrp="1"/>
          </p:cNvSpPr>
          <p:nvPr/>
        </p:nvSpPr>
        <p:spPr>
          <a:xfrm>
            <a:off x="1123950" y="3352800"/>
            <a:ext cx="4419600" cy="2857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125" b="1">
                <a:solidFill>
                  <a:srgbClr val="17313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1">
                <a:solidFill>
                  <a:srgbClr val="17313B"/>
                </a:solidFill>
                <a:latin typeface="Microsoft YaHei"/>
                <a:ea typeface="Microsoft YaHei"/>
                <a:cs typeface="Microsoft YaHei"/>
              </a:rPr>
              <a:t>3. Service 匹配</a:t>
            </a:r>
          </a:p>
        </p:txBody>
      </p:sp>
      <p:sp>
        <p:nvSpPr>
          <p:cNvPr id="19" name="矩形 18">
            <a:extLst>
              <a:ext uri="{FF2B5EF4-FFF2-40B4-BE49-F238E27FC236}">
                <a16:creationId xmlns:a16="http://schemas.microsoft.com/office/drawing/2014/main" id="{B00E5F1B-DC28-49BE-B455-D751ED3D059C}"/>
              </a:ext>
            </a:extLst>
          </p:cNvPr>
          <p:cNvSpPr>
            <a:spLocks noGrp="1"/>
          </p:cNvSpPr>
          <p:nvPr/>
        </p:nvSpPr>
        <p:spPr>
          <a:xfrm>
            <a:off x="1123950" y="3676650"/>
            <a:ext cx="4419600" cy="1714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938" b="0">
                <a:solidFill>
                  <a:srgbClr val="687A8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38" b="0">
                <a:solidFill>
                  <a:srgbClr val="687A84"/>
                </a:solidFill>
                <a:latin typeface="Microsoft YaHei"/>
                <a:ea typeface="Microsoft YaHei"/>
                <a:cs typeface="Microsoft YaHei"/>
              </a:rPr>
              <a:t>小程序能连接但找不到服务时，检查 SERVICE_UUID</a:t>
            </a:r>
          </a:p>
        </p:txBody>
      </p:sp>
      <p:sp>
        <p:nvSpPr>
          <p:cNvPr id="20" name="矩形 19">
            <a:extLst>
              <a:ext uri="{FF2B5EF4-FFF2-40B4-BE49-F238E27FC236}">
                <a16:creationId xmlns:a16="http://schemas.microsoft.com/office/drawing/2014/main" id="{D4B9C926-457D-4352-9D6F-FEC0870747FB}"/>
              </a:ext>
            </a:extLst>
          </p:cNvPr>
          <p:cNvSpPr>
            <a:spLocks noGrp="1"/>
          </p:cNvSpPr>
          <p:nvPr/>
        </p:nvSpPr>
        <p:spPr>
          <a:xfrm>
            <a:off x="6477000" y="3219450"/>
            <a:ext cx="4762500" cy="723900"/>
          </a:xfrm>
          <a:prstGeom prst="rect">
            <a:avLst/>
          </a:prstGeom>
          <a:solidFill>
            <a:srgbClr val="FFFFFF"/>
          </a:solidFill>
          <a:ln w="9525">
            <a:solidFill>
              <a:srgbClr val="DCE5E7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1" name="矩形 20">
            <a:extLst>
              <a:ext uri="{FF2B5EF4-FFF2-40B4-BE49-F238E27FC236}">
                <a16:creationId xmlns:a16="http://schemas.microsoft.com/office/drawing/2014/main" id="{D8017DCF-53A2-4850-A7BE-0DC9301A6A8B}"/>
              </a:ext>
            </a:extLst>
          </p:cNvPr>
          <p:cNvSpPr>
            <a:spLocks noGrp="1"/>
          </p:cNvSpPr>
          <p:nvPr/>
        </p:nvSpPr>
        <p:spPr>
          <a:xfrm>
            <a:off x="6477000" y="3219450"/>
            <a:ext cx="57150" cy="723900"/>
          </a:xfrm>
          <a:prstGeom prst="rect">
            <a:avLst/>
          </a:prstGeom>
          <a:solidFill>
            <a:srgbClr val="22A6C7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2" name="矩形 21">
            <a:extLst>
              <a:ext uri="{FF2B5EF4-FFF2-40B4-BE49-F238E27FC236}">
                <a16:creationId xmlns:a16="http://schemas.microsoft.com/office/drawing/2014/main" id="{D4054277-8A7A-4B73-8E93-9405DCB7E521}"/>
              </a:ext>
            </a:extLst>
          </p:cNvPr>
          <p:cNvSpPr>
            <a:spLocks noGrp="1"/>
          </p:cNvSpPr>
          <p:nvPr/>
        </p:nvSpPr>
        <p:spPr>
          <a:xfrm>
            <a:off x="6648450" y="3352800"/>
            <a:ext cx="4419600" cy="2857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125" b="1">
                <a:solidFill>
                  <a:srgbClr val="17313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1">
                <a:solidFill>
                  <a:srgbClr val="17313B"/>
                </a:solidFill>
                <a:latin typeface="Microsoft YaHei"/>
                <a:ea typeface="Microsoft YaHei"/>
                <a:cs typeface="Microsoft YaHei"/>
              </a:rPr>
              <a:t>4. notify 订阅</a:t>
            </a:r>
          </a:p>
        </p:txBody>
      </p:sp>
      <p:sp>
        <p:nvSpPr>
          <p:cNvPr id="23" name="矩形 22">
            <a:extLst>
              <a:ext uri="{FF2B5EF4-FFF2-40B4-BE49-F238E27FC236}">
                <a16:creationId xmlns:a16="http://schemas.microsoft.com/office/drawing/2014/main" id="{A7E96A3F-B8DC-4F6C-B8A4-277EF510D65F}"/>
              </a:ext>
            </a:extLst>
          </p:cNvPr>
          <p:cNvSpPr>
            <a:spLocks noGrp="1"/>
          </p:cNvSpPr>
          <p:nvPr/>
        </p:nvSpPr>
        <p:spPr>
          <a:xfrm>
            <a:off x="6648450" y="3676650"/>
            <a:ext cx="4419600" cy="1714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938" b="0">
                <a:solidFill>
                  <a:srgbClr val="687A8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38" b="0">
                <a:solidFill>
                  <a:srgbClr val="687A84"/>
                </a:solidFill>
                <a:latin typeface="Microsoft YaHei"/>
                <a:ea typeface="Microsoft YaHei"/>
                <a:cs typeface="Microsoft YaHei"/>
              </a:rPr>
              <a:t>能连服务但没数据，检查 Characteristic UUID 和 notify 属性</a:t>
            </a:r>
          </a:p>
        </p:txBody>
      </p:sp>
      <p:sp>
        <p:nvSpPr>
          <p:cNvPr id="24" name="矩形 23">
            <a:extLst>
              <a:ext uri="{FF2B5EF4-FFF2-40B4-BE49-F238E27FC236}">
                <a16:creationId xmlns:a16="http://schemas.microsoft.com/office/drawing/2014/main" id="{2D7F1900-04B8-4F09-9E66-1527F646A34E}"/>
              </a:ext>
            </a:extLst>
          </p:cNvPr>
          <p:cNvSpPr>
            <a:spLocks noGrp="1"/>
          </p:cNvSpPr>
          <p:nvPr/>
        </p:nvSpPr>
        <p:spPr>
          <a:xfrm>
            <a:off x="952500" y="4343400"/>
            <a:ext cx="4762500" cy="723900"/>
          </a:xfrm>
          <a:prstGeom prst="rect">
            <a:avLst/>
          </a:prstGeom>
          <a:solidFill>
            <a:srgbClr val="FFFFFF"/>
          </a:solidFill>
          <a:ln w="9525">
            <a:solidFill>
              <a:srgbClr val="DCE5E7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5" name="矩形 24">
            <a:extLst>
              <a:ext uri="{FF2B5EF4-FFF2-40B4-BE49-F238E27FC236}">
                <a16:creationId xmlns:a16="http://schemas.microsoft.com/office/drawing/2014/main" id="{50EEFD13-3896-49C1-914E-40F1E0FA9BEF}"/>
              </a:ext>
            </a:extLst>
          </p:cNvPr>
          <p:cNvSpPr>
            <a:spLocks noGrp="1"/>
          </p:cNvSpPr>
          <p:nvPr/>
        </p:nvSpPr>
        <p:spPr>
          <a:xfrm>
            <a:off x="952500" y="4343400"/>
            <a:ext cx="57150" cy="723900"/>
          </a:xfrm>
          <a:prstGeom prst="rect">
            <a:avLst/>
          </a:prstGeom>
          <a:solidFill>
            <a:srgbClr val="18C7A3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6" name="矩形 25">
            <a:extLst>
              <a:ext uri="{FF2B5EF4-FFF2-40B4-BE49-F238E27FC236}">
                <a16:creationId xmlns:a16="http://schemas.microsoft.com/office/drawing/2014/main" id="{0803804C-092E-4E4A-826A-962C03554B02}"/>
              </a:ext>
            </a:extLst>
          </p:cNvPr>
          <p:cNvSpPr>
            <a:spLocks noGrp="1"/>
          </p:cNvSpPr>
          <p:nvPr/>
        </p:nvSpPr>
        <p:spPr>
          <a:xfrm>
            <a:off x="1123950" y="4476750"/>
            <a:ext cx="4419600" cy="2857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125" b="1">
                <a:solidFill>
                  <a:srgbClr val="17313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1">
                <a:solidFill>
                  <a:srgbClr val="17313B"/>
                </a:solidFill>
                <a:latin typeface="Microsoft YaHei"/>
                <a:ea typeface="Microsoft YaHei"/>
                <a:cs typeface="Microsoft YaHei"/>
              </a:rPr>
              <a:t>5. 数据解析</a:t>
            </a:r>
          </a:p>
        </p:txBody>
      </p:sp>
      <p:sp>
        <p:nvSpPr>
          <p:cNvPr id="27" name="矩形 26">
            <a:extLst>
              <a:ext uri="{FF2B5EF4-FFF2-40B4-BE49-F238E27FC236}">
                <a16:creationId xmlns:a16="http://schemas.microsoft.com/office/drawing/2014/main" id="{CEECD446-7D83-47FC-BB95-55EEBF711D2F}"/>
              </a:ext>
            </a:extLst>
          </p:cNvPr>
          <p:cNvSpPr>
            <a:spLocks noGrp="1"/>
          </p:cNvSpPr>
          <p:nvPr/>
        </p:nvSpPr>
        <p:spPr>
          <a:xfrm>
            <a:off x="1123950" y="4800600"/>
            <a:ext cx="4419600" cy="1714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938" b="0">
                <a:solidFill>
                  <a:srgbClr val="687A8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38" b="0">
                <a:solidFill>
                  <a:srgbClr val="687A84"/>
                </a:solidFill>
                <a:latin typeface="Microsoft YaHei"/>
                <a:ea typeface="Microsoft YaHei"/>
                <a:cs typeface="Microsoft YaHei"/>
              </a:rPr>
              <a:t>有包但 UI 不变，检查 type 字节、长度和小端序</a:t>
            </a:r>
          </a:p>
        </p:txBody>
      </p:sp>
      <p:sp>
        <p:nvSpPr>
          <p:cNvPr id="28" name="矩形 27">
            <a:extLst>
              <a:ext uri="{FF2B5EF4-FFF2-40B4-BE49-F238E27FC236}">
                <a16:creationId xmlns:a16="http://schemas.microsoft.com/office/drawing/2014/main" id="{0CA76085-F3D9-40F1-8998-B74AF032D4D0}"/>
              </a:ext>
            </a:extLst>
          </p:cNvPr>
          <p:cNvSpPr>
            <a:spLocks noGrp="1"/>
          </p:cNvSpPr>
          <p:nvPr/>
        </p:nvSpPr>
        <p:spPr>
          <a:xfrm>
            <a:off x="6477000" y="4343400"/>
            <a:ext cx="4762500" cy="723900"/>
          </a:xfrm>
          <a:prstGeom prst="rect">
            <a:avLst/>
          </a:prstGeom>
          <a:solidFill>
            <a:srgbClr val="FFFFFF"/>
          </a:solidFill>
          <a:ln w="9525">
            <a:solidFill>
              <a:srgbClr val="DCE5E7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9" name="矩形 28">
            <a:extLst>
              <a:ext uri="{FF2B5EF4-FFF2-40B4-BE49-F238E27FC236}">
                <a16:creationId xmlns:a16="http://schemas.microsoft.com/office/drawing/2014/main" id="{12D8F76F-F0E1-45BF-A44E-CB15ADE9E7F7}"/>
              </a:ext>
            </a:extLst>
          </p:cNvPr>
          <p:cNvSpPr>
            <a:spLocks noGrp="1"/>
          </p:cNvSpPr>
          <p:nvPr/>
        </p:nvSpPr>
        <p:spPr>
          <a:xfrm>
            <a:off x="6477000" y="4343400"/>
            <a:ext cx="57150" cy="723900"/>
          </a:xfrm>
          <a:prstGeom prst="rect">
            <a:avLst/>
          </a:prstGeom>
          <a:solidFill>
            <a:srgbClr val="F2A23A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30" name="矩形 29">
            <a:extLst>
              <a:ext uri="{FF2B5EF4-FFF2-40B4-BE49-F238E27FC236}">
                <a16:creationId xmlns:a16="http://schemas.microsoft.com/office/drawing/2014/main" id="{7CE8D14A-63A6-4CAE-95F1-B6B7D7FEA2D8}"/>
              </a:ext>
            </a:extLst>
          </p:cNvPr>
          <p:cNvSpPr>
            <a:spLocks noGrp="1"/>
          </p:cNvSpPr>
          <p:nvPr/>
        </p:nvSpPr>
        <p:spPr>
          <a:xfrm>
            <a:off x="6648450" y="4476750"/>
            <a:ext cx="4419600" cy="2857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125" b="1">
                <a:solidFill>
                  <a:srgbClr val="17313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1">
                <a:solidFill>
                  <a:srgbClr val="17313B"/>
                </a:solidFill>
                <a:latin typeface="Microsoft YaHei"/>
                <a:ea typeface="Microsoft YaHei"/>
                <a:cs typeface="Microsoft YaHei"/>
              </a:rPr>
              <a:t>6. 算法输入</a:t>
            </a:r>
          </a:p>
        </p:txBody>
      </p:sp>
      <p:sp>
        <p:nvSpPr>
          <p:cNvPr id="31" name="矩形 30">
            <a:extLst>
              <a:ext uri="{FF2B5EF4-FFF2-40B4-BE49-F238E27FC236}">
                <a16:creationId xmlns:a16="http://schemas.microsoft.com/office/drawing/2014/main" id="{F1401C59-E65B-4125-85C9-D7EE71E9AC13}"/>
              </a:ext>
            </a:extLst>
          </p:cNvPr>
          <p:cNvSpPr>
            <a:spLocks noGrp="1"/>
          </p:cNvSpPr>
          <p:nvPr/>
        </p:nvSpPr>
        <p:spPr>
          <a:xfrm>
            <a:off x="6648450" y="4800600"/>
            <a:ext cx="4419600" cy="1714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938" b="0">
                <a:solidFill>
                  <a:srgbClr val="687A8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38" b="0">
                <a:solidFill>
                  <a:srgbClr val="687A84"/>
                </a:solidFill>
                <a:latin typeface="Microsoft YaHei"/>
                <a:ea typeface="Microsoft YaHei"/>
                <a:cs typeface="Microsoft YaHei"/>
              </a:rPr>
              <a:t>有波形但 BPM/SpO2 慢，检查手指接触、阈值和平均策略</a:t>
            </a:r>
          </a:p>
        </p:txBody>
      </p:sp>
      <p:sp>
        <p:nvSpPr>
          <p:cNvPr id="32" name="矩形 31">
            <a:extLst>
              <a:ext uri="{FF2B5EF4-FFF2-40B4-BE49-F238E27FC236}">
                <a16:creationId xmlns:a16="http://schemas.microsoft.com/office/drawing/2014/main" id="{3FB8DBA8-00C2-4706-BFF2-297D79D17C81}"/>
              </a:ext>
            </a:extLst>
          </p:cNvPr>
          <p:cNvSpPr>
            <a:spLocks noGrp="1"/>
          </p:cNvSpPr>
          <p:nvPr/>
        </p:nvSpPr>
        <p:spPr>
          <a:xfrm>
            <a:off x="1962150" y="5734050"/>
            <a:ext cx="8191500" cy="4000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ctr">
              <a:defRPr sz="1350" b="1">
                <a:solidFill>
                  <a:srgbClr val="17313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17313B"/>
                </a:solidFill>
                <a:latin typeface="Microsoft YaHei"/>
                <a:ea typeface="Microsoft YaHei"/>
                <a:cs typeface="Microsoft YaHei"/>
              </a:rPr>
              <a:t>最终目标：学生能解释“为什么 BLE、为什么两个 Characteristic、为什么 notify、为什么手机端只解析不计算”。</a:t>
            </a:r>
          </a:p>
        </p:txBody>
      </p:sp>
    </p:spTree>
    <p:extLst>
      <p:ext uri="{BB962C8B-B14F-4D97-AF65-F5344CB8AC3E}">
        <p14:creationId xmlns:p14="http://schemas.microsoft.com/office/powerpoint/2010/main" val="1265807910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矩形 25">
            <a:extLst>
              <a:ext uri="{FF2B5EF4-FFF2-40B4-BE49-F238E27FC236}">
                <a16:creationId xmlns:a16="http://schemas.microsoft.com/office/drawing/2014/main" id="{18627086-F57C-42EF-A489-0A9FF457C27E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6F3EA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" name="矩形 1">
            <a:extLst>
              <a:ext uri="{FF2B5EF4-FFF2-40B4-BE49-F238E27FC236}">
                <a16:creationId xmlns:a16="http://schemas.microsoft.com/office/drawing/2014/main" id="{F862DB64-892D-42AF-BD9A-C1FBCE4C34CD}"/>
              </a:ext>
            </a:extLst>
          </p:cNvPr>
          <p:cNvSpPr>
            <a:spLocks noGrp="1"/>
          </p:cNvSpPr>
          <p:nvPr/>
        </p:nvSpPr>
        <p:spPr>
          <a:xfrm>
            <a:off x="419100" y="323850"/>
            <a:ext cx="95250" cy="190500"/>
          </a:xfrm>
          <a:prstGeom prst="rect">
            <a:avLst/>
          </a:prstGeom>
          <a:solidFill>
            <a:srgbClr val="22A6C7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72D9BC73-11F3-4898-891D-ED18EEC7CB68}"/>
              </a:ext>
            </a:extLst>
          </p:cNvPr>
          <p:cNvSpPr>
            <a:spLocks noGrp="1"/>
          </p:cNvSpPr>
          <p:nvPr/>
        </p:nvSpPr>
        <p:spPr>
          <a:xfrm>
            <a:off x="590550" y="266700"/>
            <a:ext cx="4095750" cy="3238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ctr"/>
          <a:lstStyle/>
          <a:p>
            <a:pPr algn="l">
              <a:defRPr sz="1125" b="1">
                <a:solidFill>
                  <a:srgbClr val="687A8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1">
                <a:solidFill>
                  <a:srgbClr val="687A84"/>
                </a:solidFill>
                <a:latin typeface="Microsoft YaHei"/>
                <a:ea typeface="Microsoft YaHei"/>
                <a:cs typeface="Microsoft YaHei"/>
              </a:rPr>
              <a:t>TAKEAWAYS</a:t>
            </a:r>
          </a:p>
        </p:txBody>
      </p:sp>
      <p:sp>
        <p:nvSpPr>
          <p:cNvPr id="4" name="矩形 3">
            <a:extLst>
              <a:ext uri="{FF2B5EF4-FFF2-40B4-BE49-F238E27FC236}">
                <a16:creationId xmlns:a16="http://schemas.microsoft.com/office/drawing/2014/main" id="{7D9ADE6E-9BD5-4E29-9013-CF4A4CB5C7E1}"/>
              </a:ext>
            </a:extLst>
          </p:cNvPr>
          <p:cNvSpPr>
            <a:spLocks noGrp="1"/>
          </p:cNvSpPr>
          <p:nvPr/>
        </p:nvSpPr>
        <p:spPr>
          <a:xfrm>
            <a:off x="419100" y="685800"/>
            <a:ext cx="10763250" cy="7810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2400" b="1">
                <a:solidFill>
                  <a:srgbClr val="17313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400" b="1">
                <a:solidFill>
                  <a:srgbClr val="17313B"/>
                </a:solidFill>
                <a:latin typeface="Microsoft YaHei"/>
                <a:ea typeface="Microsoft YaHei"/>
                <a:cs typeface="Microsoft YaHei"/>
              </a:rPr>
              <a:t>记住这四句话，就能读懂本项目的蓝牙通信代码。</a:t>
            </a:r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774743FF-1844-4EFB-868D-114053CCFF31}"/>
              </a:ext>
            </a:extLst>
          </p:cNvPr>
          <p:cNvSpPr>
            <a:spLocks noGrp="1"/>
          </p:cNvSpPr>
          <p:nvPr/>
        </p:nvSpPr>
        <p:spPr>
          <a:xfrm>
            <a:off x="419100" y="6438900"/>
            <a:ext cx="8572500" cy="9525"/>
          </a:xfrm>
          <a:prstGeom prst="rect">
            <a:avLst/>
          </a:prstGeom>
          <a:solidFill>
            <a:srgbClr val="D6DEE1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6" name="矩形 5">
            <a:extLst>
              <a:ext uri="{FF2B5EF4-FFF2-40B4-BE49-F238E27FC236}">
                <a16:creationId xmlns:a16="http://schemas.microsoft.com/office/drawing/2014/main" id="{0C93D0F4-B1D2-45CC-BA0A-8E2CA0ED7D9D}"/>
              </a:ext>
            </a:extLst>
          </p:cNvPr>
          <p:cNvSpPr>
            <a:spLocks noGrp="1"/>
          </p:cNvSpPr>
          <p:nvPr/>
        </p:nvSpPr>
        <p:spPr>
          <a:xfrm>
            <a:off x="419100" y="6515100"/>
            <a:ext cx="8572500" cy="1905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675" b="0">
                <a:solidFill>
                  <a:srgbClr val="7C8A9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675" b="0">
                <a:solidFill>
                  <a:srgbClr val="7C8A90"/>
                </a:solidFill>
                <a:latin typeface="Microsoft YaHei"/>
                <a:ea typeface="Microsoft YaHei"/>
                <a:cs typeface="Microsoft YaHei"/>
              </a:rPr>
              <a:t>Source: Arduino / WeChat Mini Program source code; WeChat Mini Program BLE API docs</a:t>
            </a:r>
          </a:p>
        </p:txBody>
      </p:sp>
      <p:sp>
        <p:nvSpPr>
          <p:cNvPr id="7" name="矩形 6">
            <a:extLst>
              <a:ext uri="{FF2B5EF4-FFF2-40B4-BE49-F238E27FC236}">
                <a16:creationId xmlns:a16="http://schemas.microsoft.com/office/drawing/2014/main" id="{854DE2ED-5839-414E-A351-A3630A1F5D74}"/>
              </a:ext>
            </a:extLst>
          </p:cNvPr>
          <p:cNvSpPr>
            <a:spLocks noGrp="1"/>
          </p:cNvSpPr>
          <p:nvPr/>
        </p:nvSpPr>
        <p:spPr>
          <a:xfrm>
            <a:off x="11334750" y="6496050"/>
            <a:ext cx="419100" cy="2095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r">
              <a:defRPr sz="825" b="0">
                <a:solidFill>
                  <a:srgbClr val="7C8A9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825" b="0">
                <a:solidFill>
                  <a:srgbClr val="7C8A90"/>
                </a:solidFill>
                <a:latin typeface="Microsoft YaHei"/>
                <a:ea typeface="Microsoft YaHei"/>
                <a:cs typeface="Microsoft YaHei"/>
              </a:rPr>
              <a:t>18</a:t>
            </a:r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82A43388-1ACC-4BFE-9811-8B465BC8FD32}"/>
              </a:ext>
            </a:extLst>
          </p:cNvPr>
          <p:cNvSpPr>
            <a:spLocks noGrp="1"/>
          </p:cNvSpPr>
          <p:nvPr/>
        </p:nvSpPr>
        <p:spPr>
          <a:xfrm>
            <a:off x="1066800" y="2095500"/>
            <a:ext cx="4381500" cy="1066800"/>
          </a:xfrm>
          <a:prstGeom prst="rect">
            <a:avLst/>
          </a:prstGeom>
          <a:solidFill>
            <a:srgbClr val="FFF4DD"/>
          </a:solidFill>
          <a:ln w="9525">
            <a:solidFill>
              <a:srgbClr val="DCE5E7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42213A21-CC40-4AE7-9991-3B2C00B83754}"/>
              </a:ext>
            </a:extLst>
          </p:cNvPr>
          <p:cNvSpPr>
            <a:spLocks noGrp="1"/>
          </p:cNvSpPr>
          <p:nvPr/>
        </p:nvSpPr>
        <p:spPr>
          <a:xfrm>
            <a:off x="1066800" y="2095500"/>
            <a:ext cx="57150" cy="1066800"/>
          </a:xfrm>
          <a:prstGeom prst="rect">
            <a:avLst/>
          </a:prstGeom>
          <a:solidFill>
            <a:srgbClr val="F2A23A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19620A62-0171-4CC8-BF8B-21C065C103D8}"/>
              </a:ext>
            </a:extLst>
          </p:cNvPr>
          <p:cNvSpPr>
            <a:spLocks noGrp="1"/>
          </p:cNvSpPr>
          <p:nvPr/>
        </p:nvSpPr>
        <p:spPr>
          <a:xfrm>
            <a:off x="1238250" y="2228850"/>
            <a:ext cx="4038600" cy="2857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350" b="1">
                <a:solidFill>
                  <a:srgbClr val="17313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17313B"/>
                </a:solidFill>
                <a:latin typeface="Microsoft YaHei"/>
                <a:ea typeface="Microsoft YaHei"/>
                <a:cs typeface="Microsoft YaHei"/>
              </a:rPr>
              <a:t>1. SPP 是无线串口思维</a:t>
            </a:r>
          </a:p>
        </p:txBody>
      </p:sp>
      <p:sp>
        <p:nvSpPr>
          <p:cNvPr id="11" name="矩形 10">
            <a:extLst>
              <a:ext uri="{FF2B5EF4-FFF2-40B4-BE49-F238E27FC236}">
                <a16:creationId xmlns:a16="http://schemas.microsoft.com/office/drawing/2014/main" id="{4E97D065-8AF6-417C-B1CE-90B7101400EB}"/>
              </a:ext>
            </a:extLst>
          </p:cNvPr>
          <p:cNvSpPr>
            <a:spLocks noGrp="1"/>
          </p:cNvSpPr>
          <p:nvPr/>
        </p:nvSpPr>
        <p:spPr>
          <a:xfrm>
            <a:off x="1238250" y="2552700"/>
            <a:ext cx="4038600" cy="5143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200" b="0">
                <a:solidFill>
                  <a:srgbClr val="687A8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687A84"/>
                </a:solidFill>
                <a:latin typeface="Microsoft YaHei"/>
                <a:ea typeface="Microsoft YaHei"/>
                <a:cs typeface="Microsoft YaHei"/>
              </a:rPr>
              <a:t>适合把字节连续发出去，但不适合作为微信小程序的统一入口。</a:t>
            </a:r>
          </a:p>
        </p:txBody>
      </p:sp>
      <p:sp>
        <p:nvSpPr>
          <p:cNvPr id="12" name="矩形 11">
            <a:extLst>
              <a:ext uri="{FF2B5EF4-FFF2-40B4-BE49-F238E27FC236}">
                <a16:creationId xmlns:a16="http://schemas.microsoft.com/office/drawing/2014/main" id="{348380FB-A8D4-4150-B044-3A6358F7CD8D}"/>
              </a:ext>
            </a:extLst>
          </p:cNvPr>
          <p:cNvSpPr>
            <a:spLocks noGrp="1"/>
          </p:cNvSpPr>
          <p:nvPr/>
        </p:nvSpPr>
        <p:spPr>
          <a:xfrm>
            <a:off x="6743700" y="2095500"/>
            <a:ext cx="4381500" cy="1066800"/>
          </a:xfrm>
          <a:prstGeom prst="rect">
            <a:avLst/>
          </a:prstGeom>
          <a:solidFill>
            <a:srgbClr val="E7F6FA"/>
          </a:solidFill>
          <a:ln w="9525">
            <a:solidFill>
              <a:srgbClr val="DCE5E7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3" name="矩形 12">
            <a:extLst>
              <a:ext uri="{FF2B5EF4-FFF2-40B4-BE49-F238E27FC236}">
                <a16:creationId xmlns:a16="http://schemas.microsoft.com/office/drawing/2014/main" id="{CA818577-94BC-413E-91C0-35A0E467F430}"/>
              </a:ext>
            </a:extLst>
          </p:cNvPr>
          <p:cNvSpPr>
            <a:spLocks noGrp="1"/>
          </p:cNvSpPr>
          <p:nvPr/>
        </p:nvSpPr>
        <p:spPr>
          <a:xfrm>
            <a:off x="6743700" y="2095500"/>
            <a:ext cx="57150" cy="1066800"/>
          </a:xfrm>
          <a:prstGeom prst="rect">
            <a:avLst/>
          </a:prstGeom>
          <a:solidFill>
            <a:srgbClr val="22A6C7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4" name="矩形 13">
            <a:extLst>
              <a:ext uri="{FF2B5EF4-FFF2-40B4-BE49-F238E27FC236}">
                <a16:creationId xmlns:a16="http://schemas.microsoft.com/office/drawing/2014/main" id="{68BE9B46-EF0D-4A7A-9CED-8AAF707CCFC6}"/>
              </a:ext>
            </a:extLst>
          </p:cNvPr>
          <p:cNvSpPr>
            <a:spLocks noGrp="1"/>
          </p:cNvSpPr>
          <p:nvPr/>
        </p:nvSpPr>
        <p:spPr>
          <a:xfrm>
            <a:off x="6915150" y="2228850"/>
            <a:ext cx="4038600" cy="2857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350" b="1">
                <a:solidFill>
                  <a:srgbClr val="17313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17313B"/>
                </a:solidFill>
                <a:latin typeface="Microsoft YaHei"/>
                <a:ea typeface="Microsoft YaHei"/>
                <a:cs typeface="Microsoft YaHei"/>
              </a:rPr>
              <a:t>2. BLE GATT 是字段订阅思维</a:t>
            </a:r>
          </a:p>
        </p:txBody>
      </p:sp>
      <p:sp>
        <p:nvSpPr>
          <p:cNvPr id="15" name="矩形 14">
            <a:extLst>
              <a:ext uri="{FF2B5EF4-FFF2-40B4-BE49-F238E27FC236}">
                <a16:creationId xmlns:a16="http://schemas.microsoft.com/office/drawing/2014/main" id="{A37C36BC-828C-4809-BDA7-6F5748916C74}"/>
              </a:ext>
            </a:extLst>
          </p:cNvPr>
          <p:cNvSpPr>
            <a:spLocks noGrp="1"/>
          </p:cNvSpPr>
          <p:nvPr/>
        </p:nvSpPr>
        <p:spPr>
          <a:xfrm>
            <a:off x="6915150" y="2552700"/>
            <a:ext cx="4038600" cy="5143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200" b="0">
                <a:solidFill>
                  <a:srgbClr val="687A8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687A84"/>
                </a:solidFill>
                <a:latin typeface="Microsoft YaHei"/>
                <a:ea typeface="Microsoft YaHei"/>
                <a:cs typeface="Microsoft YaHei"/>
              </a:rPr>
              <a:t>先定义服务和特征值，再让手机订阅特征值变化。</a:t>
            </a:r>
          </a:p>
        </p:txBody>
      </p:sp>
      <p:sp>
        <p:nvSpPr>
          <p:cNvPr id="16" name="矩形 15">
            <a:extLst>
              <a:ext uri="{FF2B5EF4-FFF2-40B4-BE49-F238E27FC236}">
                <a16:creationId xmlns:a16="http://schemas.microsoft.com/office/drawing/2014/main" id="{24549AFD-A951-4363-8E78-8071F5554F15}"/>
              </a:ext>
            </a:extLst>
          </p:cNvPr>
          <p:cNvSpPr>
            <a:spLocks noGrp="1"/>
          </p:cNvSpPr>
          <p:nvPr/>
        </p:nvSpPr>
        <p:spPr>
          <a:xfrm>
            <a:off x="1066800" y="3867150"/>
            <a:ext cx="4381500" cy="1066800"/>
          </a:xfrm>
          <a:prstGeom prst="rect">
            <a:avLst/>
          </a:prstGeom>
          <a:solidFill>
            <a:srgbClr val="E8F8F3"/>
          </a:solidFill>
          <a:ln w="9525">
            <a:solidFill>
              <a:srgbClr val="DCE5E7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7" name="矩形 16">
            <a:extLst>
              <a:ext uri="{FF2B5EF4-FFF2-40B4-BE49-F238E27FC236}">
                <a16:creationId xmlns:a16="http://schemas.microsoft.com/office/drawing/2014/main" id="{E68FC88F-0C18-40DA-B4A9-903C4D7F7EE3}"/>
              </a:ext>
            </a:extLst>
          </p:cNvPr>
          <p:cNvSpPr>
            <a:spLocks noGrp="1"/>
          </p:cNvSpPr>
          <p:nvPr/>
        </p:nvSpPr>
        <p:spPr>
          <a:xfrm>
            <a:off x="1066800" y="3867150"/>
            <a:ext cx="57150" cy="1066800"/>
          </a:xfrm>
          <a:prstGeom prst="rect">
            <a:avLst/>
          </a:prstGeom>
          <a:solidFill>
            <a:srgbClr val="18C7A3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8" name="矩形 17">
            <a:extLst>
              <a:ext uri="{FF2B5EF4-FFF2-40B4-BE49-F238E27FC236}">
                <a16:creationId xmlns:a16="http://schemas.microsoft.com/office/drawing/2014/main" id="{4674CA30-6D1B-408C-AE92-B8EBE67A77EA}"/>
              </a:ext>
            </a:extLst>
          </p:cNvPr>
          <p:cNvSpPr>
            <a:spLocks noGrp="1"/>
          </p:cNvSpPr>
          <p:nvPr/>
        </p:nvSpPr>
        <p:spPr>
          <a:xfrm>
            <a:off x="1238250" y="4000500"/>
            <a:ext cx="4038600" cy="2857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350" b="1">
                <a:solidFill>
                  <a:srgbClr val="17313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17313B"/>
                </a:solidFill>
                <a:latin typeface="Microsoft YaHei"/>
                <a:ea typeface="Microsoft YaHei"/>
                <a:cs typeface="Microsoft YaHei"/>
              </a:rPr>
              <a:t>3. Arduino 端负责发布数据</a:t>
            </a:r>
          </a:p>
        </p:txBody>
      </p:sp>
      <p:sp>
        <p:nvSpPr>
          <p:cNvPr id="19" name="矩形 18">
            <a:extLst>
              <a:ext uri="{FF2B5EF4-FFF2-40B4-BE49-F238E27FC236}">
                <a16:creationId xmlns:a16="http://schemas.microsoft.com/office/drawing/2014/main" id="{5541B3A4-216D-4A03-A2FD-C2156B1805EC}"/>
              </a:ext>
            </a:extLst>
          </p:cNvPr>
          <p:cNvSpPr>
            <a:spLocks noGrp="1"/>
          </p:cNvSpPr>
          <p:nvPr/>
        </p:nvSpPr>
        <p:spPr>
          <a:xfrm>
            <a:off x="1238250" y="4324350"/>
            <a:ext cx="4038600" cy="5143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200" b="0">
                <a:solidFill>
                  <a:srgbClr val="687A8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687A84"/>
                </a:solidFill>
                <a:latin typeface="Microsoft YaHei"/>
                <a:ea typeface="Microsoft YaHei"/>
                <a:cs typeface="Microsoft YaHei"/>
              </a:rPr>
              <a:t>NimBLE 创建 Service 和 Characteristics，算法事件触发 notify。</a:t>
            </a:r>
          </a:p>
        </p:txBody>
      </p:sp>
      <p:sp>
        <p:nvSpPr>
          <p:cNvPr id="20" name="矩形 19">
            <a:extLst>
              <a:ext uri="{FF2B5EF4-FFF2-40B4-BE49-F238E27FC236}">
                <a16:creationId xmlns:a16="http://schemas.microsoft.com/office/drawing/2014/main" id="{00C5058F-8D48-4461-99D0-FF160ABE6143}"/>
              </a:ext>
            </a:extLst>
          </p:cNvPr>
          <p:cNvSpPr>
            <a:spLocks noGrp="1"/>
          </p:cNvSpPr>
          <p:nvPr/>
        </p:nvSpPr>
        <p:spPr>
          <a:xfrm>
            <a:off x="6743700" y="3867150"/>
            <a:ext cx="4381500" cy="1066800"/>
          </a:xfrm>
          <a:prstGeom prst="rect">
            <a:avLst/>
          </a:prstGeom>
          <a:solidFill>
            <a:srgbClr val="E8F8F3"/>
          </a:solidFill>
          <a:ln w="9525">
            <a:solidFill>
              <a:srgbClr val="DCE5E7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1" name="矩形 20">
            <a:extLst>
              <a:ext uri="{FF2B5EF4-FFF2-40B4-BE49-F238E27FC236}">
                <a16:creationId xmlns:a16="http://schemas.microsoft.com/office/drawing/2014/main" id="{DBF02F97-B4B8-455D-9ADC-070F43BF6A8C}"/>
              </a:ext>
            </a:extLst>
          </p:cNvPr>
          <p:cNvSpPr>
            <a:spLocks noGrp="1"/>
          </p:cNvSpPr>
          <p:nvPr/>
        </p:nvSpPr>
        <p:spPr>
          <a:xfrm>
            <a:off x="6743700" y="3867150"/>
            <a:ext cx="57150" cy="1066800"/>
          </a:xfrm>
          <a:prstGeom prst="rect">
            <a:avLst/>
          </a:prstGeom>
          <a:solidFill>
            <a:srgbClr val="18C7A3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2" name="矩形 21">
            <a:extLst>
              <a:ext uri="{FF2B5EF4-FFF2-40B4-BE49-F238E27FC236}">
                <a16:creationId xmlns:a16="http://schemas.microsoft.com/office/drawing/2014/main" id="{196A2098-A7F1-4AE3-81C4-EC53AE746A15}"/>
              </a:ext>
            </a:extLst>
          </p:cNvPr>
          <p:cNvSpPr>
            <a:spLocks noGrp="1"/>
          </p:cNvSpPr>
          <p:nvPr/>
        </p:nvSpPr>
        <p:spPr>
          <a:xfrm>
            <a:off x="6915150" y="4000500"/>
            <a:ext cx="4038600" cy="2857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350" b="1">
                <a:solidFill>
                  <a:srgbClr val="17313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17313B"/>
                </a:solidFill>
                <a:latin typeface="Microsoft YaHei"/>
                <a:ea typeface="Microsoft YaHei"/>
                <a:cs typeface="Microsoft YaHei"/>
              </a:rPr>
              <a:t>4. 小程序端负责连接和显示</a:t>
            </a:r>
          </a:p>
        </p:txBody>
      </p:sp>
      <p:sp>
        <p:nvSpPr>
          <p:cNvPr id="23" name="矩形 22">
            <a:extLst>
              <a:ext uri="{FF2B5EF4-FFF2-40B4-BE49-F238E27FC236}">
                <a16:creationId xmlns:a16="http://schemas.microsoft.com/office/drawing/2014/main" id="{172D77FE-1EFE-45DE-ACF2-B435977C7CF7}"/>
              </a:ext>
            </a:extLst>
          </p:cNvPr>
          <p:cNvSpPr>
            <a:spLocks noGrp="1"/>
          </p:cNvSpPr>
          <p:nvPr/>
        </p:nvSpPr>
        <p:spPr>
          <a:xfrm>
            <a:off x="6915150" y="4324350"/>
            <a:ext cx="4038600" cy="5143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200" b="0">
                <a:solidFill>
                  <a:srgbClr val="687A8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687A84"/>
                </a:solidFill>
                <a:latin typeface="Microsoft YaHei"/>
                <a:ea typeface="Microsoft YaHei"/>
                <a:cs typeface="Microsoft YaHei"/>
              </a:rPr>
              <a:t>扫描、连接、订阅、解析 ArrayBuffer，再更新数值和 Canvas 波形。</a:t>
            </a:r>
          </a:p>
        </p:txBody>
      </p:sp>
      <p:sp>
        <p:nvSpPr>
          <p:cNvPr id="24" name="矩形 23">
            <a:extLst>
              <a:ext uri="{FF2B5EF4-FFF2-40B4-BE49-F238E27FC236}">
                <a16:creationId xmlns:a16="http://schemas.microsoft.com/office/drawing/2014/main" id="{1510117A-6B0C-4B73-842E-CEFB5358D1B5}"/>
              </a:ext>
            </a:extLst>
          </p:cNvPr>
          <p:cNvSpPr>
            <a:spLocks noGrp="1"/>
          </p:cNvSpPr>
          <p:nvPr/>
        </p:nvSpPr>
        <p:spPr>
          <a:xfrm>
            <a:off x="3562350" y="5505450"/>
            <a:ext cx="5067300" cy="323850"/>
          </a:xfrm>
          <a:prstGeom prst="rect">
            <a:avLst/>
          </a:prstGeom>
          <a:solidFill>
            <a:srgbClr val="FFF1EF"/>
          </a:solidFill>
          <a:ln w="13335">
            <a:solidFill>
              <a:srgbClr val="D9514E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5" name="矩形 24">
            <a:extLst>
              <a:ext uri="{FF2B5EF4-FFF2-40B4-BE49-F238E27FC236}">
                <a16:creationId xmlns:a16="http://schemas.microsoft.com/office/drawing/2014/main" id="{D0E71873-8265-41CA-98A9-9187892E18F8}"/>
              </a:ext>
            </a:extLst>
          </p:cNvPr>
          <p:cNvSpPr>
            <a:spLocks noGrp="1"/>
          </p:cNvSpPr>
          <p:nvPr/>
        </p:nvSpPr>
        <p:spPr>
          <a:xfrm>
            <a:off x="3657600" y="5553075"/>
            <a:ext cx="487680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ctr"/>
          <a:lstStyle/>
          <a:p>
            <a:pPr algn="ctr">
              <a:defRPr sz="1013" b="1">
                <a:solidFill>
                  <a:srgbClr val="D9514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13" b="1">
                <a:solidFill>
                  <a:srgbClr val="D9514E"/>
                </a:solidFill>
                <a:latin typeface="Microsoft YaHei"/>
                <a:ea typeface="Microsoft YaHei"/>
                <a:cs typeface="Microsoft YaHei"/>
              </a:rPr>
              <a:t>从“发串口字符串”升级到“设计一个小型数据服务”</a:t>
            </a:r>
          </a:p>
        </p:txBody>
      </p:sp>
    </p:spTree>
    <p:extLst>
      <p:ext uri="{BB962C8B-B14F-4D97-AF65-F5344CB8AC3E}">
        <p14:creationId xmlns:p14="http://schemas.microsoft.com/office/powerpoint/2010/main" val="224769370"/>
      </p:ext>
    </p:extLst>
  </p:cSld>
  <p:clrMapOvr>
    <a:masterClrMapping/>
  </p:clrMapOvr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solidFill>
          <a:schemeClr val="dk1"/>
        </a:solidFill>
        <a:solidFill>
          <a:schemeClr val="accent1"/>
        </a:soli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solidFill>
          <a:schemeClr val="dk1"/>
        </a:solidFill>
        <a:solidFill>
          <a:schemeClr val="accent1"/>
        </a:soli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4</TotalTime>
  <Words>1706</Words>
  <Application>Microsoft Office PowerPoint</Application>
  <DocSecurity>0</DocSecurity>
  <PresentationFormat>宽屏</PresentationFormat>
  <Paragraphs>411</Paragraphs>
  <Slides>18</Slides>
  <Notes>18</Notes>
  <HiddenSlides>0</HiddenSlides>
  <MMClips>0</MMClips>
  <ScaleCrop>false</ScaleCrop>
  <HeadingPairs>
    <vt:vector size="6" baseType="variant">
      <vt:variant>
        <vt:lpstr>已用的字体</vt:lpstr>
      </vt:variant>
      <vt:variant>
        <vt:i4>4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18</vt:i4>
      </vt:variant>
    </vt:vector>
  </HeadingPairs>
  <TitlesOfParts>
    <vt:vector size="23" baseType="lpstr">
      <vt:lpstr>Microsoft YaHei</vt:lpstr>
      <vt:lpstr>Calibri</vt:lpstr>
      <vt:lpstr>Consolas</vt:lpstr>
      <vt:lpstr>Symbol</vt:lpstr>
      <vt:lpstr>ChatGPT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Presentation</dc:title>
  <dc:creator>Walnut Exporter</dc:creator>
  <cp:lastModifiedBy>Chengyu Huo</cp:lastModifiedBy>
  <cp:revision>2</cp:revision>
  <dcterms:created xsi:type="dcterms:W3CDTF">2026-05-29T05:16:41Z</dcterms:created>
  <dcterms:modified xsi:type="dcterms:W3CDTF">2026-05-29T05:26:30Z</dcterms:modified>
</cp:coreProperties>
</file>